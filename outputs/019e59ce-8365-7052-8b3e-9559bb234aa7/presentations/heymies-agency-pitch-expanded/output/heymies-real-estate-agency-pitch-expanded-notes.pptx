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d8512664af487d" /><Relationship Type="http://schemas.openxmlformats.org/officeDocument/2006/relationships/extended-properties" Target="/docProps/app.xml" Id="Rf70186edf7584d68" /><Relationship Type="http://schemas.openxmlformats.org/officeDocument/2006/relationships/officeDocument" Target="/ppt/presentation.xml" Id="Rdb999e73ca5e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20ead61f7540b2"/>
  </p:sldMasterIdLst>
  <p:notesMasterIdLst>
    <p:notesMasterId xmlns:r="http://schemas.openxmlformats.org/officeDocument/2006/relationships" r:id="R5c86fc261aac47fa"/>
  </p:notesMasterIdLst>
  <p:sldIdLst>
    <p:sldId xmlns:r="http://schemas.openxmlformats.org/officeDocument/2006/relationships" id="256" r:id="Rcf23f579c87d41a2"/>
    <p:sldId xmlns:r="http://schemas.openxmlformats.org/officeDocument/2006/relationships" id="257" r:id="R3f0b855ce5ec4897"/>
    <p:sldId xmlns:r="http://schemas.openxmlformats.org/officeDocument/2006/relationships" id="258" r:id="Rd29bcacee5444e3f"/>
    <p:sldId xmlns:r="http://schemas.openxmlformats.org/officeDocument/2006/relationships" id="259" r:id="R8c8ce9cac33542fb"/>
    <p:sldId xmlns:r="http://schemas.openxmlformats.org/officeDocument/2006/relationships" id="260" r:id="R04af06c82cd14d83"/>
    <p:sldId xmlns:r="http://schemas.openxmlformats.org/officeDocument/2006/relationships" id="261" r:id="R1e17f2e2b9854961"/>
    <p:sldId xmlns:r="http://schemas.openxmlformats.org/officeDocument/2006/relationships" id="262" r:id="R6a602fe2827245e5"/>
    <p:sldId xmlns:r="http://schemas.openxmlformats.org/officeDocument/2006/relationships" id="263" r:id="R7ca5d083d7604054"/>
    <p:sldId xmlns:r="http://schemas.openxmlformats.org/officeDocument/2006/relationships" id="264" r:id="R11d61ce2c8594fc4"/>
    <p:sldId xmlns:r="http://schemas.openxmlformats.org/officeDocument/2006/relationships" id="265" r:id="Re5ee1d5bded74431"/>
    <p:sldId xmlns:r="http://schemas.openxmlformats.org/officeDocument/2006/relationships" id="266" r:id="Ra99883605d134c89"/>
    <p:sldId xmlns:r="http://schemas.openxmlformats.org/officeDocument/2006/relationships" id="267" r:id="R81a59f16dcc44dea"/>
    <p:sldId xmlns:r="http://schemas.openxmlformats.org/officeDocument/2006/relationships" id="268" r:id="Rb72d0067830b47d2"/>
    <p:sldId xmlns:r="http://schemas.openxmlformats.org/officeDocument/2006/relationships" id="269" r:id="R9d30244172554fb9"/>
    <p:sldId xmlns:r="http://schemas.openxmlformats.org/officeDocument/2006/relationships" id="270" r:id="R02fa7c1e76d84d38"/>
    <p:sldId xmlns:r="http://schemas.openxmlformats.org/officeDocument/2006/relationships" id="271" r:id="Rf5f07de0b3b44dae"/>
    <p:sldId xmlns:r="http://schemas.openxmlformats.org/officeDocument/2006/relationships" id="272" r:id="R64b8bec8b81a4430"/>
    <p:sldId xmlns:r="http://schemas.openxmlformats.org/officeDocument/2006/relationships" id="273" r:id="Rd52ffd9763d74f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0ead61f7540b2" /><Relationship Type="http://schemas.openxmlformats.org/officeDocument/2006/relationships/theme" Target="/ppt/theme/theme1.xml" Id="R5b17e242a01640a6" /><Relationship Type="http://schemas.openxmlformats.org/officeDocument/2006/relationships/notesMaster" Target="/ppt/notesMasters/notesMaster1.xml" Id="R5c86fc261aac47fa" /><Relationship Type="http://schemas.openxmlformats.org/officeDocument/2006/relationships/presProps" Target="/ppt/presProps.xml" Id="Rf32d205bd33c47b9" /><Relationship Type="http://schemas.openxmlformats.org/officeDocument/2006/relationships/viewProps" Target="/ppt/viewProps.xml" Id="R21534ecf06e64c04" /><Relationship Type="http://schemas.openxmlformats.org/officeDocument/2006/relationships/tableStyles" Target="/ppt/tableStyles.xml" Id="Rf920c8f076f84649" /><Relationship Type="http://schemas.openxmlformats.org/officeDocument/2006/relationships/slide" Target="/ppt/slides/slide1.xml" Id="Rcf23f579c87d41a2" /><Relationship Type="http://schemas.openxmlformats.org/officeDocument/2006/relationships/slide" Target="/ppt/slides/slide2.xml" Id="R3f0b855ce5ec4897" /><Relationship Type="http://schemas.openxmlformats.org/officeDocument/2006/relationships/slide" Target="/ppt/slides/slide3.xml" Id="Rd29bcacee5444e3f" /><Relationship Type="http://schemas.openxmlformats.org/officeDocument/2006/relationships/slide" Target="/ppt/slides/slide4.xml" Id="R8c8ce9cac33542fb" /><Relationship Type="http://schemas.openxmlformats.org/officeDocument/2006/relationships/slide" Target="/ppt/slides/slide5.xml" Id="R04af06c82cd14d83" /><Relationship Type="http://schemas.openxmlformats.org/officeDocument/2006/relationships/slide" Target="/ppt/slides/slide6.xml" Id="R1e17f2e2b9854961" /><Relationship Type="http://schemas.openxmlformats.org/officeDocument/2006/relationships/slide" Target="/ppt/slides/slide7.xml" Id="R6a602fe2827245e5" /><Relationship Type="http://schemas.openxmlformats.org/officeDocument/2006/relationships/slide" Target="/ppt/slides/slide8.xml" Id="R7ca5d083d7604054" /><Relationship Type="http://schemas.openxmlformats.org/officeDocument/2006/relationships/slide" Target="/ppt/slides/slide9.xml" Id="R11d61ce2c8594fc4" /><Relationship Type="http://schemas.openxmlformats.org/officeDocument/2006/relationships/slide" Target="/ppt/slides/slide10.xml" Id="Re5ee1d5bded74431" /><Relationship Type="http://schemas.openxmlformats.org/officeDocument/2006/relationships/slide" Target="/ppt/slides/slide11.xml" Id="Ra99883605d134c89" /><Relationship Type="http://schemas.openxmlformats.org/officeDocument/2006/relationships/slide" Target="/ppt/slides/slide12.xml" Id="R81a59f16dcc44dea" /><Relationship Type="http://schemas.openxmlformats.org/officeDocument/2006/relationships/slide" Target="/ppt/slides/slide13.xml" Id="Rb72d0067830b47d2" /><Relationship Type="http://schemas.openxmlformats.org/officeDocument/2006/relationships/slide" Target="/ppt/slides/slide14.xml" Id="R9d30244172554fb9" /><Relationship Type="http://schemas.openxmlformats.org/officeDocument/2006/relationships/slide" Target="/ppt/slides/slide15.xml" Id="R02fa7c1e76d84d38" /><Relationship Type="http://schemas.openxmlformats.org/officeDocument/2006/relationships/slide" Target="/ppt/slides/slide16.xml" Id="Rf5f07de0b3b44dae" /><Relationship Type="http://schemas.openxmlformats.org/officeDocument/2006/relationships/slide" Target="/ppt/slides/slide17.xml" Id="R64b8bec8b81a4430" /><Relationship Type="http://schemas.openxmlformats.org/officeDocument/2006/relationships/slide" Target="/ppt/slides/slide18.xml" Id="Rd52ffd9763d74f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040833fcc14e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1e9c336614a8e" /><Relationship Type="http://schemas.openxmlformats.org/officeDocument/2006/relationships/notesMaster" Target="/ppt/notesMasters/notesMaster1.xml" Id="R2ee7790bab5c45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a075b0602545b6" /><Relationship Type="http://schemas.openxmlformats.org/officeDocument/2006/relationships/notesMaster" Target="/ppt/notesMasters/notesMaster1.xml" Id="R57bc37970d2e46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d2cdd2db2049d1" /><Relationship Type="http://schemas.openxmlformats.org/officeDocument/2006/relationships/notesMaster" Target="/ppt/notesMasters/notesMaster1.xml" Id="R25c20e96c46f4c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dd21276e84a00" /><Relationship Type="http://schemas.openxmlformats.org/officeDocument/2006/relationships/notesMaster" Target="/ppt/notesMasters/notesMaster1.xml" Id="R09886579225c42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88bb0d477467a" /><Relationship Type="http://schemas.openxmlformats.org/officeDocument/2006/relationships/notesMaster" Target="/ppt/notesMasters/notesMaster1.xml" Id="Rc02842ae2ae440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ce0fc6fde0451a" /><Relationship Type="http://schemas.openxmlformats.org/officeDocument/2006/relationships/notesMaster" Target="/ppt/notesMasters/notesMaster1.xml" Id="R6400fe8721b24c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324fa6d4264fd6" /><Relationship Type="http://schemas.openxmlformats.org/officeDocument/2006/relationships/notesMaster" Target="/ppt/notesMasters/notesMaster1.xml" Id="R13d812783aad4c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08924d56764d35" /><Relationship Type="http://schemas.openxmlformats.org/officeDocument/2006/relationships/notesMaster" Target="/ppt/notesMasters/notesMaster1.xml" Id="R0578a0268ad74a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0cab70990c4fe9" /><Relationship Type="http://schemas.openxmlformats.org/officeDocument/2006/relationships/notesMaster" Target="/ppt/notesMasters/notesMaster1.xml" Id="Rf84ee33323e14b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784c5a2db640f7" /><Relationship Type="http://schemas.openxmlformats.org/officeDocument/2006/relationships/notesMaster" Target="/ppt/notesMasters/notesMaster1.xml" Id="R16253f7ad0a54e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300520cb6b4609" /><Relationship Type="http://schemas.openxmlformats.org/officeDocument/2006/relationships/notesMaster" Target="/ppt/notesMasters/notesMaster1.xml" Id="Rfde7690d51b048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893797773c4370" /><Relationship Type="http://schemas.openxmlformats.org/officeDocument/2006/relationships/notesMaster" Target="/ppt/notesMasters/notesMaster1.xml" Id="R47e607879647489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ffcf94c57e46d3" /><Relationship Type="http://schemas.openxmlformats.org/officeDocument/2006/relationships/notesMaster" Target="/ppt/notesMasters/notesMaster1.xml" Id="Ra3d4013aaff246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7a4cc11eb04da3" /><Relationship Type="http://schemas.openxmlformats.org/officeDocument/2006/relationships/notesMaster" Target="/ppt/notesMasters/notesMaster1.xml" Id="R82bad991aa8b4c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02230fd2da49f4" /><Relationship Type="http://schemas.openxmlformats.org/officeDocument/2006/relationships/notesMaster" Target="/ppt/notesMasters/notesMaster1.xml" Id="Rdd2578a61d064d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8a2db2f7fb4dd0" /><Relationship Type="http://schemas.openxmlformats.org/officeDocument/2006/relationships/notesMaster" Target="/ppt/notesMasters/notesMaster1.xml" Id="R872d8757671a42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ae59c610f340a2" /><Relationship Type="http://schemas.openxmlformats.org/officeDocument/2006/relationships/notesMaster" Target="/ppt/notesMasters/notesMaster1.xml" Id="R8600fe3d55504fe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a3bb0c097414529" /><Relationship Type="http://schemas.openxmlformats.org/officeDocument/2006/relationships/notesMaster" Target="/ppt/notesMasters/notesMaster1.xml" Id="Red76e066d0e444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brand and the one-sentence promise. HeyMies is not another portal and not a replacement for agents. It is the layer that prepares the buyer before the agent spends time on the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"Your agents are good at selling. HeyMies helps make sure the first call is worth their time."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"Here is the whole pitch in one page before we unpack it."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executive shortcut. If a principal only remembers four ideas, make them these: the problem is qualification drag, the solution is readiness, the agency value is better conversations, and the ask is a contained pilot.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over-explain yet. This slide earns permission to go deeper.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"Why is this worth solving now?"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creates urgency without inventing market statistics. Keep it observational and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"The issue is not that agencies lack leads. The issue is that buyer readiness is uneven, and teams need a consistent way to decide which conversations deserve agent time now."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"That brings us to where the current model leaks."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portals. Acknowledge that exposure is valuable. Then explain that exposure alone does not create readiness.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expensive part is the middle: agents qualifying people who are early, unclear, or not financially prepared.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"HeyMies solves this by turning the middle into a product workflow."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your plain-language product demo. The agency does not need every technical detail. They need to see the buyer moving from raw enquiry to a prepared hand-off.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"The buyer does not disappear into a black box. The system is collecting the exact context your agents usually have to chase for."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"Behind that demo is the readiness layer."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reassures the agency that HeyMies fits into their existing world. Sources come in from places they already understand. HeyMies handles readiness. Agents still do the relationship and sale.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"The most important part of the layer is the scoring model."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overclaim the score. Explain it as a practical readiness score made from useful buyer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Key line: "Not ready does not mean bad. It means the buyer should stay in nurture until the timing, finance, or fit is strong enough for agent action."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"That nurture step is a big part of the value."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handles the concern that automation will depersonalize the sale. It should sound like protecting agents, not replacing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"HeyMies keeps early buyers warm so agents do not have to manually chase every half-ready enquiry."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"When a buyer is ready, the agent needs a simple action surface."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practical payoff. A normal inbox says someone filled in a form. HeyMies says this buyer is ready enough for this action, and here is why.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"This changes the agent workflow."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adoption feel manageable. The buyer still enquires. HeyMies automates the middle. The agent still sells.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key design decision is the hand-off threshold. Different agencies may choose different thresholds by area, price band, or property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"So what does the agency actually gain?"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intentionally outcome-led, not metric-led. You do not need fake numbers to make the value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"These are the outcomes we want the pilot to prove in your environment."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"Commercially, this shifts the buying logic away from impressions."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final pricing is not confirmed. That is acceptable because this is a pilot conversation.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line: "We do not want to price a black box. We want to validate the hand-off standard first, then price around actual workflow value."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"Here is the pilot offer."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one of the most important added slides. It makes the next step concrete and low-risk.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the pilot as a contained experiment: one branch, area, or team; selected listings; weekly review; clear readout.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"A good pilot needs a measurement frame."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keeps the pitch honest. Without validated case-study metrics, the pilot must create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"We are not asking you to trust a generic benchmark. We are asking to test whether readiness improves the hand-off in your agency."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"Here is how implementation could work."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operational timeline. Keep it calm and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Setup is about agreement. Qualify is about learning. Validate is about evidence and rollout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"Now let us handle the predictable questions."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designed as optional appendix material. You can present it if the room is cautious, or keep it ready for Q&amp;A.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point is to sound transparent, not defensive.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"The best pilot partners have a few traits in common."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qualifies the opportunity. It is okay if not every agency is a perfect first partner.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strong pilot partner has a defined area, team discipline, and willingness to give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"Close with the workshop ask."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clear ask: a pilot workshop. Do not ask for a broad rollout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"If we can prove that agents spend less time chasing and more time speaking to ready buyers, then the subscription conversation becomes much easier."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Add real contact details before presenting externally.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1fcd1238d2475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40ea81b83fa4750" /><Relationship Type="http://schemas.openxmlformats.org/officeDocument/2006/relationships/slideLayout" Target="/ppt/slideLayouts/slideLayout2.xml" Id="Re73a7ddac41646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3a7ddac41646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8d45fa2774f3d" /><Relationship Type="http://schemas.openxmlformats.org/officeDocument/2006/relationships/image" Target="/ppt/media/image.bin" Id="R40a0c89c52e24b36" /><Relationship Type="http://schemas.openxmlformats.org/officeDocument/2006/relationships/notesSlide" Target="/ppt/notesSlides/notesSlide1.xml" Id="R5f58e24a1c974b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f98724d5b244f9" /><Relationship Type="http://schemas.openxmlformats.org/officeDocument/2006/relationships/notesSlide" Target="/ppt/notesSlides/notesSlide2.xml" Id="R4d57701de88649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d356ef9bde49c1" /><Relationship Type="http://schemas.openxmlformats.org/officeDocument/2006/relationships/notesSlide" Target="/ppt/notesSlides/notesSlide3.xml" Id="Rc0279bb4415047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d5b0f84dfe44d9" /><Relationship Type="http://schemas.openxmlformats.org/officeDocument/2006/relationships/notesSlide" Target="/ppt/notesSlides/notesSlide4.xml" Id="R9b665a13f6a541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9c07ff390b4145" /><Relationship Type="http://schemas.openxmlformats.org/officeDocument/2006/relationships/notesSlide" Target="/ppt/notesSlides/notesSlide5.xml" Id="R67d0211d53ec42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08f4e005bc4d16" /><Relationship Type="http://schemas.openxmlformats.org/officeDocument/2006/relationships/notesSlide" Target="/ppt/notesSlides/notesSlide6.xml" Id="Re2b73f7856fd45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88e90206794f0d" /><Relationship Type="http://schemas.openxmlformats.org/officeDocument/2006/relationships/notesSlide" Target="/ppt/notesSlides/notesSlide7.xml" Id="R7b6ad21b4d0e40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972eeb1b9434b" /><Relationship Type="http://schemas.openxmlformats.org/officeDocument/2006/relationships/notesSlide" Target="/ppt/notesSlides/notesSlide8.xml" Id="Ra1d2b4337d2a46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132ee4ceb4ecf" /><Relationship Type="http://schemas.openxmlformats.org/officeDocument/2006/relationships/notesSlide" Target="/ppt/notesSlides/notesSlide9.xml" Id="R355bb73b5a5e47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5788ee7454b62" /><Relationship Type="http://schemas.openxmlformats.org/officeDocument/2006/relationships/notesSlide" Target="/ppt/notesSlides/notesSlide10.xml" Id="R5840837ec5d848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efffeece44f06" /><Relationship Type="http://schemas.openxmlformats.org/officeDocument/2006/relationships/notesSlide" Target="/ppt/notesSlides/notesSlide11.xml" Id="R0e129c1ea9ac44b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e2c8c67414358" /><Relationship Type="http://schemas.openxmlformats.org/officeDocument/2006/relationships/notesSlide" Target="/ppt/notesSlides/notesSlide12.xml" Id="R86175dcf308f4e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5b5876714844e2" /><Relationship Type="http://schemas.openxmlformats.org/officeDocument/2006/relationships/notesSlide" Target="/ppt/notesSlides/notesSlide13.xml" Id="R9c6e67d166974c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89dbd636d94a92" /><Relationship Type="http://schemas.openxmlformats.org/officeDocument/2006/relationships/notesSlide" Target="/ppt/notesSlides/notesSlide14.xml" Id="Rcd64e6c9804b43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f732796fdc4167" /><Relationship Type="http://schemas.openxmlformats.org/officeDocument/2006/relationships/notesSlide" Target="/ppt/notesSlides/notesSlide15.xml" Id="Re5925ab6a1dd43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a9287a98524d0c" /><Relationship Type="http://schemas.openxmlformats.org/officeDocument/2006/relationships/notesSlide" Target="/ppt/notesSlides/notesSlide16.xml" Id="R4ca02780027d450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3f6f0c1aa44841" /><Relationship Type="http://schemas.openxmlformats.org/officeDocument/2006/relationships/notesSlide" Target="/ppt/notesSlides/notesSlide17.xml" Id="R99887c5b96454d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c834af7b20431a" /><Relationship Type="http://schemas.openxmlformats.org/officeDocument/2006/relationships/image" Target="/ppt/media/image2.bin" Id="R0478b7b7ce0b493c" /><Relationship Type="http://schemas.openxmlformats.org/officeDocument/2006/relationships/notesSlide" Target="/ppt/notesSlides/notesSlide18.xml" Id="R0a91a01e7f3e4f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BF589-62D3-4D9F-8A1D-89D2EE9F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515DE-48E1-43D4-A788-04284EFF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26B90-B534-4937-9B40-47AD18D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6CCAE-6860-4059-94F2-8D86D269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500D5-70C8-4B7E-BCC9-50E97687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A76E1-00B0-45A8-A549-356FB40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30779-C08E-4285-A0E1-E1C42D9B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4BBC7-1518-4DCB-9C2A-B12FA843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86F73-7255-405A-944C-E50ECF93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F6BFBE-F3D3-4320-A9A7-A304FC3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04038-7642-4D54-9E26-AE705626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A464B-0844-4E3A-AE88-6F5FC18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63959-8055-4C72-AE07-1E1E851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48D51B-FC4C-4DAC-91C3-02C28CC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717CD-E842-409C-B69D-7C3EB80E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6D66E-5841-4A0B-992C-8F4A6B1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E8807-38FA-4897-B86A-B8DFCAE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0EBE2-7C04-4C25-B900-F0591FDE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EFD64-67AB-489D-B537-2E7C37B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55C06-58A7-47D6-80D2-64F65740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2103E-E006-4ED5-95F4-33899D6E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78862-6974-4430-A7D8-A299C132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16D43-81EF-427D-B248-2EF9AAC7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C5616-942D-43D5-AFB1-EE5413CE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BC0E2-E95F-4A8D-9561-26953F44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07C2A-31F5-40EF-B020-AECE30FE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9C50D9-E92A-4415-B7B0-D7DA5B5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6D9E6-08EE-45BF-A464-966F2E3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9F19A-C0C4-4923-904C-0FF168FD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8BBAF2-8129-46A8-9E10-DFE28EAB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6E901C-9222-4851-8C54-C814CA93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84DD8B-B638-4567-A209-75F11DFD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C0597-DD49-4561-BAAE-D479AC3D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BB7C37-3B5E-4A95-AEC9-0F19D0B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526A3-2EA4-4E6C-9FD9-38DB862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0A4E95-6DA4-4C53-A56C-9F446C5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C500FE-42FF-409D-BA83-D79AC84B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7AC47B-B7D4-441D-A574-D249BBF3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A72133-ED97-4362-9EC5-86304AFC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36B807-E201-4018-B08A-39ED336E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F7412D-3E90-4749-9F78-B9C01696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9DDDCC-3CE0-4A88-9E4E-E9EEEC1E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0361EA-5A3A-47FC-845A-534F623C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664CE26-00C3-40D2-A9DF-770425EC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033690-006B-46E8-9323-C325E03E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43FEC4-4813-47C6-95D7-52C9157A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48C657-DC6B-4230-B82A-3269E9F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076402-BCA7-45BF-9431-57E5D2B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429F0D-1EB0-4D91-ABAE-52411226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0c89c52e24b36"/>
          <a:stretch xmlns:a="http://schemas.openxmlformats.org/drawingml/2006/main"/>
        </p:blipFill>
        <p:spPr>
          <a:xfrm xmlns:a="http://schemas.openxmlformats.org/drawingml/2006/main">
            <a:off x="857250" y="952500"/>
            <a:ext cx="2038350" cy="203835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78A823-F077-46ED-9088-788798A3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704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Intelligent lead automation for modern real estate teams.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83D7A3-F983-4797-8A3C-AB68AF82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Helping agencies spend less time chasing and more time speaking to ready buyers.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82872A1-FA93-462C-960E-09F3372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238250"/>
            <a:ext cx="3048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E747CBC-4D3A-46CD-A774-429AB5D6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8"/>
          </a:solidFill>
          <a:ln xmlns:a="http://schemas.openxmlformats.org/drawingml/2006/main" w="9525">
            <a:solidFill>
              <a:srgbClr val="21465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0F879C-BE74-456A-958D-87266284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764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369876-B081-4D8A-8530-D7ABE0D2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811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C00255-A803-4E05-A292-6650723C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8"/>
          </a:solidFill>
          <a:ln xmlns:a="http://schemas.openxmlformats.org/drawingml/2006/main" w="9525">
            <a:solidFill>
              <a:srgbClr val="21465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44913D-95DD-4A48-B25B-4048615F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16D528-9D3B-480A-BEBC-FF550DD3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97DADA-FDEC-485A-A466-D9F81E1B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8"/>
          </a:solidFill>
          <a:ln xmlns:a="http://schemas.openxmlformats.org/drawingml/2006/main" w="9525">
            <a:solidFill>
              <a:srgbClr val="21465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009CD9-424D-42EA-9E18-A5589840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929612-CDEC-40C6-BEA0-06D83F20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Nurture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A3CF200-0D74-4921-8090-49FE407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938"/>
          </a:solidFill>
          <a:ln xmlns:a="http://schemas.openxmlformats.org/drawingml/2006/main" w="9525">
            <a:solidFill>
              <a:srgbClr val="21465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DC74F3D-064B-4D74-BF58-376064FE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1950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059AA5-9197-47B7-9709-E1D2BF77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242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Hand-off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6CD7D2-B279-42F7-82DC-049224F1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Agency Pitch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2B922F5-8EF8-4BEA-96AD-D4A46D4F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76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Smart. Simple. Sorted.</a:t>
            </a:r>
          </a:p>
        </p:txBody>
      </p:sp>
    </p:spTree>
    <p:extLst>
      <p:ext uri="{BB962C8B-B14F-4D97-AF65-F5344CB8AC3E}">
        <p14:creationId xmlns:p14="http://schemas.microsoft.com/office/powerpoint/2010/main" val="13272439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99496-A635-4385-828A-C05F1720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483D8-7B5E-4C79-8A8A-7AB0582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CCCF5-A0D9-44C0-BF80-1BA0DAB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04190-FF48-4067-A794-7BC581FC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91F8F-8A03-466E-8192-18C96A2C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65EF-254F-4973-A57D-B7E4FC15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AB45-62EC-4DE5-B5AE-9210B9DD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F5DAB-B899-4A58-BE78-63BCBC58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83F15-8B43-460D-AC12-114E8FA7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8A996-26C4-4A6E-A20E-C9BA782A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AC3DF-671F-4F53-9058-68234BEA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A572D-A119-436D-AF49-C98F1784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AB6A3-3E42-4C3C-9D7E-7CA0FFCC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EE3A9-544E-4B28-88FD-455BB455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9821B-54C9-42EC-AB4E-B7203E70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9CBBF-6B00-4C9D-A495-14D4F3EA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3ADA2-988F-4DE8-8C77-C63ACB6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DBFB21-E90A-4459-8E47-7E9EAC7D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707A0-1E48-4D39-8E8C-7BE973D6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32C57-987C-40E5-9D41-034EA439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DCB306-4F7E-4A3B-98D0-0781542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93D19E-F550-409B-8F25-615086B9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D15537-CC41-4AE5-8EF4-9C93411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21CAC9-7028-4C09-9B17-72447A61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89E7AB-3D44-4CC8-86C8-BF4AF851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EF157E-FD03-448E-86AE-C64CFE4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78D47-EDC7-4DEA-8F99-05C471C5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7FD9A-8CE6-4BA1-B31E-92E7D200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95D3A-4459-4B3C-8A7E-B1BCF15E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2906AC-9F66-4627-8039-D7FE73AB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D45AC4-F116-4BD3-B6C8-ED6B1EC4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C7757-7C87-4C5A-8854-CD8ECDEF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40F29-1D10-425F-9757-C62BA99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800E4-01D0-428A-B3AE-48A32771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8C44B-76D8-4A80-9BDD-CC95F79C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29176A-D52B-4DA5-ADAB-22735927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579CBE-2688-4741-BD95-E8A463FF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1DB448-9710-4270-BB7A-5A802B38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7687E4-5CAC-4D5D-B6B9-B9F5ED89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394DE6-EECC-49C4-944F-D36B3A08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AD459C-DA6D-4D22-ADE6-61890555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C40294A-0F26-4222-B4CB-05053ED3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DD0633-61C2-4C96-8F0A-BEBF31CA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14FC26-8BB4-4507-96BF-5380B65E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57FB2B-CA21-4AE1-BD75-5318D154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A1321D-DCF7-4B90-A974-C61F01AC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5AA869-E85E-4920-B70C-4E22EB6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A2A809-F143-47D8-8D1E-BC8C705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34098A1D-A79A-493D-9D1F-B6FBD5E6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94114E5-C698-49F1-9708-29D3E1B3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EXECUTIVE SUMMARY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75B0AB-8AB7-4649-A52B-F79D6D0E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HeyMies creates a buyer-readiness layer before the first agent call.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BBCB2-11ED-4CAC-B283-8E4A5A31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agency keeps the relationship and the sale. HeyMies improves what reaches the team and when.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87EAA41-0361-4309-B37C-28D43502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E20384-99F8-4050-B93C-6ADAE94D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6C9A00-0E80-4DED-8B5D-AA2D89A5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979701-995B-411B-A78A-39EDDBA1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Raw lead volume creates chasing, weak context, and wasted agent time.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BD9EEC-984F-49C5-94C1-EAAD41FB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B1AF95D-6E82-4288-941B-D4AE92C2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480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EED2FD-D574-4687-BA0D-D5CDD94A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76AC1F-55D0-47AA-9923-8472DA60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8140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Capture, score, nurture, and hand off only when the buyer is ready enough.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B70EF-30E8-479B-8594-A9EEF86B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2EFCE8-0072-43F2-A1EC-9409EE62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274A1D-D47F-48FE-8BF3-6C0DC3E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Agency value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79F0AA-8CD5-4BFE-AFBB-5882EB6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Cleaner conversations, warmer buyer database, and a repeatable readiness standard.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91A422-FA12-4AF7-BD00-B848E67E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4191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5694725-F788-4779-B868-61A087D6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6245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552B70-E4B1-4F5F-B25D-8A951224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910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Pilot ask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E3EC48-642B-44EE-9E89-9705C9D5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95850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a 90-day pilot with one area, selected listings, and weekly quality review.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A40B887-B777-4E5C-968F-7765E5D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B7A4F42-BCC5-4D90-A840-F56B960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43646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F2BAE6-29ED-4B1F-B7A9-7AA23D81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7544B-191A-42D5-95C9-DFE22856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3CEC0-1FED-4AC3-97CE-D5ED7C0B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3E2A0A-619D-48EC-8ECC-9399A9D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E23EA-9103-4AEE-983D-E162713A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1BF9-4B72-4F50-BECA-A02E0D2B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E6ECAE-A805-49EC-8B44-AC09B585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28D54-56A3-4903-9E46-906A2A5E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AD6DE4-4EB2-46DA-86F8-ED4C1844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08BF3-733E-4ECB-ABDF-B919722D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5139E-C76F-43D2-BF77-0136B4A9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43C59-2933-438B-97CB-F1E683CD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19A91-0964-4AE8-8678-8CF1E6DC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A724B-AC74-4D3E-86C9-3182BB14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58CBF-F155-4C29-BED8-817E0C46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93189-C15F-4E64-8BE3-90F2C9C3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1C5A5-52B6-4251-8DF6-40C76C32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1044B9-0281-42CC-8ABB-042F8D0D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04E50-40FD-494C-AC16-B0E723A2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34606-C530-474D-84BD-56AE8162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AF5C8-268E-4E1F-8D0F-1DDEDA45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BB0F7E-5516-4996-AFE7-FA540655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B5982-590E-43B4-9D8F-4966B261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526A4B-2B1F-4240-9211-F895FADE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584FC-3418-4CC3-A336-A4E9FD28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63906-D5A1-4CD2-803B-CC4F49C7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975D81-41A3-4A6B-A46F-6F7A451A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453C9-D22C-4C5F-8A1D-DF76791D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84EAB9-6CB1-4738-9F74-D0173FAD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A414EE-E48E-4049-9E55-D7E4F42C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5727C-204C-49C5-9E1D-77E4406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A3C8E-CFA3-4753-BA1D-28AC614B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57D9A-CBA0-44C9-A6D4-2F6D47CD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D9268A-673E-4BAB-884C-D3F7DC7E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7E6FEE-B315-46B8-82E8-E31112C4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C1913-E53C-4C2D-80C1-7FAE304D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EB2C49-B6BA-4EDC-A426-F051473B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2FFC63-2279-489F-B700-5DBB63CB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3FC2C-7F6A-4430-8F7A-2DB13491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A1277F-97AA-4E44-A167-6A6665B6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610CE6-A678-41EE-8977-AD7533A3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BAAA8E-5157-4BF9-9914-196D9245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3893C3-8B73-4BFE-81FD-4D8788FA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7A909C-CE59-42C9-9DE5-81BA4619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C2EEAE9-8A81-4CE3-B1A1-0163D40F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30BD34-2C13-45F3-B6BF-4D8F99FF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D6913E-E5D2-4784-B602-2080099F2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B0A9CF-B859-4322-9D3F-7BD4CC8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2F2836D8-D619-4AEB-9CB0-DEA6E60D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6836538B-4E5C-4941-8E47-82B3FAC8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14ABE0-0A24-4A3E-90BD-B40D698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Agencies need a better operating model for buyer intent.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DEE7FCB-C6C9-455B-92E8-94787386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Lead generation is noisier, buyers research longer, and agents are expected to respond faster with less context.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AA0B05-E6E7-43C8-B7C1-44EEA3DB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57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91DC74-BA99-4EC3-A327-ABABBDD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More competition for attention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190027-A6A5-437A-BB0A-CC99B76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718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Listings and campaigns can generate enquiries, but the same buyer may be talking to multiple agents.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FC6ED7-2183-4AD8-BB3D-162CD08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24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B0CA5B-D66A-44C9-B689-731DA2F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Buyer readiness is uneven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7172A1-D991-4D3F-8874-34E166BF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38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Some buyers are ready to view; others still need finance, timing, or process education.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B899FE-4E94-4583-AC54-AD437E41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F7AC0B-0490-4A75-BA66-6053A4D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time is under pressure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B731FC-C04D-49A8-9340-6F251901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053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cold follow-up is time not spent on a prepared buyer or active seller.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7414484-3FEF-4DB5-97B0-64014964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22D8870-D5C1-4E61-BF63-C42D7D2D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911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Process consistency matters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1B62A18-CECD-4EC5-AAA1-B1C956C0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Teams need a shared standard for when a lead should reach an agent.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FED4608-4763-466C-8B87-6A084C48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52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7E2CCB0-281C-4269-A883-95CF2051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opening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17DAE43-CB42-43A1-9CFB-9786BFA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Readiness becomes the new lead-quality standard.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A53E52-B0F3-47BC-B804-F8B7D752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82AAE95-FA86-4F08-BA4C-2174A18A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75149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59AED0-8E35-42B7-B38A-7B354159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4E909-8374-4D1C-B9D3-ABE975D0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58092-EA50-45A4-9F68-D4A456AD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31A6C-D8E1-4F2A-A44F-EEB13D3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D83ED-0F17-4A86-B0C0-BD566766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9ADA2-ED95-4291-9FD5-7A820A9A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912C9-4B77-4E95-8BD6-0262B7F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D4EBC-8D15-4931-B9C1-9E502AF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B3E81-3B82-48FF-B6CF-19E517A4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B729D-940E-4DC6-B39E-AA9EBEF6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480BE-9CFF-4F95-9600-89ABE0B9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0847F-F1FD-4E5D-B283-E2F6360E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B868C-0B4A-441C-B109-D62C4A39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4B42A-7FAF-46F4-98D7-045E36CA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974F0-65F7-408F-B73F-F1F69BB3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FF71A-EA74-4FC4-ACAF-874C1940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E1647-2DCC-408E-A0A3-806032F4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0D03C-3468-4129-A62C-7B7EEE98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9A1E6-FD08-4595-85E6-027D8C63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A4419-13FE-4C56-859C-208F4E89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E5818-E4F5-4271-A83A-FB1704FD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4EC0CD-2ACA-49C3-B902-CA7020DA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D8758-ABB6-461B-AD8B-C3E0E03C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CA75C-666D-423D-9DD1-BF45E8FE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046BD-E0F4-44A0-8FB0-75F0A99F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04035-9CA1-462F-A351-BCF87727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0961E9-BB8B-4A43-9FB8-05327E99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790DE-D46D-407E-B9F1-E5EFE52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05A42-A411-4F76-95F9-88CD96D0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30E464-F92F-43B4-BEA5-B5BA5892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E5868-3224-424B-823E-C7FB3524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B2E6D-CF68-49C9-9465-64BE9633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CC7434-2EC5-497C-9ED1-86E2A4B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FEC93-5FE0-40A6-ACCB-B53B841D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6F66FB-9161-48DF-86D6-350E7925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B9CE82-B473-48FD-89E6-7631EB7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64D6AB-43D5-4F75-9292-3BD9AA82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5CCDD9-57D8-40B3-A807-FEC797E0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D30592-5004-4235-8278-EFA04A2B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4A628E-7D6E-498D-9E36-AC2AB1E0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963876-2767-4DC0-A6E1-CF4E768F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E3C822-6FD0-4D0C-BBF1-1682A8B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547DC1-2306-491A-ACC1-8C3AC21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31A30EB-8B06-4D16-88ED-90349201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643D9FE-A957-4748-9EC7-0704C897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095A32-3515-49F5-9647-17F81F44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618523-C803-4F36-924D-1BB89231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63225E-F4D8-4976-9858-8F658F84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33464839-756D-4A51-AC6E-F9EAAF3A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C10B32D4-C89D-43AB-BE5F-B3F4243D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QUALIFICATION DRAG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17CD8E-5E14-46C9-8100-DF8186A6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Reach is not the problem. Qualification drag is.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48D86E-597D-4B23-BF0A-063A194D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Traditional lead sources can create attention. The hidden cost starts when weak context turns into manual chase work.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13D020-8DE7-4C40-A1F2-BBE3FA5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333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AABA26A-9398-4FF2-AA3E-AE9D58E8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4190E7-3012-419B-BDB0-A67C8F34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Exposure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10BF19-1EF5-4C3A-9D80-A1CC0536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1990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Views, clicks, forms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FBC2F6-BF7E-4A44-A9BE-EEE9E550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6195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C834A96-CEC3-4CB2-9B25-30878AC2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62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9235A1-8A73-43A6-B82C-A0AE7518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477F92-22D2-4FFE-BD0A-F3A2A94C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16361B4-8733-45E5-AE85-A9604929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290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Raw enquiry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114048-379D-4ECE-A771-EC566672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724275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Low context, unclear timing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81AF8E-9198-428F-8E60-6095549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957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9C8CD6-7CAD-44B6-87B1-5663A20E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385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2CA1BD-BAD7-4745-B76D-738730E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956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5E8400-890C-4EEC-BFE3-7BE80114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9565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CF2148-960F-44D9-8235-03A14F0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1609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chase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7CD64F-603C-47A4-8E3E-FFB0307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00475"/>
            <a:ext cx="1609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Calls, messages, follow-ups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B0C4A5-BC62-406B-B560-ED1B637B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30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337399-F0CC-4460-9D75-5852C641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14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223F9D2-98BF-4A50-80AC-97DDEFC2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3DCAE19-DE89-48B7-8511-59DD0E8F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71850"/>
            <a:ext cx="47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68AEA5D-64BC-47A6-8E52-793CECFD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814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Ready buyer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48F0D8-B28D-4AEF-A7B3-E0FF0BBB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7667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Intent, timing, fit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7DB8861-DFD7-4170-A7D6-798F2B65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More leads do not solve this. Better qualified leads do.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916A609-5560-458A-B536-8E1F814D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017FE3D-2D43-40ED-AB3D-E9E98CB7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276284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68FCD0-C4B7-4F19-8EAB-3850C8E6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304F6-2C01-4DF5-8922-E4D4CAB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64031-9281-4D07-B728-600A8DD0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94093-F94A-49F7-90E1-152035C7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D5745-4854-4AC9-A5FC-1F615317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A61D0-BFA8-4159-9FCC-B9C52631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31317-77B6-4A4F-B4FB-FDB3491A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DC9DA-6C35-46D1-9160-761F798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111A5-2478-4AFC-A6D1-6557207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6B057-3D66-4A2C-A95E-64D871AA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C673E-8CFB-4914-8ED1-4DCA92D1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35CB0-6EC6-4B82-9167-2E5109E5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4D147-DE37-4D58-94FD-57C6A24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ACC62-CC26-4E63-A2BD-F923DC30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CBF43-3FC2-4202-8E6D-80A090C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3F297-807B-4601-AAAF-827D1BD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87465-6175-4C82-9365-EC3AF556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0E7480-09B2-46D7-B87E-8D548CC7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07A7D-3EAA-49F9-895F-E212C219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FEEC9-6818-4E99-9B5C-20C663E0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39F17-7607-4EE9-A8BC-3520AC13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D6A92-3249-40AF-A5C2-F671E70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DBAE59-788C-408D-B74D-C3D450F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04FD0-152F-41D4-8968-04F9A82D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1C5BDE-7D64-4DA6-8589-4BE50F87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F689F-D205-4D9A-AE05-E86585F7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06B485-2292-413F-A559-FB8C9F7E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368C1-E2E0-4BF9-84F7-7D767098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363F99-D018-4E2B-A5B6-B4C811DD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02BDE-5437-4ABD-978D-4FEE639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0BFC2C-8203-466D-B134-60D5D898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77C8BE-BAA6-4172-BC8A-1BA07C06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BDC607-9B5C-4BEA-A141-DDE6EA22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3D14E-9841-47B8-8F54-D76D0638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6B44B-221A-4C59-B787-C71CAA82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2B3085-C1D5-4936-A9FE-D966395B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66B405-D51E-417F-A004-24C57D0F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E16008-D290-4BAE-9DAC-28ADB918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2D001-9BA8-421B-9882-DD9E5F35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F41F60-A2EC-4E17-8C7A-DE958368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D77027-33C2-4B6A-BD24-8C49889E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6E4C7A-E168-4E75-BB7D-1ABAB79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74CACE-77E7-4D1A-A190-DE8394C3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7FE17A-C547-4057-AD44-0DFC261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390C7D-9DBF-4DB2-A94F-79E37AA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5C2925-4009-4C88-B3DA-23F06BE5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5B0E1B-74AE-4C99-907C-E79B6C8E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CC3F52-2B03-45E0-B4FC-109A8410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B6AA98AB-41F6-4D4D-9309-58E87E8C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45FB2152-1DBA-4167-BA63-3A751D68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PRODUCT DEMO 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9A2FCF-F464-486F-8829-2E45EC7F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buyer journey becomes visible before the agent steps in.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11B3BD-C491-49F1-9921-CD63D70A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the simple demo story: capture context, ask readiness questions, score the buyer, nurture if needed, then route the prepared opportunity.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E79188C-5E79-4C03-B4F9-B43EBB28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CF16A8-D3A9-4172-A69C-01C2EF17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046720-6311-42FF-AEE6-4497C5D1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2668C2-04A1-4789-BB7C-BB8A352D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82EC29-99C8-4084-B266-1C975123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Enquiry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59241A-F963-422D-BA25-9C939DC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Buyer enters from listing, ad, or campaign.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51E2F7-A034-438F-87B6-A57C9138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86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26ECE4-5113-4C3A-A7E7-FE8EA22B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829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930E26-69F9-4844-B6B0-A0D1390C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C1084B-E2EE-4477-8091-2898A33F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623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536EC33-0AE6-4D79-B5AD-031391E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46B2AA-41F9-4A46-AC23-DA267AD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861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E2635E9-D1EC-4A74-9CF7-2F9565B4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Readiness questions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56D0A5E-25E7-4DDC-B3EA-11F6ED32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71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Budget, timing, area, finance, property fit.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3E5C77-285F-4961-A868-4905546C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86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55886BB-BC66-4534-A1AA-2F0B4D27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29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222474-5DA1-4E01-92F1-49755ED6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DB310D-6D31-443A-B258-490A219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BC6E2BD-4B17-4759-8BF6-0DDFC296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8C01C91-F747-481F-8E8C-09B03CAD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123074B-B0BD-4464-8004-E3A41E10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BB48A48-303A-48CF-90D2-954BEC77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71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Intent and readiness are ranked.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767EA1-15D1-4BA4-A4EC-2111A97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B2427EE-B395-4BD0-A4A5-07426473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829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CF461EB-EDEC-420B-B08F-AD470639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7CA1CF8-3FB7-4D83-A39D-B8D14619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623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8A00C46-1835-4E36-9601-4F06DD03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B873B6C-F64B-49A4-A8E6-5EA7167C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D7BB00-0A55-4595-B703-81FE4B1A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Nurture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AAEF7B3-AFB9-4E0C-87C1-B3358B0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71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Automated follow-up keeps buyer warm.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3768AB4-679E-40B3-980F-CE2B147B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8620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C49568-D0D1-4301-A820-76B42688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8290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F94CE77-48CE-4202-B7FE-72799745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62300"/>
            <a:ext cx="18097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1346AD-84CC-44AF-B437-BF306CEE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623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B955020-D147-4E81-9B4C-89A0AD1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DF9F07-E10A-49F6-B315-30C011D3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86150"/>
            <a:ext cx="28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29FA1C5-A99D-4886-B402-F20E50D5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8481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Hand-off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81444D6-0B4D-4B0A-8FB4-DFB233FC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17195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receives context and next action.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836A869-023B-48CC-B931-3C7E01AA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D9B7446-5E93-4577-8E71-25B46DA7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8557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082427-2BC6-438D-B99E-7EF6DCD1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1CA27-BDB8-494B-9843-DA6941D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2EEE7-D132-4E88-B7B4-7A649293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B0A84-AC68-4E8D-A1DC-244529EB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EC3F9-47DA-4367-8A0C-90D369B4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BD7EB-3769-4558-A210-DEBA855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61E4C-B709-4581-9CA6-39CF3721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11B4C-CE33-4359-9298-591C61EF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66806-22CE-4B6C-9B16-3A84194E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E83CC-4360-4B35-B803-1B82F93E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98086-C684-48F6-98FB-21E3F4B7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D647A-8FEF-4999-9698-0E9B587F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7FB8D5-1E79-4FA8-9C79-867003B0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56836-5776-4F12-87A4-AB3E1E5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A0B3CB-83AE-4708-BFB1-C37252D9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4AF7A-64A8-4E30-AEF2-7E3487B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26A8C-C597-43B9-B6E8-A96BA745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E1A0C-8FE8-473F-8070-34AA87DA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F2318-08B8-4C0C-B44B-8BF2D7A5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967B8-114C-4BA6-A63A-143F31D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8C1EB-A4F9-42B1-97E6-7AF7218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4C3330-565A-4210-B22B-69F525B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912A6-874F-40AE-9AC5-73003564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99839B-793A-40A8-A60B-EE7DE4E7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A3695-BAF2-4012-BAAA-100DC373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FCAEE-C97F-4425-8311-B9BC8E12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27194-1889-4CF7-9124-02D809A1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A7C989-5655-4C3F-B4F4-5BCA01DB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EEA51F-F957-4897-9DAE-E5096C63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7CB0E1-B0C6-4BEF-87FE-7303736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34EDC-FBB4-47CC-88DF-5C52322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E16E61-BE76-452D-AD00-0B4ADB6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BE6E90-40D0-4E2D-B424-A1205D0C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FD22F-FC73-4B75-AFE1-E2079379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6CCD5B-0D86-4DF2-8A88-079E6E7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35F9EB-1939-4FA4-858F-CEBC69F1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EB3D7F-3804-40F7-A7B8-6AA2106A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7D2E0-9589-4DCA-972B-F13A2CC5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86EE02-CC0C-48A8-AA49-FEA48714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1E522A-E0C6-4E58-AAC1-51AED1A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70D421-2919-456F-B300-D5EC5177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87F836-CB00-4909-909B-3AB46F5D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650004-0E31-42D5-A91D-0C393796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170A8C-C158-4CD2-81DA-E366B3D1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A34F7A-0961-483F-95F6-E6C9BD7D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85B3F5-C40E-4BD2-AB11-0E386344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167427-47C6-4B65-B535-448303D1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1E2042-7319-4E74-A362-4FB02B9B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2F6BAA40-0F54-4D0A-A8C4-4222AE19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01485C8E-FA7F-4170-89EB-AC9E2C14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READINESS 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A7FDF4-7B52-4134-A954-42C2CEE9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HeyMies creates a standard before the agent call.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9F2EFF-B1F4-4ABC-8B32-26D920A5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product sits between lead generation and sales execution. It prepares the buyer, then hands off with context.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EFF5D5-795A-433D-A7BE-696A7A0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8481A89-F179-4B32-AA37-6E0E0D62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63026A-33EC-409D-9BB1-AF4A36F1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337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Lead sources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25ABB4-7E24-4A0A-AF76-A1B33D15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Listings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Ads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Campaigns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Private seller flow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C88032-0534-4080-BE5B-733CA6C2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005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A3DF26F-947B-462D-94DD-09DC94C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CCD9D8-2A02-4F48-99D4-AC3867FA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F5D3FA-3357-4142-9B30-D36C5B9A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 readiness layer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367AF5-5D8F-4D7C-A1EA-92F84F8E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Capture profile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 signals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Nurture timing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Prepare hand-off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A2E5AC4-0740-4E4A-8A0D-6DADBCB2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005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84ABD3-8560-45BC-96A6-E812B7F7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9FED923-1172-4EB9-B5B1-C6186257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7253123-CFF2-4503-A2B8-A726F26B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Agency action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F56659-713B-4636-8A6F-C59A9133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29050"/>
            <a:ext cx="2133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Ready queue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Call with context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Book viewing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Progress offer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DF5417-F111-4871-9E99-EFBB454C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B14069-E025-447D-BD83-6200311F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96610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7094B5-1371-48DA-8ABB-D67B56D3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4EE1-4857-4E63-8D56-4CDA83F5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50E42B-934F-4BFF-BD1D-B303CA93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ECEF0-35AC-4CD5-955B-BF85650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8BBF4-68A3-4F0E-9430-937B6B97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012BD-AA79-4A96-B5DB-E9472D3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437CF-062F-40E5-BA05-34F88096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5B24A-376D-4195-942D-3E138F28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15D6C-ACC0-42B3-ABB1-ECEEC076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9AF3C-652A-4771-BFAC-D7FC4C03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C264E-3AB0-4906-BB7C-2174656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C4AD1F-B93D-45D8-AE19-D0441F0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89298-B2B3-4883-AC7D-8E1906E5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F5917-D91E-4B0A-908A-9E75D849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B4E96-BB0E-4489-B074-94566D27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2E45E7-FE0F-4993-BB55-D3DD21E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93038-FAE7-4B67-A38D-ED29D908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62A6F-15A5-4515-8E97-000F4D80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E8515-704E-4BCA-B45D-D633464F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AE9D6F-98C4-42D9-9599-64F6D458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A5FB0C-CD26-49CE-A3FA-8646C582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1F1F8-E102-4280-8185-C7EF2981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6D443-0D6B-4547-89A0-F4802310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757CE-F1EE-4C8B-A863-9C853D0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E7B114-0DC8-454A-89F7-EDF2A9D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C88E4-61BC-4D1F-9F8C-E283DE5C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466873-BDE9-4326-890E-BE1CB91E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7123DD-BA4D-48AA-AD9C-8CFC3FC9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A16D6-D30E-48CC-BF2F-6EBCCF65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9717C6-6936-4E28-942A-6B033F8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07E56-00AF-4FDA-8533-B6CA6BF6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B292AC-8CC7-45B5-9F72-4A768AB9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E95FB5-475A-49EB-8579-A9AE111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B6ACDE-8D57-4B37-9824-2E660A23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85BC1B-32EB-4420-9C81-A05F971E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ED98AE-7A12-43D7-B65E-4CCE7BC8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D1EBC-8C82-461F-92FE-041FECA7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40024B-89CB-4E67-8819-E79DCDBE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FD56AB-C0BF-46A7-BEFA-C65CF9EB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02D89D-0C15-41C2-A04D-FD05AAA7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AB88C9-17B0-4FC1-BE7A-D3E3A70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91C5FD-3784-493E-919E-E7D7B4D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DBC262-1063-4BE4-B17B-25F003D2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5A27D5-487C-48DC-8E02-1B259206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2BBDAC-F96E-4117-96EE-89697D7E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B104133-1010-4CD5-BA8E-464B5E23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557442-C762-46FD-9108-6BF2E94C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B4862F-4F2F-4E8C-9280-21A6F5FE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37200DB3-175D-4B10-8D31-B0E7E212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1E1B6DCA-3B56-40EB-A1DB-920A79A2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SCORING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A381AB-7B2A-47CC-8F13-0BD706E7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Readiness is a composite signal, not a form fill.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4FDFE0-D23B-450A-B5D3-63FA9229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HeyMies scores practical signals agencies already care about: seriousness, timing, finance, fit, and engagement.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8BD883-BD6E-4D42-BFA6-337059BC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C49349-4B83-430F-B180-DD0999CA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1447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E14F03A-2EB9-4BD3-975F-7EB2C7E1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857500"/>
            <a:ext cx="561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6F97EA7-C1B0-40C7-8D8A-7F83A611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81325"/>
            <a:ext cx="535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What HeyMies looks for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FDAC03-AF23-442B-922C-D4CD9B99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D7EDD6-C021-48B2-B067-A257361C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81325"/>
            <a:ext cx="1733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E26D99-48D0-45EB-A9D5-3992E635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19120A-0D33-4E9A-9517-C96EF332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3227B7-88E8-4E3F-A6C2-F902EE1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7660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A207FCB-85F0-43F0-AF02-E6126E8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19475"/>
            <a:ext cx="535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Repeated engagement, saved listings, enquiry depth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85F517-6E0F-43A1-89C9-6A769AFF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656636-D96B-4F10-A058-09539E42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194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Nurture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5BC2FC-2F36-4440-AB2C-66BC97FF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381E45-B785-4F1E-BBB3-3ED27FE9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Timing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6F3DD8-BF25-406A-9112-227EC5A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9095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895466-EE9E-4765-8388-10E0F20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33825"/>
            <a:ext cx="535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30 day, 60 day, research-only, or unknown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7D3E1C-1F6B-4246-A899-2E5CADB0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7E36B6-7071-4CCF-80B4-9A6102AA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Nurture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42F22D-ED8F-4B8C-82B4-95A67058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ACAA497-CF3A-4EDA-A529-EDBEEA3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FF93974-3534-4CBF-9502-CA6F254F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0530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9671E1-04C8-459B-A40B-CBB2F3FB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48175"/>
            <a:ext cx="535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Deposit, affordability, pre-approval, transfer-cost awareness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BD42769-71C8-46A9-8A38-1157B06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D08C28E-9F6E-4B98-98D7-0387D6FC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481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Prioritise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32AA2BE-F8EB-45F3-AB11-E585C753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B64708-D413-4C12-804B-420A3BA3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6252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556663-8C70-4D14-ABFC-2430D0C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965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E5B15D-9985-481D-8C53-D2AF507A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62525"/>
            <a:ext cx="535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Area, price range, property type, buyer requirements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A7084C-2730-4E11-B832-FD27540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196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DDE5D1-C7CA-4E54-B65B-2C9896E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6252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Prioritise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C09C10-2DE5-4D3D-ADF4-F76B1F56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FAE02CF-D9CB-4B23-BF94-6152B5E5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447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Engagement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0391096-658D-46CB-9CC5-11ABEFCB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334000"/>
            <a:ext cx="561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9095F6A-06CB-4CB7-A831-C0345644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76875"/>
            <a:ext cx="5353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Replies, follow-up completion, profile completeness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93D4CBF-A8D8-4E7E-9CD0-F6EF346E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340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41980E-62CA-4536-A2CD-B40F071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476875"/>
            <a:ext cx="1733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306DB09-112D-4731-B09F-BBF7A27D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product copy plus buyer readiness flows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523E001-E715-492C-8ADC-FB00AEBB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53017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15571-A52C-421B-B0DF-F696B325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2893B-C0C2-409A-8FA0-5A18A4F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B0965-958E-40F7-B32E-BBA521FC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947C3-3C53-46A0-810D-0F63EF53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BFC50-68E3-40C9-B3F3-9E1ABF65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3C1EB-A603-41EF-BD28-BDB3F88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0C73-85C5-42F4-B102-27BC12B3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766E9-F4F8-4AD4-B0A5-E7333ED8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930CE-3408-4A11-A748-4E29BCB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134EE-CA0E-4274-980D-18EC31AC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430F4-9667-4D12-ADBE-72E21096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54555-1DCA-4298-BFCB-BC22547B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34676-DD3D-4850-9F5B-101F002E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78F2A-0E2C-4C70-A4B4-5C70F42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90E460-569B-47FB-95C3-05D7B53A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729E6-DC8A-4B51-808C-5C506B92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560F6-FFF6-49BF-93C7-8E0F04D6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1445B7-873C-4E6F-B89B-6B132D8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E14DF-6719-44DC-A1E2-94DC81F4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502CE-A6D0-4587-B821-33FE64E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1A913B-0BDB-41A3-B89D-8F0E6AB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AFA26D-3530-4EF4-B7B6-6363746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21D5E-AE9E-4581-B112-D3244B84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D6C4D-56FA-47E2-BF50-AE93C2BE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2CE99-4B32-4080-B983-64DF06C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8913E-A6F8-4805-8B4C-761D5CB2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740DE7-4B2C-4466-AC99-7BAB695B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E9809-51E7-40BA-8777-7A6F3CC4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355C3D-28EC-44E3-AFA1-86BAE03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2D01B0-2E92-49C2-AEFA-CD4FCDE2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B7720-DEA9-413B-B707-067C1D4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A0734-DDEB-4700-B9AA-CD714CD1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2CDFB-65D1-4EE3-9D4E-5BF1EB7E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22066-A14A-4D7A-90BB-18BE2A18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230163-FFA7-45F0-B7F9-9B44F13E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A697C-5004-47D8-96AB-5B85784A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21791-BAFC-40B5-A44E-1EF099AF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DFF01E-BBFD-4024-A66E-AEF31D17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9803D9-B77D-45CB-BBB7-7CB5FC4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CC7EC4-FCEE-409C-B3D6-DEC7F80B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7DE6FA-16EE-43CF-AD8D-290EDD0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D6997C-A33D-41A6-B555-8567CC5C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23CF55-FAA4-4033-9067-9FCC3155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58F407-999D-4471-8BC4-51C9DC20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E4E63B-11DA-46A7-B3DF-A3E4B3E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DCF909-CAB8-4A51-8AA2-5807B867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4E3FD5-068D-4066-905C-0493821B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6E738C-BA68-40FD-BE9A-CD727E3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0345992F-0339-4F97-A2FF-9A781C21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D2597D7-9FD4-40AB-8264-8540113E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NURTURE WITHOUT EFFORT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5B334D-F887-4CF2-AD52-092720D6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28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Not-ready buyers stay warm without becoming agent admin.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80FE1C-58E7-4F4B-8BC7-A3F92C85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Automated follow-ups keep the buyer moving through useful readiness steps until a human conversation makes sense.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97A5EB-0CF8-45BD-BEEE-05D5CA8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F10B1C-1123-45C5-8A82-E8022FE8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E2B1D4-1366-40F3-B48F-C686CE75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Day 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4DBF1F-172A-4AF2-96B8-FCE68418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Enquiry captured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39174A-4752-4D16-BFCA-EFCC5091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Buyer shows interest and context is stored.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EE36C9-18CD-4A7C-BA16-D3E93249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232909-C79A-41C0-AE28-F9F1961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905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41AC35-A667-4899-B061-8F079305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283FD0-2972-451B-A22C-CF06B9EA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813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5216734-AA57-48D5-92AD-2ECF263D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Day 2-7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2F7FEA-290C-41AA-B9C9-68AE6B3F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Readiness prompts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E87184-DEC8-4B4B-8462-01965B14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14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Budget, timing, finance, and area are clarified.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A8C95AF-208F-4DAA-B2FE-13C673F1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624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1ADE9AC-EC76-4111-BAC1-CA5FF55B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905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ED9F2B8-87D8-4040-9783-C6A14623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F3F08F2-3EF6-4E3B-93F3-7DBD4A84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813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D981B9D-7659-40DF-ABFA-BB535A47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Day 8-21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AD22444-B3DD-42AB-BC79-32592374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Education and reminders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19043D-2123-46C4-98E8-A069CBC9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Buyer gets next steps, calculators, prompts.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C2152CF-F362-4113-B56A-979082D3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6240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FD982F-008A-4214-97FA-A999746E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9052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AB2704-514C-4183-B711-E016C42B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190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2F64BF-A4DA-4FC5-970C-053541F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813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534BFA5-7AA8-4F02-A909-A3B1513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4805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36CD047-EEFB-46BF-8870-CEF547B2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hand-off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286CE5D-B000-4796-8087-23E08C3E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14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Buyer crosses agreed readiness threshold.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3D8035-098A-4656-AC85-CC25693D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E81272-A214-4FF7-A43F-FAB94B01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rule: engage when the buyer has earned the hand-off, not when the form first arrives.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5473576-C8A5-4BEE-B544-ED60E4F1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714861D-2905-406D-980E-3164A82D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4733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F433A-CCDD-4C26-B777-D75BF8ED6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1E3D3-B08D-49D5-89C2-6C4A6D9E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C4A5A-19FE-46F7-8FCD-38F143FF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D15E-F8AA-4EE2-8110-89E72EE2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1DE54-A56D-4123-85C9-799B6ADF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49EE4-EB8B-467C-888F-79DF2DA3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D9A90-E75E-4BAD-9A3A-E6DB5DEB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7D3D3-98D4-47F0-A2D0-8CCA6379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A8E85-D4A1-4244-87AA-D2A8377C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2FD7-FAB0-4CB3-9EB9-EDC610A4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B0644-5D98-45B7-A02F-5D52E5B6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AA44E6-B82E-43D9-A848-864A7305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F157C-D189-4B9A-AF31-B36E0A7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7EC14-846F-482D-9FEA-5ED32B7A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88DA0-08F7-4569-92D1-93823DCC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75188-3DB4-4283-9AF6-CAC6F9A7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1BBB37-5E28-4ACE-A3DD-61525281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A0328-50C4-4C19-8B5D-58574F46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34FD1A-0FE9-44A9-9878-2060C57C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35016-F031-4BC8-98F3-C667C037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1E9BA2-207A-4DE6-9337-E63BFF2E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C025B-133D-43D6-A42D-A04661F5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7708F2-947F-44C5-9400-44A1764B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0A255-C2DA-4FEE-8038-077EFCA9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E448A6-166D-43DD-AC27-774882F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BFEF54-59B6-4B62-8940-1E095C1A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036CB-55B7-4798-A44D-82CB46B7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F5936F-0DF9-4E9E-9BD9-4BB1E0D0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0F2904-CCBF-433F-A68E-BDBC93FA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E7118F-5C63-46BD-A470-684904B0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B1A4FA-C7AC-4623-9E6F-8AC7F913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5DD825-AE62-41B0-B4B6-3EC0E5A8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DE6C1-6537-4210-9EE8-3D1288C1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2CEBF8-EA5D-4C0C-97D4-A18AC25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3EBAC-55CC-46DB-9C75-E284D35C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25ED55-A248-4105-99C6-7F1E7A8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F3A9EF-97C6-439F-AF15-EB776423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6A042-2E20-4697-9F7A-71C982DE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3D4D52-7277-4205-A318-58C2AE3A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B46E30-406A-4665-B934-1409B22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3D2CC-5F2D-4C82-A0D7-47B4EF13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2090D6-5BA5-431E-A3AF-01B96B59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213B92-EF73-40BB-99D3-89E458B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ABF086-9320-4035-BCC0-7C868E96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E859AE-E9CC-43FE-AFEC-978BA2D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695341-E5B1-40BB-83D9-2C280CF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6832EC-2D74-4934-8921-210E6566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1338C68-C431-419E-823E-D8BD94F0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36211775-189D-423D-B15F-3DA54420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E4591B54-40C9-4FFB-A043-3D18A5F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AGENT ACTION SURFACE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4F5E19-9C3E-4897-9CFD-43FE5BD6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dashboard turns readiness into a daily action queue.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A6AAA5-1C44-4307-BDFD-E14E31B0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Agents see listings, lead stages, readiness status, and next best action in one focused operating surface.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CFE6CF-D6E9-439D-AAF4-5828CE16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99060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C728B0-BCFB-470B-B1FD-1AF24E6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9906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B7E6B5-567F-4077-8911-59000F0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57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 Dashboard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FE732E-80AD-4720-8F3D-DE13E7F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1324929-9000-4936-930E-0D0E56B5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43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Listings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CD10F69-9631-4380-A138-A51601C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4AA724-1762-4C2B-9D63-E74EBC97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290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8ED38E-1BE4-409D-8DD8-595B18F4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43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Leads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7D4AAD-F8A2-431E-8266-3EABBEFF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71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E74A9C9-73F7-4E14-94BC-96E3CDB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290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5EEE930-59B1-4FA1-8057-5D2CC84C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3D9593-BD8E-4C72-A6D4-C95546B9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71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283326-4785-40BA-837A-0F010CC7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29000"/>
            <a:ext cx="1200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C7F771-B5ED-443C-A01F-76C1CBD07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4330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Nurturing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876CE5F-A2D7-4ECD-8BC9-FF6E94EB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7190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F2F6F9-FFF9-451E-9F6B-FFCF5BE7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19E293-230E-4629-BA46-77DDB6B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Ayesha 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296B93-99C9-468D-9BAB-1D7B6740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386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Family home with garden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3A55B6-E99D-4AEE-ABDB-0B1D824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196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502504-CE05-42C7-A5AB-C4C081F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4817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0988C7-FA49-4594-96BE-97469437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0535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FB01B5A-659E-4BAB-A277-B0989E07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00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Samantha K.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6B292D-6FD0-4C2E-AC49-745EA37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Lock-up-and-go townhouse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2E1B3E-95D6-4E83-BA7A-FD20EE1F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8155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A6E63E7-F6EF-4BD3-8461-C41CFF1B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012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Nurturing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F4C19C-6644-4979-8CF2-9FD9F1A8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5186C7A-12D4-47DF-AE73-95391E1B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Thabo M.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D0069DC-60D7-4332-B751-22AA8355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Modern 2-bed apartment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BA71E3-7907-42B3-8C3F-378035E7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43500"/>
            <a:ext cx="106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30D7E88-9E64-42B2-941C-DCE00EB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72075"/>
            <a:ext cx="876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New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C46CAA0-BA25-409C-B9CA-F5718396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2857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D15A964-B0F5-4803-BEAB-2BBB44C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Next best action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22AD17-4EE4-4FAD-A048-47BE11D4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814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Call ready buyer with listing context, finance readiness, and timing notes.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99FA92E-8829-42F4-B70A-A7D8FC33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561992-636E-42EF-8106-BDE3048C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agent dashboard component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24E92BB-894F-4D3D-BD73-49AC6F3C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6210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4C093-061C-4158-B834-C6F0C9A1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49AEB-A90D-44A1-95D6-C90C83A5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F1748-2E90-4717-AE98-2171AFDF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328CF-A4C3-421A-A03E-B083D9D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0FA54-AE81-45C5-9F8E-F1342CB9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71DE7-5304-4E86-998F-1688A813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2243E-999F-4285-801F-82B2ADD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B9A55-C824-48C0-9436-4DE784D1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8F12C-41B0-4062-AE51-B0DD6013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ED5D3C-C4FF-4EBB-BA94-D96C382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286C-E0F8-4673-AEB8-3A9141B4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87EB1-C119-4843-9F49-C3533E4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D7672-2A17-4685-B0E2-519A8FBF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42857-B532-44C9-8B21-8742C5B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FB769-4807-4EA5-BDC2-47595B67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979256-BDEF-4D0B-BBEE-4A332F17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8C9601-5115-4141-AFF9-E07F7F4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7366F-62B2-4791-8365-CD2ABBB3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9F3E28-BF9D-46ED-84EF-15E3F793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503B6-6C26-4AA5-927F-4CAB649C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91BEF-226B-444E-8B69-FE240DF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D7F46-6C7D-487E-8CC1-AF08FBD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66A53-5660-400C-8687-5C3324BA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2E2883-47E3-4C44-A758-2C67DE84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9682B-2E70-4C21-909C-718B855B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BC9C8-A18E-45B0-83D7-E6BC0F1A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A56037-E857-4152-8056-D032C95D7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2E20EF-3B06-45C2-8A9C-BC5B6C4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3662F8-BD88-4346-98ED-3B93B67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12D186-8C47-4207-83E7-9C3D6051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8B60CC-9272-47E1-A775-E9A7DAE3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45C602-DD1D-4321-85B6-0FA2F18C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702C94-629E-4A3B-85E8-B80CF500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032F96-CCAD-4BB5-9B11-1EC6A067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B40F64-B964-4A3C-AF26-85E6E131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949C97-1BBE-4517-85C4-C108AF7C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E96E37-1346-406B-BEDE-7498FE5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8628B5-9651-4021-AAFD-3628ADB7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031B70-FD1C-4A0C-AB10-4EB49775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494EBA-3ABA-449B-867D-1E9C6F86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AE8EE2-AE37-4F68-8412-02A8DF42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D68B24-A04F-4130-B9B6-AEB50349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CDBEA8-96E9-4DC2-8912-C60A3893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677AA5-E8E6-4EB3-9DD3-FA0DB77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91EE35-5C59-40A6-B85A-A7B60C5B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972E3E-412C-4CC5-8A36-B40F2E4F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86079B-3969-4054-B6FE-B729608A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02281F-1BC9-4B1A-B092-5F37BC8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2F938D6-4692-4DF5-BD96-AA1F03DD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89EAB3EA-7549-467B-9C9E-ECB39B21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WORKFLOW CHANGE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26D7DB-24AB-4239-9A18-EAE89852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858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workflow changes from chasing to threshold-based hand-off.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8DE04D-E809-4C46-A2DC-83760E9B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HeyMies should slot into the agency rhythm as a preparation layer, not a new sales religion.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7E8099-333B-450E-9428-8868583C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B5102E-5116-4B4E-9CB5-22C8609D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765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1CCCBD-16D6-4895-8B17-97A124E1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B99A653-F16E-4537-8570-E7BF504B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765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Enquires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9EE239-AC24-4325-AB8F-3961F8AF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81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7D4E59E-6E60-4902-B610-80B780E1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F417A4-780D-4822-8865-4594D962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765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Adds context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B9C735-9CDE-4A86-BB43-05A172F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BE64B1-0E63-41DB-86E3-FD0EBFDD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349DAC-FBEB-4752-B446-7CE7FC46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765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Completes follow-up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B7943E-748A-4CD7-80A6-44B3BDC8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813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9263DD-D227-4D95-B4A1-9A7B4D40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A4240D-91F6-4CCB-B206-2A2CF273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765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Speaks to agent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A530A0C-1CE1-4822-B634-C47BA01B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BACE09C-2C9B-49C8-BAC6-4089B595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957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6EED966-7214-48ED-8442-084DF5FD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0A53FBD-2D8E-4AEF-BDFC-7D1586D9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957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Captures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C9833A-24BD-4ED2-91E7-9F92F3D7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005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785CAC1-511F-40D6-A37D-3E769A97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D33347E-BB2B-4A6D-90AC-6BF365E4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Scores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83AA97-BE42-4B3F-B47F-02FB5291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005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A89A9B-7873-46D4-84EB-D0E58D23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0F672C0-954E-4DA0-BC14-DF31BDA3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957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Nurtures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7988AFE-771C-443F-B36A-8F4C3FE8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005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A322C18-B3C2-4709-9E38-ED91E82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D349BD-FF49-43CF-8994-026CF475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9572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Routes with notes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7BC06D3-6DAC-4CF7-ABF9-498B570B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F1FA92-96AB-4D88-B958-D512B8A2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9D91D77-C5E3-4A58-964D-20DAA645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59D5710-9DFF-4915-8B82-E970CC29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7148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No chase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2450121-8132-4BE9-A21C-905E8FC4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196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9F7071-9DA2-46DA-B410-325AE75A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33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3A04624-3F78-430D-90A0-DCF34102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148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Monitors queue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71E5B86-15D7-4133-83D3-9C8FC1A4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196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556227-D992-417A-92BF-319D94AC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33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880C64-1360-40FB-8BE6-AE09E6A7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148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Calls ready buyer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7B4E680-52D2-4CCB-ABD7-51CB227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1965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2BE723E-8E54-4599-B3B6-2083BF98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33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67CD3F-7B0F-41FE-9F0F-B77A69EC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714875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Books next step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5DC3D3-DDAA-4666-A253-EEB7BB9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ED4A95-B95B-4894-9A0F-C0EA460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333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HAND-OFF THRESHOLD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B3408D1-5798-45CF-AC3F-FE03F2C3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816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The agency decides what counts as ready, what stays in nurture, and what is ignored.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6195B3F-4E46-458A-8B2B-14094152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DB5315-0DC8-4622-88DF-A1A0368C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255481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FF8985-B95A-4BD7-A7F7-BE6627C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54B6F-6AEE-4680-B060-942AF04F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772A6-D932-474B-8655-3364B766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3053E-F616-442C-9973-980D148A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563E5-A7ED-43F1-AED6-768DB082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61F18-A2C6-4945-BA0A-093B5E78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B8921-3BC5-4BE2-B4D0-92DDBE6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4D4C2-5CC7-4215-927A-A479E4B7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7CDA3-3B5C-4769-A736-50499D5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8E58B-1397-4ED9-8797-78D3DFD1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930688-4E70-4F94-A284-4DF9C8C8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6E611-1EEC-4F55-B287-9C0A1ECC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C431B-BFAF-483A-98FD-3421FF6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4E157-A742-487E-B211-F3006D3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3B1DD-2DFA-4E66-A44F-EB7DF52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30F41-F0DF-4E74-B33A-31AAD4CA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071277-9975-4129-AF0F-9977B243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78501-3B08-4BD9-BC36-8D6E7A2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3F419F-681B-492D-AE98-7DB1843D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DF866-F03D-473B-95AD-3C377705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78CF4-4942-4BDA-8938-DEB48CC5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73A778-B2D0-4401-BF62-C34C83AD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6E8FD-1518-412A-A7B1-B93D65F3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B3288-E15C-4F83-B7DA-2A3226C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C6BB8-752A-41AC-A63C-7CEC779F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98C71D-9652-454C-9A3A-80215D06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81135-9609-411A-BDCD-D155033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A2991-088E-4B03-88C6-BBFD5F6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5AE4B8-204E-4E07-8A0E-625E5985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192AB8-8565-4BAB-BF05-89C31BC8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6573EE-7D64-4FE5-A2DE-6E5A9B31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D23193-2519-421A-8D6D-BA4AE13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A70AA-6CAF-44AC-A1DB-D2F97D9F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35F74-2C54-4256-A094-B7CA1D24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97FDB0-DEA6-47D2-BA8D-3EBFECBF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B63611-E426-4FED-8478-37FA37BA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84E74-1AED-4BFC-B325-02C29DCB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E519DC-7986-49FE-896E-220438B5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00C4B5-5942-469B-834A-89C5E205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A80B08-0476-4885-A5B2-BA5FEAE7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8A10C-B970-4C72-AFF1-A52CA09B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F65630-82B1-419B-9281-3EDB7C65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8597E2-B849-4FFE-82CC-9CFE0A6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F18C08-21C4-48A3-B73B-A237FCE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411FE8-1291-4E68-B169-A00B7E1E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CE90B7-2AA4-461A-9F39-6FE3FC56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C10609-3633-43EF-A08C-4FB27F4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726D9B-2D4C-47FF-9E35-94226C4B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D8D6880B-220A-4302-A646-B4071716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243E4ECC-7478-4747-A1EC-CAC9B781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AGENCY OUTCOMES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F6C2E1-4F19-4DE3-95E8-5AFAE470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The value is operational before it is statistical.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1350511-223D-4127-AC61-311BDFC6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715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Until pilot metrics exist, frame the benefits as workflow outcomes the agency can inspect and validate.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5E276C-344A-4B26-A2A9-83EFBBD9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CC2634-1DC4-449D-8817-345C4123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C69727-8DB6-4340-865E-AA206A66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Protect agent time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43080F0-BD62-4B4D-821C-D65FDA32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Reduce manual chasing of weak or early enquiries.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93C64E-B0F9-4932-9E4E-3AEBA5B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E1B50F-E116-4DB4-97E4-9EDB052B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765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7D92BD-35C2-4B18-B1B9-68397177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Improve first-call context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CAADA1-3187-492C-BA7F-5344AA80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099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Give agents timing, finance, fit, and source notes.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2E4CDF3-A180-48F9-840B-52B01F21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A19F8F-D74B-49A4-9A52-FB0ED2D6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765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D000662-CC0E-4E35-A286-1E5F953C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Reduce manual follow-up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8682019-72D5-43D3-BF7E-13A239F9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Let automation handle not-yet-ready buyers.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DDD41E7-CECC-4B6D-8553-66B9EF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B37A86-462E-40C6-B5B0-42C3F69F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D30786-F730-4B56-BAC5-FFFA9713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Build a warmer database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9C4DC2-7FB7-453B-AB70-F6475944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buyers engaged until timing improves.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16AC798-05E9-4602-B1A3-8BF14440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8DA762A-C76E-4625-AC81-284AB94C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719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E1CA589-29D4-4260-BDD3-C5F1FE9E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00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Standardise readiness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7042CA-F4BC-4A14-BA5E-9FC72BBB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 a shared threshold for lead hand-off.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2A9277-880F-4444-A719-CAFE7C4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2952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0BB01F-758C-493E-8908-9893413A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CADF78-BAD1-4EA2-BB0E-8834B3BB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00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Validate pricing fairly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9E47FA-A057-42D2-8AE8-004A8FE1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0535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Price around proven workflow value, not guesswork.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C289317-4C66-4FB2-AD41-37E392E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D1F95EC-1599-4D51-ADCA-C90A5853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12049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A8EC0-3809-4AB7-874D-14AAE22E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61FE9-59B5-43CB-BA31-25F01B19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DA792-A956-463E-B65B-C3C54A8A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4F05-12B5-496F-9B80-DE202100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78E9-B7D2-4DCF-8606-47B79BF3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688EE-BA20-4529-9ADC-DB80D078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8556D-82CD-4D8A-8D1B-70E89C4B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1A301-F74E-4DD0-8C78-431A3618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E06F7-DF8C-4EC3-A9BF-8DDAE056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9E07A-5F35-4C3C-91D5-8BDF7A6A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D39E5-7CA4-4451-A219-A49B2A28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05FA5-069A-424B-8BF3-2217E2C0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EF1DC-0A26-4F50-9CBB-07EDD49E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2E8F1-0D15-46AA-86AA-D358C43E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EAF1D-2FEB-43B1-A9F1-8F019E6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D5FDA-990D-4407-B8F6-84A2CCFF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0F2ED7-B6F4-432B-BCFF-36108675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3D341-94E6-4967-B008-1D8E308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46800-CCC3-4071-AD1E-199CDF43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8DBA2-9C6E-4084-8193-B2D3B1B4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AF017-EF99-4D00-A9A8-C23D704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0C3D7C-D054-4ADE-BF34-9E241F0D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19354C-159D-4DA3-8246-5E518A958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7EB98-9496-4443-AF67-C1ECABBD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2DC17-2C0C-4D0D-8E18-0756941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02632D-642E-402E-8A6B-7F74BA37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5782F6-7F1C-4A0E-9621-81D21F16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A5B246-59AA-4665-B49C-14FEBFE9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66C14-184E-40A7-8394-E95E9C92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EB01D7-EC8E-4C4D-8E82-26FDBBC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61F28-2039-4225-9B96-970EAB39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D2CB76-9E3B-43A7-BAC4-E0A33619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89B0C-48F1-4A04-94DE-707A518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9F60B8-8F84-4B0B-8E12-6B1F0D88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A9313-2EF3-4006-A1E3-CE69A81D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FE9603-E43E-4F4A-A7E9-34678A96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E2CE1B-7AFB-480A-9582-170D586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F4FAA4-EF82-4AFE-A460-9DC57B1A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70B35F-3E6B-4BFA-B2A7-4BE84082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C965F8-90FB-487D-95A5-6525210B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7B7BA7-569D-4512-8598-CD62545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86CEF-6459-4702-8731-3237AFD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D5D2C3-BD57-482E-9D67-53B73F38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42DDDC-ACE9-4229-A2AB-B79FBED2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AA4D74-32B0-44A6-8D59-13BA08C1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A4A1A3-5DA9-4131-B2ED-686EE7CA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4488F2-8453-4AE0-A315-85B0BBF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E09A40-3AA7-4AC9-BA43-476F638F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F360E112-5050-4F0E-AF7A-E8343D5A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160CECB0-607D-4373-91AB-C5AF0DD8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1FAE5"/>
                </a:solidFill>
                <a:latin typeface="Aptos"/>
                <a:ea typeface="Aptos"/>
                <a:cs typeface="Aptos"/>
              </a:rPr>
              <a:t>COMMERCIAL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3052D5-82D8-4E0C-B32A-7F133935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742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Agencies buy readiness, not impressions.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0E9492A-DD27-4CB2-8434-B534407F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695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The subscription should be judged by hand-off quality, saved admin time, and better prepared conversations - not raw lead volume alone.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D6C721-0EB9-4A58-93FE-50839568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95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889AB0-361A-4300-ACE4-EA6C0E60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2CA3C5-7719-4E4C-BD5C-C2AE0478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Traditional portal logic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332E3AA-D2FD-48BD-80F5-53C0F43F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Pay for exposure</a:t>
            </a:r>
          </a:p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Compete on response speed</a:t>
            </a:r>
          </a:p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Chase every enquiry</a:t>
            </a:r>
          </a:p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Qualification risk sits with agent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BBB9EE-D60C-435C-942F-72C5446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4095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CD0D29-ACF1-4C8B-81D0-28605AFD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4095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CC0A32-E513-428A-87A9-1C88B4BF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528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 subscription logic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3967A9-7C82-420E-AC54-A691B422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304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Pay for readiness workflow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Compete on relevance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Engage when signal is strong</a:t>
            </a:r>
          </a:p>
          <a:p xmlns:a="http://schemas.openxmlformats.org/drawingml/2006/main">
            <a:pPr algn="l">
              <a:defRPr sz="1200" b="0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7111F"/>
                </a:solidFill>
                <a:latin typeface="Aptos"/>
                <a:ea typeface="Aptos"/>
                <a:cs typeface="Aptos"/>
              </a:rPr>
              <a:t>Qualification work moves upstream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17236A-9F2E-4DBF-99B8-6DEEE21C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24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Pilot pricing stays as RXXX / month until validation confirms the right package.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052975-534F-4993-A58B-3507E8F4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pricing and portal comparison copy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966876-DAB5-4986-B4C6-5168EF2C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714198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1FA6F-3690-493E-A302-0ACC3D55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613CC-15BC-41A4-8F36-6E237138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0EF7C-2D96-48A7-8207-242F6C45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406E4-77DE-4A03-9354-EACBAA7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CA064-B951-4BF0-BD32-D66F057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B51CC-1759-4803-A2B1-005C1ADF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2224-795B-408E-A1A3-5709069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8F720-24B3-4DC7-9E03-626273A7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C01F4-26FC-4C3B-A0E7-E8A4A4F9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85647-16AA-4FFA-81F6-BADB7D74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246BE-3B42-496B-BEEF-7AB1279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CA290-3751-4B1B-BB13-A5896F88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9033B-A373-430C-9ED4-4385C0C0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EB86A-63DC-4E85-B59C-7B705EFB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5797C-0005-4723-96C0-B2A86C4A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48C7A5-E9B6-4858-A1D3-423EB8E9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89C39-EE71-4D71-9A75-97BA4401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D6EE8-A46E-4A47-A3F7-DCC3A166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AA42B-67B5-4906-8458-DAA0DAF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A46F8-697C-48C6-A410-2B379065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458A7-E3C3-403B-A4F8-FC6C1A0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8277B-B6AF-4947-961B-75DDEC46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80F92-7FE6-4CB9-89A1-EE623E61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95AF6-18C8-4EDD-B7DE-9B7F7507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9DD029-74D0-420D-8A93-221E140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712BFD-3558-437D-ADAD-6D081FA6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DB833D-09BA-471B-99E8-0DC521C1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3B2E5-A486-4E63-A8FA-C048655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FBA0D-5571-44AD-BD6C-7E5586CA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3C54D2-09B1-47FD-8F34-7C97116B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B2AA98-107A-45FE-830A-0157487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B353ED-102E-410A-A16E-F81FE28A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8BC2B6-9206-4916-866D-76E4F88D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F1A9F2-84ED-42E0-B69B-194E675C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524342-45BB-40EF-AEC8-8F79F571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F2E607-E3E1-48A7-8688-E56BD254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8111A4-D91C-4B56-92D4-90ED4E5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187143-3E18-422C-A17A-DCB9DAB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3F0E63-BA8F-429A-846C-16C9FD5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3022EE0-4625-44CC-9B16-27C232B6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7B3508-64F1-42E0-BF98-4236D9B4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6EBD7-2A7D-45CA-AE4C-2F23086E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166EA5-D65D-45EA-8331-9006684B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72F5A5-4320-4381-B625-931713D8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106909D-A7BA-40BB-B26C-A3AC88E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4D2FB3-C0D2-47B9-A322-B41E9E8A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BB9043-F69E-4764-8F13-5DAA6525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AB79E8-9DEA-437E-B6B3-9D930648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826480B0-C732-442A-9CD4-CE963E3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251BFF9F-0B4C-4DFC-8559-13ED43AC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PILOT OFFER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D94DEF-16D2-4974-8032-52D428F4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 90-day agency pilot keeps the ask concrete.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9A2D8A-9AA1-4534-8261-DBF1F1F7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Start with a small, visible slice of the agency, then decide whether the hand-off quality justifies a broader rollout.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97D1C4-0DE7-4CD7-AF52-C9D22DDE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9325E2-4304-4EEA-B183-4B2CC5EF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336FDB-7010-4F9F-82CD-B945A5BE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D0CB7C-E261-4F68-BC6F-E62CF074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 branch, area, or team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Selected listings or campaigns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Clear lead ownership rules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FA10C61-D498-41EF-A231-F8EBE7F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95CE22-901A-4CAD-A9DA-FB18BBC1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CB22F7-4A94-4707-98EA-09797C99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71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Cadence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ACBD03-1009-4A0D-B30F-7E046B6E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Weekly quality review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feedback loop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Readiness threshold tuning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27FB7A-A2D0-4986-98B2-F0370283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27241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B420406-A1AF-4C91-B984-7D22595F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2724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5360C3-8A15-4F66-BF79-1A108E1E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718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E565A1-2AC7-424F-B6F6-F90C87AC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209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Lead-stage queue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Nurture workflow</a:t>
            </a:r>
          </a:p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Pilot readout and pricing recommendation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C2FC96-A2A1-415B-B453-2AD93286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946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F3C8F2-EE78-4434-A3B6-3A00DA3A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38800"/>
            <a:ext cx="800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principle: prove the hand-off with one focused team before asking the whole agency to change.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E632B62-549C-44EB-8CAC-DA39E537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1C20D4-20AA-4987-B2F7-A34EC84C1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81557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F04822-F725-4E52-8B2F-D317E0F6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1ADF1-5931-4AC3-B7B6-C0E7728D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E11BE-0A58-412B-AC4B-527C7127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04A1A-AB94-4B83-A55A-8B17C50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A2BF19-7094-4CA9-AF0E-3DB52F05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5E5AE-987A-486A-B580-F9DD4DED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458A86-A881-44E2-8F10-60C2E51E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21E33-4A58-4159-B8F1-714AF358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9D1D9-0B17-4444-99F4-8A47D0EA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1AD222-0B79-493D-835B-78677423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F8172-6166-4A8E-B6D1-5473D8A9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2F4C9-6F95-4076-8093-5D4D24E8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CB189-CC4A-49E0-B26B-DFB791DA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4A364A-88C1-4BB7-AA03-71C88C4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3DFD1-79E4-4881-8697-8AC4A915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3E471-E016-4770-8F09-F6FD08E9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870C3-DAEF-46D1-9619-92B2734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5739C-24D1-4943-904D-61497EAB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94A61-9DB2-4062-85A9-8B87E79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FF6D2D-67FD-45E0-8BBB-450A26D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3D9BD-F2BC-439E-8F44-B96989A23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D7758-CA59-4F7F-AEA5-4771485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AA62C5-F199-4FAE-85C2-599AC60D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1CDF5-FC9F-42E5-A148-8E4507A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270524-94D4-445C-AE46-C7BBD3A8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18B4A5-926C-4CFE-AD6C-3244B0A9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14562-3EDA-41DA-A792-6BE4DDAD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0D26D-4DBC-4A0A-9D3A-33219E16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E1D10-8326-4605-9A5D-12598F21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01F48-719C-4884-9999-C267C55E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D398F3-D090-4E29-BF17-3611636B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5E3FD1-EDFB-4011-AE34-E67697F3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F7204C-4CDF-45E9-AC92-4F9F6DA7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67F3C-C2CC-4480-8EF6-B4718AA0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9BB38C-38F9-4B4D-AAE7-90AB408A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9ADC4-9F1E-4A57-AE0D-DE38A84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ECFB93-E47C-42FF-99A4-D843A5C7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A8A868-DEC4-4854-B7C3-81B1B22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AFD9CF-6CBA-42C0-AF7D-5448CA18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49B04D-CC63-4B28-94C6-57CDA276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DEA53D-35DC-4C63-B01B-5ECD099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BF78D3-8AB8-4D0C-A41C-3B8C5573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83D632-69C6-4C52-B313-79C9C67A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495271-A9BD-44BA-841D-8D055B65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1111948-A0E3-489C-B1CA-361AF6C2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E63D22-7E3F-4075-AF2A-EF0A4F7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70FC3A-6311-4A3A-B602-C34ABEC8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88437F-8341-4363-B349-837B32B2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3B6E7EF9-1A3B-4CFF-86D4-EC135D95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6F8FA748-2274-4952-BD59-26C246A2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PILOT MEASUREMENT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5CBD94-B238-4BD2-8A04-07AEFDDF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191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Measure the quality of the hand-off, not just lead count.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1BF2B4F-64B1-402B-A736-42E38E0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pilot should create evidence the agency trusts: agent feedback, buyer response, readiness quality, and next-step progression.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83998C-129A-4D16-A47E-8453D989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F00628-2B14-4698-BADA-A5878CBE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592BDC-2766-492D-B832-7DBF6C5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Hand-off acceptance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A28C73-AA2E-42AB-84B4-FBB68449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Did agents agree the lead deserved action?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5C5D94-0086-4691-B44E-8C7D601D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2C6650-6383-4E13-83D5-8BA0E14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146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1A228C-1E9B-4223-ADCF-5F8A7DD4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24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First-call context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CEFC8F2-9433-4D09-A3E0-CE210615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099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Did the notes improve the conversation?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FF25CA-5E0E-4795-B42A-333E2309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97A986-78C8-4C98-9C86-3422D88A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5504DC-2467-41D3-A97C-910C3BC3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Buyer response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1A69865-82B2-4E37-B0DE-E58B4D6D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995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Did nurtured buyers continue engaging?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D0370C-CCCB-4363-842B-8EC2DFFF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0ABCACF-F20E-4495-8ADD-C62214C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529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8BE6199-0AA8-433C-B13E-E49B934D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Viewing progress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953616-B01D-4F95-899A-9C8FDC76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Did ready buyers move toward viewings?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B6DFB92-ED95-4873-8FDF-3893CEBB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5FDB2D-FAF6-4B03-9743-EA652BC1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529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8203E9-6639-4837-B55E-DE021F0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62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Agent time saved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FBC9281-2C79-4ADC-8CA5-21EEE23F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48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Where did automation remove manual follow-up?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76FA28C-2F7E-42E9-96B5-1A19686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2952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D6AF65-B53E-4317-9094-86AC90C7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529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E21CECA-2C98-48C5-BF6E-2D86F6B8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Pricing fit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1BAC461-C43A-4533-A5D0-885BE064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48200"/>
            <a:ext cx="2305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What subscription package matches actual value?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FB6E929-798A-4369-B2A9-BBB0AFD7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505120-C12A-47B0-B55E-39DCA685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431921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86A78-62E6-4653-A5A2-801472DC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323E0-679F-4DE2-9860-D50313AC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211B9-073F-4567-B206-A631EC1B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5EE17-F370-4785-BAF1-6DB5636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45967-FCF8-4C24-B5DF-E8EBFBAA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82B87-79C8-4221-954C-1A171BDB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F06C9-9282-465E-A421-C618C6D7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48F13-2DA4-4979-A8FE-63DEF376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CE89C-4C03-4794-B2A8-36E78BC4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3BAE6-2164-4AA9-BBF9-BDEA30BA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3BBD3-7AF5-4C1E-BE1C-8F3A2A0C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98BD7-815A-4B4D-966A-D20ED2B1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A0CC2D-0997-4874-B535-7D503992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0D71C-EE05-4414-BC09-8B370FBF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DBB9ED-9F15-423E-AFEA-FB69F21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D23C0-BAE5-46A2-87F8-A04BAA33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D1134-3E25-4B70-AE20-4787DD08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3D8B2-F1D1-4234-9B0A-A54C85DE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7EDFFE-5D4E-4EAB-9850-6D9444F6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BFBBF-6A21-4A47-8456-CD7718E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E1B39-120F-4BAE-AB49-6F0D6E78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A98E41-50BB-49F4-894E-899EFF02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4CEC4-549E-4066-9269-D9F3C54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AE9272-F465-4DE0-8534-3989895A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43967-398E-4AB3-B2DA-40408587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FC6961-3566-44EC-921B-26796CA8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9D6073-5F9D-4DCF-BF4E-540EF842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91B87B-5071-47E0-B750-17C49974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E832C-FB90-4046-AE1E-6DDA2B26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67FC6-B6A8-4C76-A54B-22FDECE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32053C-88D5-4F1F-B75B-10D2BCCD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89FFFE-6558-4FDE-93D5-E3934B69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DAFB0E-C0F0-4396-9DDB-F3EDA5D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FC2D7-52B9-4D2D-8E8B-CF760855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7E27C-91B0-45FF-865D-8B888CDB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DD2A6F-ADF4-4BAA-A742-34409C8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CE43CE-4C35-44A5-9EC1-B383CDF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34FF0B-EAD6-415E-A2EB-DB9781F4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E65F69-180F-4390-A48F-96B1F480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937DB6-F17E-49CC-956C-ADCF35F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EC6EFB-6DEC-440B-9BD0-1187C1C9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D6E094-9593-4521-ADF6-DC91A155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C23180-5844-4F14-BA11-B533270D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BD6641-4A37-4488-8E89-AC1579C3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DAA3F4-198D-4227-A83E-80B8D4E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95EBE7-CB82-4CD5-BE7F-A192DBA4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3F0819-3F9F-41F3-81AF-26A7842D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ED66D4-1C1C-4542-A1FC-2638399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984A853B-C868-4567-AB08-9B77C9ED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85A65C50-8432-4AD0-B555-32A75DEA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IMPLEMENTATION PLAN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7BE2BF-0383-45C2-AE45-5A662835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 simple 30 / 60 / 90 rollout gives the agency control.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F13BE2-BE3B-4A3F-AB2A-7295CA63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pilot should start with setup discipline, then qualify buyers, then validate the model before scaling.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8BEBCB-76CF-46AF-851F-EFD5F21D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47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0A7E13-2A9E-484A-90EB-DDE17165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9C1AEC-07D8-4D46-B9D9-14405E47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Days 1-30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85692D-A5C2-4D4B-8425-37EBCE39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01F34F4-DE42-4A03-8461-EE6EE87B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Pick area and listings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Define readiness fields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Agree hand-off threshold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85BB59-A04B-4980-B274-24C0173A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647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4ADE7CE-D195-4947-916D-1CED6020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FCC841B-B053-46CF-A4F1-94540842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Days 31-60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C915FC-90BC-43ED-847B-94B4B3BE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Qualify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59D5FB-D832-4710-BB47-247DC6B6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 capture and scoring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Nurture early buyers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 agent feedback weekly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EE6347-2192-41AB-B1E8-5668808D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26479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A874735-45A9-4636-B389-8F13039A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908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8D28C6-3E71-4A6F-A46D-114544E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Days 61-90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4E004D5-FB33-4122-A225-9B72F0FC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623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A7C116-BF05-4EE0-BC85-702C4A43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14800"/>
            <a:ext cx="2038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 lead-stage quality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 call outcomes</a:t>
            </a:r>
          </a:p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Decide price and rollout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68BA0C7-F095-48C3-BA98-5588C7DA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DF20049-62F7-4338-9C08-6CE0AFBB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768741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3D2309-F26B-4952-89C4-F66DAD6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5B1AA-D371-4912-9DCC-C94D716C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67978-5F96-470A-833A-92986587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D3CFFB-CB68-42DD-92D3-E685D82A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003D5-F55E-4633-B534-A35A506D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5423-B21A-47DA-A233-79B4BD0D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D8850-D0D8-4CC8-B410-6E5B765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4B258-AA76-4E6E-A227-A96E8A9D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5B35-68DE-487E-B665-3C6E9FE8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F07A8-1214-4AD3-95DF-95150398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03F6D-D102-466A-84F4-AFA5F79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57D55-6F36-4766-A200-C534177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10C96-18CA-43ED-BB7A-F1EF1AE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76D19E-0F13-4165-AB5D-59CE478D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8BC07-BD1B-436E-8BE6-DAECE039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F7844-C8AE-4BBA-A6B5-535A8A0C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8704C0-A35E-4A1E-A7FA-A4E3365F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A189D9-61C0-412D-A2FF-275C6DF4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6D228-CC19-4F16-B1CE-B3B9E60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5EEBA-1E83-459A-A960-5E6F343E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F3E8F-3868-4A95-8C9E-03BF7DAC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7A047-BB24-4C2C-9F5A-C9CCF898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F5435D-9808-41EB-953B-4ACA9571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49B5ED-DA10-4A6B-9020-4882AC25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D6C543-DDC2-4668-AFBB-4BEF6D2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948C3-2DC2-4A42-84D4-59EF302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BB818B-73F3-422E-8AD7-C2F4FE26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3E7514-4BF7-4C77-9079-03B67DD4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98C8B2-9A7F-4B1E-AE6A-30DAD55C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EB3765-D155-4233-B0A7-8EEC5B0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E415F9-AFE1-48AC-8E6D-DD50F209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91283D-21D9-4E79-9C20-448A38E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B23C49-E263-456F-A679-0BD15C5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FA89D9-54A7-4623-B558-6A541B1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F0787-DDBF-40BF-A5B4-29B705E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581CE5-BD5B-44F3-8661-80DA6D87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D0327F-83A7-44EF-9C33-AA96E299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7B35A5-C1B5-433B-B148-9138219C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DB802E-0BC8-4F51-A69F-56BD0DB4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E0D958-2723-4820-A9D5-1DF609CB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3BABC-5A32-4CE8-8FC5-4A067534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5417A-530F-439A-830D-2DDD4776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DDD961-E18C-4619-BB42-09F24CD3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36C36-21F5-4DA5-A988-89697ED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9B7A8F-BDFD-4EFC-89F5-8C137CA1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1D9025-BE58-40F2-802B-0F4057E7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69B797-05F1-4B38-A611-9A1EF29B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16C779-E45D-402C-8BCF-559189E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84798ECA-3B7D-4B15-8CC2-C559ACED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6136F9BA-C373-4257-9FD0-26F4AF9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OBJECTION APPENDIX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212E01-0AD7-4A3F-B599-A63A5EA1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Answer concerns before they become blockers.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3D0E15-A5FB-425B-9117-4EB605F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this as a backup slide or keep it in the main flow for more skeptical rooms.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BDA019D-E1C0-48C6-A6B4-8042BB14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214FDF-0B62-4491-B655-167FB98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7E222E-323B-44D2-AFE3-4CDC3B48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How is this different from portals?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2B174A-85E5-406C-9598-49F92B67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Portals create exposure. HeyMies creates readiness before the agent call.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BC8A23-939C-4F38-B519-FF61A699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C3DC81-B06D-4244-85D9-53FD1FAE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622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4C361B-AA35-49BA-BEF2-D8E3CC4D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Does this replace our CRM?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9F7AC5B-E3A1-4B4E-9D3A-5F85715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04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No. It prepares and routes buyer context; CRM ownership can stay with the agency.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954EEA-558B-492C-A200-7D764FC1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2D4762-66B0-4FB3-AC6F-1FD5702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88E4E79-16E0-41C7-A374-988C5709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Will this replace agents?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6E14E7-9503-4D45-A7D2-5243679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No. It protects agent time so humans focus on selling and relationship work.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6D879B-0199-4325-A600-59B57209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B9C2F8-CEBC-4B8F-A0E4-553ACD8B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71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6CBF27-529B-4F77-A4BE-6135F59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Who owns the lead?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26E20A-0B5A-4862-86C9-A99C6445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1005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pilot should define routing, visibility, and follow-up rules before launch.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EF66A46-F844-48BE-9F92-30B03A93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8FF944-D0C1-4CD0-B9E7-D8BE4823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8448CB1-948C-4DC1-A443-B2CEDBF6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How do we trust the score?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86A8C24-833C-46A5-BE11-B2E29D77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Start transparent, review feedback weekly, and tune the threshold.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A1B631-C0F5-48AA-8C33-C52D510D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1550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FF9948-5EFD-44CC-B519-B25B076A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1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F006F5-37AE-4EAD-B318-5CA30877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9530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What is the price?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34DCFB6-3712-42C9-A753-21612108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19700"/>
            <a:ext cx="3810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Agent pricing is monthly, with final pricing confirmed after pilot validation.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2B05046-5A87-4F4F-B29F-DEC07511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18FCB3-E514-4793-9674-607336B8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743609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8FC2D-26DB-47FF-A6EF-15BD7E66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F1A27-2C99-4AC7-8C40-7AD7B4A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9AF04-4556-4747-BA94-EE0C6AEF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68F3E-C81C-4631-ADE9-51A548AB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DBDDB-89EE-4B9A-A9F8-BF84FBA0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CDB6D-5823-418E-BF0E-FCA5394C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A0771-C6AE-40F4-988B-3ECB31EB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370EE-A8B5-40D6-B54E-3611F21E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FD7C1-6A07-40E0-91EF-E47C645E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72FE5-91BF-4521-9472-111520E0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DB111-B4EF-442B-A920-0EB9594C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877D9-19E5-42CF-8F49-914D38F8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C5002-245C-410D-B46A-858F78FD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06527-BA90-4D67-9DBA-03DE02C9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3A899-24F2-4402-A10F-948D26C6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5A58A-2721-4810-A096-81773DF8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D85C7F-E2F4-455E-BB3D-15768CD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6BB9C-9E58-4740-BC33-1595765F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2D366-74B6-41B4-B1E9-A3395900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5F381D-AD9D-4E45-B199-AD79A130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EDB9F-455B-4E56-83E5-2FB3F1D8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AB657-8530-48F7-9A48-6A96FD5F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B6B69A-2C96-48D9-AE88-F2287E2E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C8B149-839B-4B48-8CAB-2283774F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C11114-13C7-45B6-A3F1-4AAA075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21486-6498-4A22-933E-B0E6EFD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FAD13-A90B-4B81-966C-312C90AB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8B8873-AD1B-47EA-A666-FC458FA8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8363C-B1AE-4479-8732-D780B040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B7A90-EF58-4A96-A13C-E725FF2C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059DC7-5A5D-4E9D-A466-08B0D2C9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6ADE93-ACCF-4143-8FB8-8B766576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EE2774-0DD8-43B3-8722-C7E6870D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D5434-FFA1-4C20-9462-A77B499E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79CD7D-A142-43A1-9662-C633EE2F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807629-3E93-4BCC-B629-0FDAFB53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334274-5AF1-4D2E-B4B2-4C4B2802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5E8F5F-6158-49A1-8F56-48F52644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5325BB-50F9-4910-A96D-579DFD7A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95301F-C6EC-4651-A9D4-63D5BEB0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7859A5-944B-46A6-BBED-6950220E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0C3F51-B9EC-41DC-991F-3EDCF80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FF236C-A44F-4060-9963-0D5A8A7D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BBDEE3-DE37-430C-BF01-0F6A878D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EE267C-87F4-40C3-A12B-3136B061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E81492-8A6F-42B7-AF65-0B37354F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E9261D-A275-4E43-A665-43BF53DD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8523D-6837-4670-A69A-82CAA0C1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9C13F3E7-1422-4925-BC40-B93B425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4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07BB6275-9728-4116-AE3E-32BD2477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"/>
            <a:ext cx="476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64E3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64E3B"/>
                </a:solidFill>
                <a:latin typeface="Aptos"/>
                <a:ea typeface="Aptos"/>
                <a:cs typeface="Aptos"/>
              </a:rPr>
              <a:t>PARTNER FIT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971107-A9CD-4E4D-B383-AC82BDD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096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7111F"/>
                </a:solidFill>
                <a:latin typeface="Aptos Display"/>
                <a:ea typeface="Aptos Display"/>
                <a:cs typeface="Aptos Display"/>
              </a:rPr>
              <a:t>Best-fit agencies can shape the category early.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F38814-D9AF-4CA5-8CA9-C9500217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ideal pilot partner wants better conversations, cleaner process, and a repeatable standard across a focused area or team.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34A447C-2CC6-4FE9-B510-9FACEC7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286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F9AAF7-A576-42A6-BE4E-4C142E0E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C48A66-F1D9-4E50-8B9F-22D2DBC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Best-fit agency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9486F1-183A-4E82-AEC0-473163D7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5BC237-22A9-4791-BA57-609B0D42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Area focus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8DDE56-D7B5-42D4-9312-28B5BE3D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48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clear suburb, city, or segment.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A9525A-0503-4A01-A0D6-DFDF0E4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6081C2-4690-4E63-B473-1F9A9009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Team rhythm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BC5C03F-FF17-453D-AD4E-4630AEBE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4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Agents willing to work from a readiness queue.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1F144A-68FB-4E11-AE08-BF26CE92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7EC2F6-75EA-4B5D-80F5-73F344A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559473-4C80-4D5A-BCA0-EA051BF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48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Regular notes on lead quality and objections.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EF83828-7EED-4A5D-AC2B-65DA6E02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4286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D7E4E7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B9425A8-AAD7-408F-8FA4-5E4616DA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EB153EC-07BD-443C-BC81-D59C2D60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Pilot contract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372B2C1-9028-4E7F-AE16-CAD48F2A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824E0E-29F5-4914-948F-F72F8787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HeyMies provides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D96FAA-7F1D-4175-8595-935A6D5A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48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Readiness workflow and dashboard.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D3A4043-B6BE-47EE-A5F7-A1ECF851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BDCBBA-C806-446A-9BCB-AFF1AC1E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Agency provides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7FAFE0-D692-4B8F-94D3-0C74290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4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Listings, feedback, and sales follow-through.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C29B72-7C5E-4CA6-AF23-0BC8F668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5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4F603F2-A4E6-4705-88A1-26DB65A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482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Shared outcome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EB7F8BF-897C-4807-B651-7071989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482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trusted hand-off standard.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EA75CA1-2C7B-4C45-A4FC-9901402D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HeyMies website and product repo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1B9F5BC-E820-4E6A-BA3A-578387B8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2264493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3EB07E-53B9-458D-AA7C-E4CA5117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BBE19-D0CF-4C38-9A7A-2A7F224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25099-F9FF-46A7-867E-C90C8350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9FBAC-2D34-43F6-BEEB-8EAF194A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3E0160-1444-4863-B589-0804FE31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63455-C5D6-48DC-BA1C-0AE33A3B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65872-03C3-43B7-B891-697132B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CBE46-626F-4CFA-903B-892B60FB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575D6-27AA-4DBA-B36E-F9223CB8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D4895-9B36-44C7-8407-150DE46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4AFB-7768-4286-83CF-68679920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41C03-BA26-482D-A802-64D690EB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E73FB-D7F7-439D-AED5-9A9E1E78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EBB8C-44CD-4375-8C06-87733D59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A95DC-622B-44AE-AED8-3AE05F0A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92E29-DBA6-48FA-9A5A-CB3692EE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28905-769B-4A3C-AF10-549D4B12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5508F6-A222-47B8-A4B1-9EA6DAEC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E414E-0086-4AFD-ADC8-77DA135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B1447-C6ED-403D-A960-2A1F46FD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43CD75-D528-45C1-9834-3370B85A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A41B82-44B0-4810-AD4E-F86A2FC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C52C4-AF2F-49AB-A761-85031615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3AAF51-F502-47DA-85BB-E68C8473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5705D3-6EE6-4209-B767-CF492BE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18CC39-6736-4DEF-B598-D1743959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BE3307-7877-474B-B5A5-534E06A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7F8072-AD15-4C90-B2DA-138EF22C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7B1DA8-4FDC-4DFD-A6A7-ED47FD4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42CB05-E8C4-47F9-8BBD-A20E4C1A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D32F9-0881-430D-A113-14C65301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8A7EB4-956B-43FF-849D-3D4BCD1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1DB843-FB65-4E78-8BA9-507953E8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790CCF-ED65-461C-A77F-DC02F9B6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8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D96EFB-57F9-4DBB-A934-9CC9210E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57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6CF9C1-038C-40A9-8AFA-0E34AC5B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7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F4402F-7CE0-4273-9C8C-3E259EF5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95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07C87C-7F43-4CC0-AD57-2C846F0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14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9D3544-8D6F-494C-AA3D-438ECB6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516CF-38ED-4181-AABB-AB8F57CF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6E5388-5E12-4BFB-AEE6-75552C28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19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7AA28-5C6F-4286-8042-1CBA664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A49BD8-4C4A-476B-A005-0A90DC50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10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14ABC9-ADC9-4755-8C5E-EF1F98F6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2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14A991-814F-46BE-9FDE-BB2CC4AF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483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F4878F-7051-444D-AB3E-7B97A73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67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E48A34-BFCA-48F6-97B4-EEE8A76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1F38CF-E685-4D7A-AEA4-30C97B6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247461B-9F7C-4399-B099-BE15E31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447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8b7b7ce0b493c"/>
          <a:stretch xmlns:a="http://schemas.openxmlformats.org/drawingml/2006/main"/>
        </p:blipFill>
        <p:spPr>
          <a:xfrm xmlns:a="http://schemas.openxmlformats.org/drawingml/2006/main">
            <a:off x="819150" y="8763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767F55-E58B-405A-B9EA-B321E237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Let HeyMies do the chasing. Let agents do the closing.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038BCD-E3D8-4032-AC33-8602E187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619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28575" rIns="0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Next step: run a pilot workshop to choose the area, define readiness fields, and agree the hand-off threshold.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646165-C586-4885-B552-93F3F57A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3143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E2A"/>
          </a:solidFill>
          <a:ln xmlns:a="http://schemas.openxmlformats.org/drawingml/2006/main" w="9525">
            <a:solidFill>
              <a:srgbClr val="2552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E76EB8-1E37-4641-8899-4F7A2262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Workshop agenda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3BA99B-63F1-41E8-8F56-E0616D2E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764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9ACDA23-BC52-44A4-AB5D-B479E2DD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95525"/>
            <a:ext cx="161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BF6A24-AC56-4C7F-9716-9CE0AE4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479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Confirm target area or branch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489B5FA-0659-4365-9CA5-877A4AD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765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DF28A2-9F92-42CF-A11A-72ECF3E5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95575"/>
            <a:ext cx="161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176BAC-4841-4C42-ACD1-A9615DF2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Choose listings and sources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0288D6-5394-43A6-9FC3-5D189C30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765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DD2863-0A47-4795-A9A7-3208264A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95625"/>
            <a:ext cx="161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443DE2-8A5C-4419-8F5F-17D01B9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Define readiness fields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F6AB5E-3C8B-4EAE-8C87-DFBC060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6C33F4-54F9-40A8-8A45-9538A60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95675"/>
            <a:ext cx="161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8DDC5C-2A2C-42E3-AD49-0CEA174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480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Agree ownership and hand-off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923AD2-3BB7-4A61-B2E9-BDF14607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76675"/>
            <a:ext cx="1619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026FB5-4AC2-42E9-A29F-D8DAD07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95725"/>
            <a:ext cx="1619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AE386B-44AC-4768-9D1C-9A1D1FE4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Set weekly review rhythm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ACD18B-3580-4407-97AC-6735167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6317DFD-CB55-4B7A-9B9F-E440223F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62575"/>
            <a:ext cx="1924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11F"/>
                </a:solidFill>
                <a:latin typeface="Aptos"/>
                <a:ea typeface="Aptos"/>
                <a:cs typeface="Aptos"/>
              </a:rPr>
              <a:t>Start the pilot workshop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87C9A8-BA2F-447B-A278-261C220A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Website / email / phone to be added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06C197-F372-4944-887C-B01C6A91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76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1FAE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1FAE5"/>
                </a:solidFill>
                <a:latin typeface="Aptos"/>
                <a:ea typeface="Aptos"/>
                <a:cs typeface="Aptos"/>
              </a:rPr>
              <a:t>Smart. Simple. Sorted.</a:t>
            </a:r>
          </a:p>
        </p:txBody>
      </p:sp>
    </p:spTree>
    <p:extLst>
      <p:ext uri="{BB962C8B-B14F-4D97-AF65-F5344CB8AC3E}">
        <p14:creationId xmlns:p14="http://schemas.microsoft.com/office/powerpoint/2010/main" val="1082304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2026-05-24T12:43:52.4490000Z</dcterms:created>
  <dcterms:modified xsi:type="dcterms:W3CDTF">2026-05-24T12:43:52.4490000Z</dcterms:modified>
</coreProperties>
</file>