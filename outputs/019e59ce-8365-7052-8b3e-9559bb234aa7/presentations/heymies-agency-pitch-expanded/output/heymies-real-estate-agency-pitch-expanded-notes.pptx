
<file path=[Content_Types].xml><?xml version="1.0" encoding="utf-8"?>
<Types xmlns="http://schemas.openxmlformats.org/package/2006/content-types">
  <Default Extension="bin" ContentType="application/octet-stream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9840" autoAdjust="0"/>
  </p:normalViewPr>
  <p:slideViewPr>
    <p:cSldViewPr snapToGrid="0">
      <p:cViewPr varScale="1">
        <p:scale>
          <a:sx n="93" d="100"/>
          <a:sy n="93" d="100"/>
        </p:scale>
        <p:origin x="12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brand and the one-sentence promise. HeyMies is not another portal and not a replacement for agents. It is the layer that prepares the buyer before the agent spends time on the conversation.</a:t>
            </a:r>
          </a:p>
          <a:p>
            <a:endParaRPr/>
          </a:p>
          <a:p>
            <a:r>
              <a:t>Say: "Your agents are good at selling. HeyMies helps make sure the first call is worth their time."</a:t>
            </a:r>
          </a:p>
          <a:p>
            <a:endParaRPr/>
          </a:p>
          <a:p>
            <a:r>
              <a:t>Transition: "Here is the whole pitch in one page before we unpack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executive shortcut. If a principal only remembers four ideas, make them these: the problem is qualification drag, the solution is readiness, the agency value is better conversations, and the ask is a contained pilot.</a:t>
            </a:r>
          </a:p>
          <a:p>
            <a:endParaRPr/>
          </a:p>
          <a:p>
            <a:r>
              <a:t>Do not over-explain yet. This slide earns permission to go deeper.</a:t>
            </a:r>
          </a:p>
          <a:p>
            <a:endParaRPr/>
          </a:p>
          <a:p>
            <a:r>
              <a:t>Transition: "Why is this worth solving now?"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creates urgency without inventing market statistics. Keep it observational and practical.</a:t>
            </a:r>
          </a:p>
          <a:p>
            <a:endParaRPr/>
          </a:p>
          <a:p>
            <a:r>
              <a:t>Say: "The issue is not that agencies lack leads. The issue is that buyer readiness is uneven, and teams need a consistent way to decide which conversations deserve agent time now."</a:t>
            </a:r>
          </a:p>
          <a:p>
            <a:endParaRPr/>
          </a:p>
          <a:p>
            <a:r>
              <a:t>Transition: "That brings us to where the current model leaks."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attack portals. Acknowledge that exposure is valuable. Then explain that exposure alone does not create readiness.</a:t>
            </a:r>
          </a:p>
          <a:p>
            <a:endParaRPr/>
          </a:p>
          <a:p>
            <a:r>
              <a:t>The expensive part is the middle: agents qualifying people who are early, unclear, or not financially prepared.</a:t>
            </a:r>
          </a:p>
          <a:p>
            <a:endParaRPr/>
          </a:p>
          <a:p>
            <a:r>
              <a:t>Transition: "HeyMies solves this by turning the middle into a product workflow."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your plain-language product demo. The agency does not need every technical detail. They need to see the buyer moving from raw enquiry to a prepared hand-off.</a:t>
            </a:r>
          </a:p>
          <a:p>
            <a:endParaRPr/>
          </a:p>
          <a:p>
            <a:r>
              <a:t>Say: "The buyer does not disappear into a black box. The system is collecting the exact context your agents usually have to chase for."</a:t>
            </a:r>
          </a:p>
          <a:p>
            <a:endParaRPr/>
          </a:p>
          <a:p>
            <a:r>
              <a:t>Transition: "Behind that demo is the readiness layer."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reassures the agency that HeyMies fits into their existing world. Sources come in from places they already understand. HeyMies handles readiness. Agents still do the relationship and sale.</a:t>
            </a:r>
          </a:p>
          <a:p>
            <a:endParaRPr/>
          </a:p>
          <a:p>
            <a:r>
              <a:t>Transition: "The most important part of the layer is the scoring model."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overclaim the score. Explain it as a practical readiness score made from useful buyer signals.</a:t>
            </a:r>
          </a:p>
          <a:p>
            <a:endParaRPr/>
          </a:p>
          <a:p>
            <a:r>
              <a:t>Key line: "Not ready does not mean bad. It means the buyer should stay in nurture until the timing, finance, or fit is strong enough for agent action."</a:t>
            </a:r>
          </a:p>
          <a:p>
            <a:endParaRPr/>
          </a:p>
          <a:p>
            <a:r>
              <a:t>Transition: "That nurture step is a big part of the value."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handles the concern that automation will depersonalize the sale. It should sound like protecting agents, not replacing them.</a:t>
            </a:r>
          </a:p>
          <a:p>
            <a:endParaRPr/>
          </a:p>
          <a:p>
            <a:r>
              <a:t>Say: "HeyMies keeps early buyers warm so agents do not have to manually chase every half-ready enquiry."</a:t>
            </a:r>
          </a:p>
          <a:p>
            <a:endParaRPr/>
          </a:p>
          <a:p>
            <a:r>
              <a:t>Transition: "When a buyer is ready, the agent needs a simple action surface."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practical payoff. A normal inbox says someone filled in a form. HeyMies says this buyer is ready enough for this action, and here is why.</a:t>
            </a:r>
          </a:p>
          <a:p>
            <a:endParaRPr/>
          </a:p>
          <a:p>
            <a:r>
              <a:t>Transition: "This changes the agent workflow."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adoption feel manageable. The buyer still enquires. HeyMies automates the middle. The agent still sells.</a:t>
            </a:r>
          </a:p>
          <a:p>
            <a:endParaRPr/>
          </a:p>
          <a:p>
            <a:r>
              <a:t>The key design decision is the hand-off threshold. Different agencies may choose different thresholds by area, price band, or property type.</a:t>
            </a:r>
          </a:p>
          <a:p>
            <a:endParaRPr/>
          </a:p>
          <a:p>
            <a:r>
              <a:t>Transition: "So what does the agency actually gain?"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intentionally outcome-led, not metric-led. You do not need fake numbers to make the value clear.</a:t>
            </a:r>
          </a:p>
          <a:p>
            <a:endParaRPr/>
          </a:p>
          <a:p>
            <a:r>
              <a:t>Say: "These are the outcomes we want the pilot to prove in your environment."</a:t>
            </a:r>
          </a:p>
          <a:p>
            <a:endParaRPr/>
          </a:p>
          <a:p>
            <a:r>
              <a:t>Transition: "Commercially, this shifts the buying logic away from impressions."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transparent: final pricing is not confirmed. That is acceptable because this is a pilot conversation.</a:t>
            </a:r>
          </a:p>
          <a:p>
            <a:endParaRPr/>
          </a:p>
          <a:p>
            <a:r>
              <a:t>Suggested line: "We do not want to price a black box. We want to validate the hand-off standard first, then price around actual workflow value."</a:t>
            </a:r>
          </a:p>
          <a:p>
            <a:endParaRPr/>
          </a:p>
          <a:p>
            <a:r>
              <a:t>Transition: "Here is the pilot offer."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one of the most important added slides. It makes the next step concrete and low-risk.</a:t>
            </a:r>
          </a:p>
          <a:p>
            <a:endParaRPr/>
          </a:p>
          <a:p>
            <a:r>
              <a:t>Frame the pilot as a contained experiment: one branch, area, or team; selected listings; weekly review; clear readout.</a:t>
            </a:r>
          </a:p>
          <a:p>
            <a:endParaRPr/>
          </a:p>
          <a:p>
            <a:r>
              <a:t>Transition: "A good pilot needs a measurement frame."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keeps the pitch honest. Without validated case-study metrics, the pilot must create the evidence.</a:t>
            </a:r>
          </a:p>
          <a:p>
            <a:endParaRPr/>
          </a:p>
          <a:p>
            <a:r>
              <a:t>Say: "We are not asking you to trust a generic benchmark. We are asking to test whether readiness improves the hand-off in your agency."</a:t>
            </a:r>
          </a:p>
          <a:p>
            <a:endParaRPr/>
          </a:p>
          <a:p>
            <a:r>
              <a:t>Transition: "Here is how implementation could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operational timeline. Keep it calm and practical.</a:t>
            </a:r>
          </a:p>
          <a:p>
            <a:endParaRPr/>
          </a:p>
          <a:p>
            <a:r>
              <a:t>Setup is about agreement. Qualify is about learning. Validate is about evidence and rollout decision.</a:t>
            </a:r>
          </a:p>
          <a:p>
            <a:endParaRPr/>
          </a:p>
          <a:p>
            <a:r>
              <a:t>Transition: "Now let us handle the predictable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designed as optional appendix material. You can present it if the room is cautious, or keep it ready for Q&amp;A.</a:t>
            </a:r>
          </a:p>
          <a:p>
            <a:endParaRPr/>
          </a:p>
          <a:p>
            <a:r>
              <a:t>The point is to sound transparent, not defensive.</a:t>
            </a:r>
          </a:p>
          <a:p>
            <a:endParaRPr/>
          </a:p>
          <a:p>
            <a:r>
              <a:t>Transition: "The best pilot partners have a few traits in common."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qualifies the opportunity. It is okay if not every agency is a perfect first partner.</a:t>
            </a:r>
          </a:p>
          <a:p>
            <a:endParaRPr/>
          </a:p>
          <a:p>
            <a:r>
              <a:t>A strong pilot partner has a defined area, team discipline, and willingness to give feedback.</a:t>
            </a:r>
          </a:p>
          <a:p>
            <a:endParaRPr/>
          </a:p>
          <a:p>
            <a:r>
              <a:t>Transition: "Close with the workshop ask."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with a clear ask: a pilot workshop. Do not ask for a broad rollout yet.</a:t>
            </a:r>
          </a:p>
          <a:p>
            <a:endParaRPr/>
          </a:p>
          <a:p>
            <a:r>
              <a:t>Say: "If we can prove that agents spend less time chasing and more time speaking to ready buyers, then the subscription conversation becomes much easier."</a:t>
            </a:r>
          </a:p>
          <a:p>
            <a:endParaRPr/>
          </a:p>
          <a:p>
            <a:r>
              <a:t>Add real contact details before presenting externally.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E2BBF589-62D3-4D9F-8A1D-89D2EE9F493D}"/>
              </a:ext>
            </a:extLst>
          </p:cNvPr>
          <p:cNvSpPr>
            <a:spLocks noGrp="1"/>
          </p:cNvSpPr>
          <p:nvPr/>
        </p:nvSpPr>
        <p:spPr>
          <a:xfrm>
            <a:off x="0" y="8626"/>
            <a:ext cx="12192000" cy="6858000"/>
          </a:xfrm>
          <a:prstGeom prst="rect">
            <a:avLst/>
          </a:prstGeom>
          <a:solidFill>
            <a:srgbClr val="06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0515DE-48E1-43D4-A788-04284EFF8B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C26B90-B534-4937-9B40-47AD18DA07EE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86CCAE-6860-4059-94F2-8D86D2690AF1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0500D5-70C8-4B7E-BCC9-50E976870EE6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A76E1-00B0-45A8-A549-356FB40A2383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B30779-C08E-4285-A0E1-E1C42D9BF1AB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34BBC7-1518-4DCB-9C2A-B12FA8438D1D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D86F73-7255-405A-944C-E50ECF9384EF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F6BFBE-F3D3-4320-A9A7-A304FC359307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B04038-7642-4D54-9E26-AE7056266A77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9A464B-0844-4E3A-AE88-6F5FC18478F4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663959-8055-4C72-AE07-1E1E851B857C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48D51B-FC4C-4DAC-91C3-02C28CC4EA9D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C717CD-E842-409C-B69D-7C3EB80E6FD0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E6D66E-5841-4A0B-992C-8F4A6B1176FA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1E8807-38FA-4897-B86A-B8DFCAEF5E73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F0EBE2-7C04-4C25-B900-F0591FDEAB14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2EFD64-67AB-489D-B537-2E7C37B78995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D55C06-58A7-47D6-80D2-64F657405658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F2103E-E006-4ED5-95F4-33899D6E86FF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778862-6974-4430-A7D8-A299C1325F58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E16D43-81EF-427D-B248-2EF9AAC71E1A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AC5616-942D-43D5-AFB1-EE5413CE8E77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8BC0E2-E95F-4A8D-9561-26953F44F40A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A407C2A-31F5-40EF-B020-AECE30FED0C5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9C50D9-E92A-4415-B7B0-D7DA5B5A1D94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36D9E6-08EE-45BF-A464-966F2E3CF6BE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A9F19A-C0C4-4923-904C-0FF168FD397C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48BBAF2-8129-46A8-9E10-DFE28EAB0139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6E901C-9222-4851-8C54-C814CA93C815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484DD8B-B638-4567-A209-75F11DFDD1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1C0597-DD49-4561-BAAE-D479AC3D64BD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5BB7C37-3B5E-4A95-AEC9-0F19D0B8D748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F526A3-2EA4-4E6C-9FD9-38DB86218FAD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40A4E95-6DA4-4C53-A56C-9F446C5A256E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FC500FE-42FF-409D-BA83-D79AC84BEB24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67AC47B-B7D4-441D-A574-D249BBF327A6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A72133-ED97-4362-9EC5-86304AFC5E4A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36B807-E201-4018-B08A-39ED336EB778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8F7412D-3E90-4749-9F78-B9C01696CC33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69DDDCC-3CE0-4A88-9E4E-E9EEEC1ED3B0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B0361EA-5A3A-47FC-845A-534F623CBE99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664CE26-00C3-40D2-A9DF-770425ECFECF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C033690-006B-46E8-9323-C325E03EB4C2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643FEC4-4813-47C6-95D7-52C9157A152E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48C657-DC6B-4230-B82A-3269E9F3E133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2076402-BCA7-45BF-9431-57E5D2BE84C0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C429F0D-1EB0-4D91-ABAE-524112261B9A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2381250" cy="23812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" y="952500"/>
            <a:ext cx="2038350" cy="203835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878A823-F077-46ED-9088-788798A3B755}"/>
              </a:ext>
            </a:extLst>
          </p:cNvPr>
          <p:cNvSpPr>
            <a:spLocks noGrp="1"/>
          </p:cNvSpPr>
          <p:nvPr/>
        </p:nvSpPr>
        <p:spPr>
          <a:xfrm>
            <a:off x="685800" y="3524250"/>
            <a:ext cx="70485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Intelligent lead automation for modern real estate teams.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83D7A3-F983-4797-8A3C-AB68AF828A65}"/>
              </a:ext>
            </a:extLst>
          </p:cNvPr>
          <p:cNvSpPr>
            <a:spLocks noGrp="1"/>
          </p:cNvSpPr>
          <p:nvPr/>
        </p:nvSpPr>
        <p:spPr>
          <a:xfrm>
            <a:off x="723900" y="4895850"/>
            <a:ext cx="6096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Helping agencies spend less time chasing and more time speaking to ready buyers.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2872A1-FA93-462C-960E-09F33724A93E}"/>
              </a:ext>
            </a:extLst>
          </p:cNvPr>
          <p:cNvSpPr>
            <a:spLocks noGrp="1"/>
          </p:cNvSpPr>
          <p:nvPr/>
        </p:nvSpPr>
        <p:spPr>
          <a:xfrm>
            <a:off x="7905750" y="1238250"/>
            <a:ext cx="3048000" cy="3429000"/>
          </a:xfrm>
          <a:prstGeom prst="rect">
            <a:avLst/>
          </a:prstGeom>
          <a:solidFill>
            <a:srgbClr val="0B1E2A"/>
          </a:solidFill>
          <a:ln w="9525">
            <a:solidFill>
              <a:srgbClr val="25526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E747CBC-4D3A-46CD-A774-429AB5D6540D}"/>
              </a:ext>
            </a:extLst>
          </p:cNvPr>
          <p:cNvSpPr>
            <a:spLocks noGrp="1"/>
          </p:cNvSpPr>
          <p:nvPr/>
        </p:nvSpPr>
        <p:spPr>
          <a:xfrm>
            <a:off x="8267700" y="1676400"/>
            <a:ext cx="2324100" cy="400050"/>
          </a:xfrm>
          <a:prstGeom prst="rect">
            <a:avLst/>
          </a:prstGeom>
          <a:solidFill>
            <a:srgbClr val="102938"/>
          </a:solidFill>
          <a:ln w="9525">
            <a:solidFill>
              <a:srgbClr val="21465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0F879C-BE74-456A-958D-872662843A85}"/>
              </a:ext>
            </a:extLst>
          </p:cNvPr>
          <p:cNvSpPr>
            <a:spLocks noGrp="1"/>
          </p:cNvSpPr>
          <p:nvPr/>
        </p:nvSpPr>
        <p:spPr>
          <a:xfrm>
            <a:off x="8267700" y="1676400"/>
            <a:ext cx="47625" cy="400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7369876-B081-4D8A-8530-D7ABE0D26CD5}"/>
              </a:ext>
            </a:extLst>
          </p:cNvPr>
          <p:cNvSpPr>
            <a:spLocks noGrp="1"/>
          </p:cNvSpPr>
          <p:nvPr/>
        </p:nvSpPr>
        <p:spPr>
          <a:xfrm>
            <a:off x="8477250" y="17811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C00255-A803-4E05-A292-6650723C7C53}"/>
              </a:ext>
            </a:extLst>
          </p:cNvPr>
          <p:cNvSpPr>
            <a:spLocks noGrp="1"/>
          </p:cNvSpPr>
          <p:nvPr/>
        </p:nvSpPr>
        <p:spPr>
          <a:xfrm>
            <a:off x="8267700" y="2324100"/>
            <a:ext cx="2324100" cy="400050"/>
          </a:xfrm>
          <a:prstGeom prst="rect">
            <a:avLst/>
          </a:prstGeom>
          <a:solidFill>
            <a:srgbClr val="102938"/>
          </a:solidFill>
          <a:ln w="9525">
            <a:solidFill>
              <a:srgbClr val="21465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444913D-95DD-4A48-B25B-4048615F691C}"/>
              </a:ext>
            </a:extLst>
          </p:cNvPr>
          <p:cNvSpPr>
            <a:spLocks noGrp="1"/>
          </p:cNvSpPr>
          <p:nvPr/>
        </p:nvSpPr>
        <p:spPr>
          <a:xfrm>
            <a:off x="8267700" y="2324100"/>
            <a:ext cx="47625" cy="4000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D16D528-9D3B-480A-BEBC-FF550DD32B2B}"/>
              </a:ext>
            </a:extLst>
          </p:cNvPr>
          <p:cNvSpPr>
            <a:spLocks noGrp="1"/>
          </p:cNvSpPr>
          <p:nvPr/>
        </p:nvSpPr>
        <p:spPr>
          <a:xfrm>
            <a:off x="8477250" y="24288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697DADA-FDEC-485A-A466-D9F81E1B9B05}"/>
              </a:ext>
            </a:extLst>
          </p:cNvPr>
          <p:cNvSpPr>
            <a:spLocks noGrp="1"/>
          </p:cNvSpPr>
          <p:nvPr/>
        </p:nvSpPr>
        <p:spPr>
          <a:xfrm>
            <a:off x="8267700" y="2971800"/>
            <a:ext cx="2324100" cy="400050"/>
          </a:xfrm>
          <a:prstGeom prst="rect">
            <a:avLst/>
          </a:prstGeom>
          <a:solidFill>
            <a:srgbClr val="102938"/>
          </a:solidFill>
          <a:ln w="9525">
            <a:solidFill>
              <a:srgbClr val="21465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8009CD9-424D-42EA-9E18-A55898407224}"/>
              </a:ext>
            </a:extLst>
          </p:cNvPr>
          <p:cNvSpPr>
            <a:spLocks noGrp="1"/>
          </p:cNvSpPr>
          <p:nvPr/>
        </p:nvSpPr>
        <p:spPr>
          <a:xfrm>
            <a:off x="8267700" y="2971800"/>
            <a:ext cx="47625" cy="4000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2929612-CDEC-40C6-BEA0-06D83F20FBF3}"/>
              </a:ext>
            </a:extLst>
          </p:cNvPr>
          <p:cNvSpPr>
            <a:spLocks noGrp="1"/>
          </p:cNvSpPr>
          <p:nvPr/>
        </p:nvSpPr>
        <p:spPr>
          <a:xfrm>
            <a:off x="8477250" y="30765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Nurture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A3CF200-0D74-4921-8090-49FE407BB159}"/>
              </a:ext>
            </a:extLst>
          </p:cNvPr>
          <p:cNvSpPr>
            <a:spLocks noGrp="1"/>
          </p:cNvSpPr>
          <p:nvPr/>
        </p:nvSpPr>
        <p:spPr>
          <a:xfrm>
            <a:off x="8267700" y="3619500"/>
            <a:ext cx="2324100" cy="400050"/>
          </a:xfrm>
          <a:prstGeom prst="rect">
            <a:avLst/>
          </a:prstGeom>
          <a:solidFill>
            <a:srgbClr val="102938"/>
          </a:solidFill>
          <a:ln w="9525">
            <a:solidFill>
              <a:srgbClr val="21465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DC74F3D-064B-4D74-BF58-376064FE8754}"/>
              </a:ext>
            </a:extLst>
          </p:cNvPr>
          <p:cNvSpPr>
            <a:spLocks noGrp="1"/>
          </p:cNvSpPr>
          <p:nvPr/>
        </p:nvSpPr>
        <p:spPr>
          <a:xfrm>
            <a:off x="8267700" y="3619500"/>
            <a:ext cx="47625" cy="4000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4059AA5-9197-47B7-9709-E1D2BF77BEF4}"/>
              </a:ext>
            </a:extLst>
          </p:cNvPr>
          <p:cNvSpPr>
            <a:spLocks noGrp="1"/>
          </p:cNvSpPr>
          <p:nvPr/>
        </p:nvSpPr>
        <p:spPr>
          <a:xfrm>
            <a:off x="8477250" y="37242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Hand-off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6CD7D2-B279-42F7-82DC-049224F1FF37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1FA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1FAE5"/>
                </a:solidFill>
                <a:latin typeface="Aptos"/>
                <a:ea typeface="Aptos"/>
                <a:cs typeface="Aptos"/>
              </a:rPr>
              <a:t>Agency Pitch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2B922F5-8EF8-4BEA-96AD-D4A46D4F6E51}"/>
              </a:ext>
            </a:extLst>
          </p:cNvPr>
          <p:cNvSpPr>
            <a:spLocks noGrp="1"/>
          </p:cNvSpPr>
          <p:nvPr/>
        </p:nvSpPr>
        <p:spPr>
          <a:xfrm>
            <a:off x="8705850" y="6076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0">
                <a:solidFill>
                  <a:srgbClr val="D1FAE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1FAE5"/>
                </a:solidFill>
                <a:latin typeface="Aptos"/>
                <a:ea typeface="Aptos"/>
                <a:cs typeface="Aptos"/>
              </a:rPr>
              <a:t>Smart. Simple. Sorted.</a:t>
            </a:r>
          </a:p>
        </p:txBody>
      </p:sp>
    </p:spTree>
    <p:extLst>
      <p:ext uri="{BB962C8B-B14F-4D97-AF65-F5344CB8AC3E}">
        <p14:creationId xmlns:p14="http://schemas.microsoft.com/office/powerpoint/2010/main" val="1327243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CAC99496-A635-4385-828A-C05F17208C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E483D8-7B5E-4C79-8A8A-7AB0582304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FCCCF5-A0D9-44C0-BF80-1BA0DAB1845E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404190-FF48-4067-A794-7BC581FCC642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A91F8F-8A03-466E-8192-18C96A2CDF5E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4F65EF-254F-4973-A57D-B7E4FC15AC24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E1AB45-62EC-4DE5-B5AE-9210B9DD5332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EF5DAB-B899-4A58-BE78-63BCBC58C1F2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B83F15-8B43-460D-AC12-114E8FA72122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A8A996-26C4-4A6E-A20E-C9BA782ACB0C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7AC3DF-671F-4F53-9058-68234BEA5636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A572D-A119-436D-AF49-C98F1784CD8F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AB6A3-3E42-4C3C-9D7E-7CA0FFCCA783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BEE3A9-544E-4B28-88FD-455BB4556F24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09821B-54C9-42EC-AB4E-B7203E70F979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B9CBBF-6B00-4C9D-A495-14D4F3EA3680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33ADA2-988F-4DE8-8C77-C63ACB67166A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DBFB21-E90A-4459-8E47-7E9EAC7D5E10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5707A0-1E48-4D39-8E8C-7BE973D62FE2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532C57-987C-40E5-9D41-034EA439DCA5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DCB306-4F7E-4A3B-98D0-07815427C2FD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93D19E-F550-409B-8F25-615086B94831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D15537-CC41-4AE5-8EF4-9C9341165207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21CAC9-7028-4C09-9B17-72447A6110E3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689E7AB-3D44-4CC8-86C8-BF4AF8514BD8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AEF157E-FD03-448E-86AE-C64CFE4E6172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478D47-EDC7-4DEA-8F99-05C471C50207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87FD9A-8CE6-4BA1-B31E-92E7D2002154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A95D3A-4459-4B3C-8A7E-B1BCF15E202C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A2906AC-9F66-4627-8039-D7FE73ABD1B1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D45AC4-F116-4BD3-B6C8-ED6B1EC4F395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4C7757-7C87-4C5A-8854-CD8ECDEF1A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340F29-1D10-425F-9757-C62BA99BBE0C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BF800E4-01D0-428A-B3AE-48A32771E91E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78C44B-76D8-4A80-9BDD-CC95F79C4D2A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29176A-D52B-4DA5-ADAB-22735927E7A4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579CBE-2688-4741-BD95-E8A463FFE02E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D1DB448-9710-4270-BB7A-5A802B3805B5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67687E4-5CAC-4D5D-B6B9-B9F5ED896A1F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9394DE6-EECC-49C4-944F-D36B3A08C6B3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8AD459C-DA6D-4D22-ADE6-61890555812A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C40294A-0F26-4222-B4CB-05053ED32218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ADD0633-61C2-4C96-8F0A-BEBF31CA09D2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14FC26-8BB4-4507-96BF-5380B65E64FA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857FB2B-CA21-4AE1-BD75-5318D154D6A8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3A1321D-DCF7-4B90-A974-C61F01ACC6D1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E5AA869-E85E-4920-B70C-4E22EB6E1866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1A2A809-F143-47D8-8D1E-BC8C705B76ED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2-marker">
            <a:extLst>
              <a:ext uri="{FF2B5EF4-FFF2-40B4-BE49-F238E27FC236}">
                <a16:creationId xmlns:a16="http://schemas.microsoft.com/office/drawing/2014/main" id="{34098A1D-A79A-493D-9D1F-B6FBD5E630CC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2-label">
            <a:extLst>
              <a:ext uri="{FF2B5EF4-FFF2-40B4-BE49-F238E27FC236}">
                <a16:creationId xmlns:a16="http://schemas.microsoft.com/office/drawing/2014/main" id="{794114E5-C698-49F1-9708-29D3E1B386A6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EXECUTIVE SUMMARY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275B0AB-8AB7-4649-A52B-F79D6D0E6843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572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HeyMies creates a buyer-readiness layer before the first agent call.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37BBCB2-11ED-4CAC-B283-8E4A5A312F8D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agency keeps the relationship and the sale. HeyMies improves what reaches the team and when.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7EAA41-0361-4309-B37C-28D435027E64}"/>
              </a:ext>
            </a:extLst>
          </p:cNvPr>
          <p:cNvSpPr>
            <a:spLocks noGrp="1"/>
          </p:cNvSpPr>
          <p:nvPr/>
        </p:nvSpPr>
        <p:spPr>
          <a:xfrm>
            <a:off x="762000" y="3048000"/>
            <a:ext cx="4191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E20384-99F8-4050-B93C-6ADAE94DCD5E}"/>
              </a:ext>
            </a:extLst>
          </p:cNvPr>
          <p:cNvSpPr>
            <a:spLocks noGrp="1"/>
          </p:cNvSpPr>
          <p:nvPr/>
        </p:nvSpPr>
        <p:spPr>
          <a:xfrm>
            <a:off x="762000" y="3048000"/>
            <a:ext cx="4191000" cy="57150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C6C9A00-0E80-4DED-8B5D-AA2D89A5AC25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8979701-995B-411B-A78A-39EDDBA100A7}"/>
              </a:ext>
            </a:extLst>
          </p:cNvPr>
          <p:cNvSpPr>
            <a:spLocks noGrp="1"/>
          </p:cNvSpPr>
          <p:nvPr/>
        </p:nvSpPr>
        <p:spPr>
          <a:xfrm>
            <a:off x="990600" y="3581400"/>
            <a:ext cx="3429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Raw lead volume creates chasing, weak context, and wasted agent time.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8BD9EEC-984F-49C5-94C1-EAAD41FB004C}"/>
              </a:ext>
            </a:extLst>
          </p:cNvPr>
          <p:cNvSpPr>
            <a:spLocks noGrp="1"/>
          </p:cNvSpPr>
          <p:nvPr/>
        </p:nvSpPr>
        <p:spPr>
          <a:xfrm>
            <a:off x="5715000" y="3048000"/>
            <a:ext cx="4191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B1AF95D-6E82-4288-941B-D4AE92C29EAE}"/>
              </a:ext>
            </a:extLst>
          </p:cNvPr>
          <p:cNvSpPr>
            <a:spLocks noGrp="1"/>
          </p:cNvSpPr>
          <p:nvPr/>
        </p:nvSpPr>
        <p:spPr>
          <a:xfrm>
            <a:off x="5715000" y="3048000"/>
            <a:ext cx="419100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CEED2FD-D574-4687-BA0D-D5CDD94A4C4B}"/>
              </a:ext>
            </a:extLst>
          </p:cNvPr>
          <p:cNvSpPr>
            <a:spLocks noGrp="1"/>
          </p:cNvSpPr>
          <p:nvPr/>
        </p:nvSpPr>
        <p:spPr>
          <a:xfrm>
            <a:off x="5943600" y="3276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C76AC1F-55D0-47AA-9923-8472DA60E457}"/>
              </a:ext>
            </a:extLst>
          </p:cNvPr>
          <p:cNvSpPr>
            <a:spLocks noGrp="1"/>
          </p:cNvSpPr>
          <p:nvPr/>
        </p:nvSpPr>
        <p:spPr>
          <a:xfrm>
            <a:off x="5943600" y="3581400"/>
            <a:ext cx="3429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Capture, score, nurture, and hand off only when the buyer is ready enough.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CDB70EF-30E8-479B-8594-A9EEF86B8EE1}"/>
              </a:ext>
            </a:extLst>
          </p:cNvPr>
          <p:cNvSpPr>
            <a:spLocks noGrp="1"/>
          </p:cNvSpPr>
          <p:nvPr/>
        </p:nvSpPr>
        <p:spPr>
          <a:xfrm>
            <a:off x="762000" y="4362450"/>
            <a:ext cx="4191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2EFCE8-0072-43F2-A1EC-9409EE625DD9}"/>
              </a:ext>
            </a:extLst>
          </p:cNvPr>
          <p:cNvSpPr>
            <a:spLocks noGrp="1"/>
          </p:cNvSpPr>
          <p:nvPr/>
        </p:nvSpPr>
        <p:spPr>
          <a:xfrm>
            <a:off x="762000" y="4362450"/>
            <a:ext cx="419100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6274A1D-D47F-48FE-8BF3-6C0DC3E2B3F9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Agency value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279F0AA-8CD5-4BFE-AFBB-5882EB6B07B8}"/>
              </a:ext>
            </a:extLst>
          </p:cNvPr>
          <p:cNvSpPr>
            <a:spLocks noGrp="1"/>
          </p:cNvSpPr>
          <p:nvPr/>
        </p:nvSpPr>
        <p:spPr>
          <a:xfrm>
            <a:off x="990600" y="4895850"/>
            <a:ext cx="3429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Cleaner conversations, warmer buyer database, and a repeatable readiness standard.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491A422-FA12-4AF7-BD00-B848E67E4695}"/>
              </a:ext>
            </a:extLst>
          </p:cNvPr>
          <p:cNvSpPr>
            <a:spLocks noGrp="1"/>
          </p:cNvSpPr>
          <p:nvPr/>
        </p:nvSpPr>
        <p:spPr>
          <a:xfrm>
            <a:off x="5715000" y="4362450"/>
            <a:ext cx="41910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5694725-F788-4779-B868-61A087D61DE4}"/>
              </a:ext>
            </a:extLst>
          </p:cNvPr>
          <p:cNvSpPr>
            <a:spLocks noGrp="1"/>
          </p:cNvSpPr>
          <p:nvPr/>
        </p:nvSpPr>
        <p:spPr>
          <a:xfrm>
            <a:off x="5715000" y="4362450"/>
            <a:ext cx="419100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7552B70-E4B1-4F5F-B25D-8A951224C9AD}"/>
              </a:ext>
            </a:extLst>
          </p:cNvPr>
          <p:cNvSpPr>
            <a:spLocks noGrp="1"/>
          </p:cNvSpPr>
          <p:nvPr/>
        </p:nvSpPr>
        <p:spPr>
          <a:xfrm>
            <a:off x="5943600" y="45910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Pilot ask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E3EC48-642B-44EE-9E89-9705C9D50F5F}"/>
              </a:ext>
            </a:extLst>
          </p:cNvPr>
          <p:cNvSpPr>
            <a:spLocks noGrp="1"/>
          </p:cNvSpPr>
          <p:nvPr/>
        </p:nvSpPr>
        <p:spPr>
          <a:xfrm>
            <a:off x="5943600" y="4895850"/>
            <a:ext cx="3429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Run a 90-day pilot with one area, selected listings, and weekly quality review.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A40B887-B777-4E5C-968F-7765E5DD0611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B7A4F42-BCC5-4D90-A840-F56B960CE4C1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4364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>
            <a:extLst>
              <a:ext uri="{FF2B5EF4-FFF2-40B4-BE49-F238E27FC236}">
                <a16:creationId xmlns:a16="http://schemas.microsoft.com/office/drawing/2014/main" id="{14F2BAE6-29ED-4B1F-B7A9-7AA23D811D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17544B-191A-42D5-95C9-DFE22856B5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A3CEC0-1FED-4AC3-97CE-D5ED7C0BF521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3E2A0A-619D-48EC-8ECC-9399A9D07741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1E23EA-9103-4AEE-983D-E162713A6971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A71BF9-4B72-4F50-BECA-A02E0D2B4316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E6ECAE-A805-49EC-8B44-AC09B585FEFE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28D54-56A3-4903-9E46-906A2A5E2957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AD6DE4-4EB2-46DA-86F8-ED4C1844775C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208BF3-733E-4ECB-ABDF-B919722DEA98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25139E-C76F-43D2-BF77-0136B4A958A0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D43C59-2933-438B-97CB-F1E683CDE943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919A91-0964-4AE8-8678-8CF1E6DC0312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4A724B-AC74-4D3E-86C9-3182BB1457C7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058CBF-F155-4C29-BED8-817E0C461C4B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793189-C15F-4E64-8BE3-90F2C9C31BE8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1C5A5-52B6-4251-8DF6-40C76C32E357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1044B9-0281-42CC-8ABB-042F8D0DF9CE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B04E50-40FD-494C-AC16-B0E723A2D8BA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F34606-C530-474D-84BD-56AE8162CDB0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BAF5C8-268E-4E1F-8D0F-1DDEDA451AFB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BB0F7E-5516-4996-AFE7-FA54065581A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A0B5982-590E-43B4-9D8F-4966B261E8A6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526A4B-2B1F-4240-9211-F895FADE0FCA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7584FC-3418-4CC3-A336-A4E9FD28DB21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163906-D5A1-4CD2-803B-CC4F49C7BCF8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E975D81-41A3-4A6B-A46F-6F7A451A4910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DB453C9-D22C-4C5F-8A1D-DF76791DFC5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84EAB9-6CB1-4738-9F74-D0173FAD43F4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A414EE-E48E-4049-9E55-D7E4F42C9B44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915727C-204C-49C5-9E1D-77E4406A3751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CA3C8E-CFA3-4753-BA1D-28AC614B4C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57D9A-CBA0-44C9-A6D4-2F6D47CDAC7C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D9268A-673E-4BAB-884C-D3F7DC7EDDDE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37E6FEE-B315-46B8-82E8-E31112C43A18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FC1913-E53C-4C2D-80C1-7FAE304DC01F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BEB2C49-B6BA-4EDC-A426-F051473B40E7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2FFC63-2279-489F-B700-5DBB63CB0FCD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6D3FC2C-7F6A-4430-8F7A-2DB134914EF1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1277F-97AA-4E44-A167-6A6665B69749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610CE6-A678-41EE-8977-AD7533A39B50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BAAA8E-5157-4BF9-9914-196D9245E634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43893C3-8B73-4BFE-81FD-4D8788FACB58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B7A909C-CE59-42C9-9DE5-81BA4619E012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2EEAE9-8A81-4CE3-B1A1-0163D40F861D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F30BD34-2C13-45F3-B6BF-4D8F99FF56E2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3D6913E-E5D2-4784-B602-2080099F2CD6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4B0A9CF-B859-4322-9D3F-7BD4CC8DC385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3-marker">
            <a:extLst>
              <a:ext uri="{FF2B5EF4-FFF2-40B4-BE49-F238E27FC236}">
                <a16:creationId xmlns:a16="http://schemas.microsoft.com/office/drawing/2014/main" id="{2F2836D8-D619-4AEB-9CB0-DEA6E60D6630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3-label">
            <a:extLst>
              <a:ext uri="{FF2B5EF4-FFF2-40B4-BE49-F238E27FC236}">
                <a16:creationId xmlns:a16="http://schemas.microsoft.com/office/drawing/2014/main" id="{6836538B-4E5C-4941-8E47-82B3FAC895B3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WHY NOW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C14ABE0-0A24-4A3E-90BD-B40D698DFFAE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191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Agencies need a better operating model for buyer intent.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DEE7FCB-C6C9-455B-92E8-947873860EFA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524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Lead generation is noisier, buyers research longer, and agents are expected to respond faster with less context.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5AA0B05-E6E7-43C8-B7C1-44EEA3DBD28C}"/>
              </a:ext>
            </a:extLst>
          </p:cNvPr>
          <p:cNvSpPr>
            <a:spLocks noGrp="1"/>
          </p:cNvSpPr>
          <p:nvPr/>
        </p:nvSpPr>
        <p:spPr>
          <a:xfrm>
            <a:off x="895350" y="3057525"/>
            <a:ext cx="66675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091DC74-BA99-4EC3-A327-ABABBDD410EA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2686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More competition for attention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C190027-A6A5-437A-BB0A-CC99B76FCA6A}"/>
              </a:ext>
            </a:extLst>
          </p:cNvPr>
          <p:cNvSpPr>
            <a:spLocks noGrp="1"/>
          </p:cNvSpPr>
          <p:nvPr/>
        </p:nvSpPr>
        <p:spPr>
          <a:xfrm>
            <a:off x="3905250" y="2971800"/>
            <a:ext cx="533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Listings and campaigns can generate enquiries, but the same buyer may be talking to multiple agents.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6FC6ED7-2183-4AD8-BB3D-162CD08A696D}"/>
              </a:ext>
            </a:extLst>
          </p:cNvPr>
          <p:cNvSpPr>
            <a:spLocks noGrp="1"/>
          </p:cNvSpPr>
          <p:nvPr/>
        </p:nvSpPr>
        <p:spPr>
          <a:xfrm>
            <a:off x="895350" y="3724275"/>
            <a:ext cx="66675" cy="66675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1B0CA5B-D66A-44C9-B689-731DA2F50B53}"/>
              </a:ext>
            </a:extLst>
          </p:cNvPr>
          <p:cNvSpPr>
            <a:spLocks noGrp="1"/>
          </p:cNvSpPr>
          <p:nvPr/>
        </p:nvSpPr>
        <p:spPr>
          <a:xfrm>
            <a:off x="1066800" y="3657600"/>
            <a:ext cx="2686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Buyer readiness is uneven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27172A1-D991-4D3F-8874-34E166BFB5CB}"/>
              </a:ext>
            </a:extLst>
          </p:cNvPr>
          <p:cNvSpPr>
            <a:spLocks noGrp="1"/>
          </p:cNvSpPr>
          <p:nvPr/>
        </p:nvSpPr>
        <p:spPr>
          <a:xfrm>
            <a:off x="3905250" y="3638550"/>
            <a:ext cx="533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Some buyers are ready to view; others still need finance, timing, or process education.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BB899FE-4E94-4583-AC54-AD437E4101E7}"/>
              </a:ext>
            </a:extLst>
          </p:cNvPr>
          <p:cNvSpPr>
            <a:spLocks noGrp="1"/>
          </p:cNvSpPr>
          <p:nvPr/>
        </p:nvSpPr>
        <p:spPr>
          <a:xfrm>
            <a:off x="895350" y="4391025"/>
            <a:ext cx="66675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F7AC0B-0490-4A75-BA66-6053A4D1A37F}"/>
              </a:ext>
            </a:extLst>
          </p:cNvPr>
          <p:cNvSpPr>
            <a:spLocks noGrp="1"/>
          </p:cNvSpPr>
          <p:nvPr/>
        </p:nvSpPr>
        <p:spPr>
          <a:xfrm>
            <a:off x="1066800" y="4324350"/>
            <a:ext cx="2686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Agent time is under pressure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B731FC-C04D-49A8-9340-6F2519013487}"/>
              </a:ext>
            </a:extLst>
          </p:cNvPr>
          <p:cNvSpPr>
            <a:spLocks noGrp="1"/>
          </p:cNvSpPr>
          <p:nvPr/>
        </p:nvSpPr>
        <p:spPr>
          <a:xfrm>
            <a:off x="3905250" y="4305300"/>
            <a:ext cx="533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Every cold follow-up is time not spent on a prepared buyer or active seller.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7414484-3FEF-4DB5-97B0-6401496487B0}"/>
              </a:ext>
            </a:extLst>
          </p:cNvPr>
          <p:cNvSpPr>
            <a:spLocks noGrp="1"/>
          </p:cNvSpPr>
          <p:nvPr/>
        </p:nvSpPr>
        <p:spPr>
          <a:xfrm>
            <a:off x="895350" y="5057775"/>
            <a:ext cx="66675" cy="66675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22D8870-D5C1-4E61-BF63-C42D7D2DAB8E}"/>
              </a:ext>
            </a:extLst>
          </p:cNvPr>
          <p:cNvSpPr>
            <a:spLocks noGrp="1"/>
          </p:cNvSpPr>
          <p:nvPr/>
        </p:nvSpPr>
        <p:spPr>
          <a:xfrm>
            <a:off x="1066800" y="4991100"/>
            <a:ext cx="2686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Process consistency matters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1B62A18-CECD-4EC5-AAA1-B1C956C0A598}"/>
              </a:ext>
            </a:extLst>
          </p:cNvPr>
          <p:cNvSpPr>
            <a:spLocks noGrp="1"/>
          </p:cNvSpPr>
          <p:nvPr/>
        </p:nvSpPr>
        <p:spPr>
          <a:xfrm>
            <a:off x="3905250" y="4972050"/>
            <a:ext cx="533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Teams need a shared standard for when a lead should reach an agent.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FED4608-4763-466C-8B87-6A084C485C0F}"/>
              </a:ext>
            </a:extLst>
          </p:cNvPr>
          <p:cNvSpPr>
            <a:spLocks noGrp="1"/>
          </p:cNvSpPr>
          <p:nvPr/>
        </p:nvSpPr>
        <p:spPr>
          <a:xfrm>
            <a:off x="8439150" y="1009650"/>
            <a:ext cx="2000250" cy="11430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2CCB0-281C-4269-A883-95CF2051DE21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opening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17DAE43-CB42-43A1-9CFB-9786BFA1EB21}"/>
              </a:ext>
            </a:extLst>
          </p:cNvPr>
          <p:cNvSpPr>
            <a:spLocks noGrp="1"/>
          </p:cNvSpPr>
          <p:nvPr/>
        </p:nvSpPr>
        <p:spPr>
          <a:xfrm>
            <a:off x="8858250" y="1524000"/>
            <a:ext cx="1428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1FAE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1FAE5"/>
                </a:solidFill>
                <a:latin typeface="Aptos"/>
                <a:ea typeface="Aptos"/>
                <a:cs typeface="Aptos"/>
              </a:rPr>
              <a:t>Readiness becomes the new lead-quality standard.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CA53E52-B0F3-47BC-B804-F8B7D752C554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82AAE95-FA86-4F08-BA4C-2174A18A1F8F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77514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1D59AED0-8E35-42B7-B38A-7B354159E1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34E909-8374-4D1C-B9D3-ABE975D02A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858092-EA50-45A4-9F68-D4A456ADB802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31A6C-D8E1-4F2A-A44F-EEB13D3A5F8F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D83ED-0F17-4A86-B0C0-BD56676684FD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A9ADA2-ED95-4291-9FD5-7A820A9A6A67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3912C9-4B77-4E95-8BD6-0262B7FEF03D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D4EBC-8D15-4931-B9C1-9E502AF18FC4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3B3E81-3B82-48FF-B6CF-19E517A4ECC9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AB729D-940E-4DC6-B39E-AA9EBEF694E8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1480BE-9CFF-4F95-9600-89ABE0B9B44A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D0847F-F1FD-4E5D-B283-E2F6360E50CD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CB868C-0B4A-441C-B109-D62C4A39DB9F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64B42A-7FAF-46F4-98D7-045E36CA0811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974F0-65F7-408F-B73F-F1F69BB39975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AFF71A-EA74-4FC4-ACAF-874C1940FB83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CE1647-2DCC-408E-A0A3-806032F44358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60D03C-3468-4129-A62C-7B7EEE9818B3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B9A1E6-FD08-4595-85E6-027D8C637336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4A4419-13FE-4C56-859C-208F4E8938CF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5E5818-E4F5-4271-A83A-FB1704FDA3A8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4EC0CD-2ACA-49C3-B902-CA7020DABB5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CD8758-ABB6-461B-AD8B-C3E0E03CEB05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7CA75C-666D-423D-9DD1-BF45E8FE0A17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6046BD-E0F4-44A0-8FB0-75F0A99F0006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E604035-9CA1-462F-A351-BCF87727117A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0961E9-BB8B-4A43-9FB8-05327E9917BB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38790DE-D46D-407E-B9F1-E5EFE52EFC77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905A42-A411-4F76-95F9-88CD96D02E6F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30E464-F92F-43B4-BEA5-B5BA5892F7F8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5E5868-3224-424B-823E-C7FB35247878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75B2E6D-CF68-49C9-9465-64BE963360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0CC7434-2EC5-497C-9ED1-86E2A4BD17C1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CFEC93-5FE0-40A6-ACCB-B53B841D26F3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6F66FB-9161-48DF-86D6-350E792564FA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B9CE82-B473-48FD-89E6-7631EB7CED5E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64D6AB-43D5-4F75-9292-3BD9AA82BC3B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55CCDD9-57D8-40B3-A807-FEC797E0DBA1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BD30592-5004-4235-8278-EFA04A2B567F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4A628E-7D6E-498D-9E36-AC2AB1E03AE1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963876-2767-4DC0-A6E1-CF4E768F0EAD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E3C822-6FD0-4D0C-BBF1-1682A8BFBFD4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547DC1-2306-491A-ACC1-8C3AC210DFE5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1A30EB-8B06-4D16-88ED-9034920191E4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43D9FE-A957-4748-9EC7-0704C897E3BA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7095A32-3515-49F5-9647-17F81F44D9E0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9618523-C803-4F36-924D-1BB8923189DB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863225E-F4D8-4976-9858-8F658F849951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4-marker">
            <a:extLst>
              <a:ext uri="{FF2B5EF4-FFF2-40B4-BE49-F238E27FC236}">
                <a16:creationId xmlns:a16="http://schemas.microsoft.com/office/drawing/2014/main" id="{33464839-756D-4A51-AC6E-F9EAAF3A9F96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4-label">
            <a:extLst>
              <a:ext uri="{FF2B5EF4-FFF2-40B4-BE49-F238E27FC236}">
                <a16:creationId xmlns:a16="http://schemas.microsoft.com/office/drawing/2014/main" id="{C10B32D4-C89D-43AB-BE5F-B3F4243D0075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QUALIFICATION DRAG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717CD8E-5E14-46C9-8100-DF8186A6E178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286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Reach is not the problem. Qualification drag is.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448D86E-597D-4B23-BF0A-063A194D3EDF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Traditional lead sources can create attention. The hidden cost starts when weak context turns into manual chase work.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13D020-8DE7-4C40-A1F2-BBE3FA58F021}"/>
              </a:ext>
            </a:extLst>
          </p:cNvPr>
          <p:cNvSpPr>
            <a:spLocks noGrp="1"/>
          </p:cNvSpPr>
          <p:nvPr/>
        </p:nvSpPr>
        <p:spPr>
          <a:xfrm>
            <a:off x="742950" y="3143250"/>
            <a:ext cx="2333625" cy="933450"/>
          </a:xfrm>
          <a:prstGeom prst="rect">
            <a:avLst/>
          </a:prstGeom>
          <a:solidFill>
            <a:srgbClr val="E0F2F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AABA26A-9398-4FF2-AA3E-AE9D58E83D09}"/>
              </a:ext>
            </a:extLst>
          </p:cNvPr>
          <p:cNvSpPr>
            <a:spLocks noGrp="1"/>
          </p:cNvSpPr>
          <p:nvPr/>
        </p:nvSpPr>
        <p:spPr>
          <a:xfrm>
            <a:off x="742950" y="3143250"/>
            <a:ext cx="47625" cy="9334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14190E7-3012-419B-BDB0-A67C8F344D12}"/>
              </a:ext>
            </a:extLst>
          </p:cNvPr>
          <p:cNvSpPr>
            <a:spLocks noGrp="1"/>
          </p:cNvSpPr>
          <p:nvPr/>
        </p:nvSpPr>
        <p:spPr>
          <a:xfrm>
            <a:off x="914400" y="33528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Exposure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10BF19-1EF5-4C3A-9D80-A1CC0536E499}"/>
              </a:ext>
            </a:extLst>
          </p:cNvPr>
          <p:cNvSpPr>
            <a:spLocks noGrp="1"/>
          </p:cNvSpPr>
          <p:nvPr/>
        </p:nvSpPr>
        <p:spPr>
          <a:xfrm>
            <a:off x="914400" y="3648075"/>
            <a:ext cx="1990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Views, clicks, forms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3FBC2F6-BF7E-4A44-A9BE-EEE9E550759F}"/>
              </a:ext>
            </a:extLst>
          </p:cNvPr>
          <p:cNvSpPr>
            <a:spLocks noGrp="1"/>
          </p:cNvSpPr>
          <p:nvPr/>
        </p:nvSpPr>
        <p:spPr>
          <a:xfrm>
            <a:off x="3209925" y="3619500"/>
            <a:ext cx="3048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AC834A96-CEC3-4CB2-9B25-30878AC20CBA}"/>
              </a:ext>
            </a:extLst>
          </p:cNvPr>
          <p:cNvSpPr>
            <a:spLocks noGrp="1"/>
          </p:cNvSpPr>
          <p:nvPr/>
        </p:nvSpPr>
        <p:spPr>
          <a:xfrm>
            <a:off x="3505200" y="35623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9235A1-8A73-43A6-B82C-A0AE7518BE5D}"/>
              </a:ext>
            </a:extLst>
          </p:cNvPr>
          <p:cNvSpPr>
            <a:spLocks noGrp="1"/>
          </p:cNvSpPr>
          <p:nvPr/>
        </p:nvSpPr>
        <p:spPr>
          <a:xfrm>
            <a:off x="3667125" y="3219450"/>
            <a:ext cx="2095500" cy="876300"/>
          </a:xfrm>
          <a:prstGeom prst="rect">
            <a:avLst/>
          </a:prstGeom>
          <a:solidFill>
            <a:srgbClr val="FEF3C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D477F92-22D2-4FFE-BD0A-F3A2A94C012D}"/>
              </a:ext>
            </a:extLst>
          </p:cNvPr>
          <p:cNvSpPr>
            <a:spLocks noGrp="1"/>
          </p:cNvSpPr>
          <p:nvPr/>
        </p:nvSpPr>
        <p:spPr>
          <a:xfrm>
            <a:off x="3667125" y="3219450"/>
            <a:ext cx="47625" cy="87630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16361B4-8733-45E5-AE85-A9604929D925}"/>
              </a:ext>
            </a:extLst>
          </p:cNvPr>
          <p:cNvSpPr>
            <a:spLocks noGrp="1"/>
          </p:cNvSpPr>
          <p:nvPr/>
        </p:nvSpPr>
        <p:spPr>
          <a:xfrm>
            <a:off x="3838575" y="34290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Raw enquiry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2114048-379D-4ECE-A771-EC5666729725}"/>
              </a:ext>
            </a:extLst>
          </p:cNvPr>
          <p:cNvSpPr>
            <a:spLocks noGrp="1"/>
          </p:cNvSpPr>
          <p:nvPr/>
        </p:nvSpPr>
        <p:spPr>
          <a:xfrm>
            <a:off x="3838575" y="3724275"/>
            <a:ext cx="1752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Low context, unclear timing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581AF8E-9198-428F-8E60-60955491792B}"/>
              </a:ext>
            </a:extLst>
          </p:cNvPr>
          <p:cNvSpPr>
            <a:spLocks noGrp="1"/>
          </p:cNvSpPr>
          <p:nvPr/>
        </p:nvSpPr>
        <p:spPr>
          <a:xfrm>
            <a:off x="5895975" y="3695700"/>
            <a:ext cx="3048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EE9C8CD6-7CAD-44B6-87B1-5663A20E9FB2}"/>
              </a:ext>
            </a:extLst>
          </p:cNvPr>
          <p:cNvSpPr>
            <a:spLocks noGrp="1"/>
          </p:cNvSpPr>
          <p:nvPr/>
        </p:nvSpPr>
        <p:spPr>
          <a:xfrm>
            <a:off x="6191250" y="36385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22CA1BD-BAD7-4745-B76D-738730EC125F}"/>
              </a:ext>
            </a:extLst>
          </p:cNvPr>
          <p:cNvSpPr>
            <a:spLocks noGrp="1"/>
          </p:cNvSpPr>
          <p:nvPr/>
        </p:nvSpPr>
        <p:spPr>
          <a:xfrm>
            <a:off x="6353175" y="3295650"/>
            <a:ext cx="1952625" cy="819150"/>
          </a:xfrm>
          <a:prstGeom prst="rect">
            <a:avLst/>
          </a:prstGeom>
          <a:solidFill>
            <a:srgbClr val="FEE2E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5E8400-890C-4EEC-BFE3-7BE80114EED3}"/>
              </a:ext>
            </a:extLst>
          </p:cNvPr>
          <p:cNvSpPr>
            <a:spLocks noGrp="1"/>
          </p:cNvSpPr>
          <p:nvPr/>
        </p:nvSpPr>
        <p:spPr>
          <a:xfrm>
            <a:off x="6353175" y="3295650"/>
            <a:ext cx="47625" cy="819150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6CF2148-960F-44D9-8235-03A14F035E46}"/>
              </a:ext>
            </a:extLst>
          </p:cNvPr>
          <p:cNvSpPr>
            <a:spLocks noGrp="1"/>
          </p:cNvSpPr>
          <p:nvPr/>
        </p:nvSpPr>
        <p:spPr>
          <a:xfrm>
            <a:off x="6524625" y="3505200"/>
            <a:ext cx="1609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Agent chase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D7CD64F-603C-47A4-8E3E-FFB03071DEAB}"/>
              </a:ext>
            </a:extLst>
          </p:cNvPr>
          <p:cNvSpPr>
            <a:spLocks noGrp="1"/>
          </p:cNvSpPr>
          <p:nvPr/>
        </p:nvSpPr>
        <p:spPr>
          <a:xfrm>
            <a:off x="6524625" y="3800475"/>
            <a:ext cx="1609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Calls, messages, follow-ups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BB0C4A5-BC62-406B-B560-ED1B637BCD56}"/>
              </a:ext>
            </a:extLst>
          </p:cNvPr>
          <p:cNvSpPr>
            <a:spLocks noGrp="1"/>
          </p:cNvSpPr>
          <p:nvPr/>
        </p:nvSpPr>
        <p:spPr>
          <a:xfrm>
            <a:off x="8439150" y="3771900"/>
            <a:ext cx="3048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E337399-F0CC-4460-9D75-5852C6414E94}"/>
              </a:ext>
            </a:extLst>
          </p:cNvPr>
          <p:cNvSpPr>
            <a:spLocks noGrp="1"/>
          </p:cNvSpPr>
          <p:nvPr/>
        </p:nvSpPr>
        <p:spPr>
          <a:xfrm>
            <a:off x="8734425" y="37147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223F9D2-98BF-4A50-80AC-97DDEFC2494C}"/>
              </a:ext>
            </a:extLst>
          </p:cNvPr>
          <p:cNvSpPr>
            <a:spLocks noGrp="1"/>
          </p:cNvSpPr>
          <p:nvPr/>
        </p:nvSpPr>
        <p:spPr>
          <a:xfrm>
            <a:off x="8896350" y="3371850"/>
            <a:ext cx="1714500" cy="762000"/>
          </a:xfrm>
          <a:prstGeom prst="rect">
            <a:avLst/>
          </a:prstGeom>
          <a:solidFill>
            <a:srgbClr val="D1FAE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3DCAE19-DE89-48B7-8511-59DD0E8F29D8}"/>
              </a:ext>
            </a:extLst>
          </p:cNvPr>
          <p:cNvSpPr>
            <a:spLocks noGrp="1"/>
          </p:cNvSpPr>
          <p:nvPr/>
        </p:nvSpPr>
        <p:spPr>
          <a:xfrm>
            <a:off x="8896350" y="3371850"/>
            <a:ext cx="47625" cy="7620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68AEA5D-64BC-47A6-8E52-793CECFD9C51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371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Ready buyer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C48F0D8-B28D-4AEF-A7B3-E0FF0BBBB158}"/>
              </a:ext>
            </a:extLst>
          </p:cNvPr>
          <p:cNvSpPr>
            <a:spLocks noGrp="1"/>
          </p:cNvSpPr>
          <p:nvPr/>
        </p:nvSpPr>
        <p:spPr>
          <a:xfrm>
            <a:off x="9067800" y="3876675"/>
            <a:ext cx="1371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Intent, timing, fit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7DB8861-DFD7-4170-A7D6-798F2B65D3AC}"/>
              </a:ext>
            </a:extLst>
          </p:cNvPr>
          <p:cNvSpPr>
            <a:spLocks noGrp="1"/>
          </p:cNvSpPr>
          <p:nvPr/>
        </p:nvSpPr>
        <p:spPr>
          <a:xfrm>
            <a:off x="781050" y="5219700"/>
            <a:ext cx="6858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More leads do not solve this. Better qualified leads do.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916A609-5560-458A-B536-8E1F814DD29C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017FE3D-2D43-40ED-AB3D-E9E98CB788DB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27628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92">
            <a:extLst>
              <a:ext uri="{FF2B5EF4-FFF2-40B4-BE49-F238E27FC236}">
                <a16:creationId xmlns:a16="http://schemas.microsoft.com/office/drawing/2014/main" id="{F968FCD0-C4B7-4F19-8EAB-3850C8E67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8304F6-2C01-4DF5-8922-E4D4CABBC8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F64031-9281-4D07-B728-600A8DD06625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894093-F94A-49F7-90E1-152035C71B6E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3D5745-4854-4AC9-A5FC-1F6153177D39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AA61D0-BFA8-4159-9FCC-B9C526310B09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B31317-77B6-4A4F-B4FB-FDB3491A5659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DC9DA-6C35-46D1-9160-761F798701B3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F111A5-2478-4AFC-A6D1-655720789B51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16B057-3D66-4A2C-A95E-64D871AACB94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9C673E-8CFB-4914-8ED1-4DCA92D1D9DD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E35CB0-6EC6-4B82-9167-2E5109E5FB61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74D147-DE37-4D58-94FD-57C6A24C78B1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3ACC62-CC26-4E63-A2BD-F923DC30B082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7CBF43-3FC2-4202-8E6D-80A090CE216A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B3F297-807B-4601-AAAF-827D1BD7EBAC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787465-6175-4C82-9365-EC3AF5561610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0E7480-09B2-46D7-B87E-8D548CC7E4CA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407A7D-3EAA-49F9-895F-E212C219E4F6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2FEEC9-6818-4E99-9B5C-20C663E04C8E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A39F17-7607-4EE9-A8BC-3520AC13B829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AD6A92-3249-40AF-A5C2-F671E700923E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DBAE59-788C-408D-B74D-C3D450F70C4D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C04FD0-152F-41D4-8968-04F9A82D503A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1C5BDE-7D64-4DA6-8589-4BE50F87B14E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91F689F-D205-4D9A-AE05-E86585F77B73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06B485-2292-413F-A559-FB8C9F7E5532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6368C1-E2E0-4BF9-84F7-7D7670982998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4363F99-D018-4E2B-A5B6-B4C811DD258B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402BDE-5437-4ABD-978D-4FEE63917B08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0BFC2C-8203-466D-B134-60D5D898E9E2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D77C8BE-BAA6-4172-BC8A-1BA07C06EA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EBDC607-9B5C-4BEA-A141-DDE6EA224213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23D14E-9841-47B8-8F54-D76D0638AC33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E66B44B-221A-4C59-B787-C71CAA82421D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72B3085-C1D5-4936-A9FE-D966395BD581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066B405-D51E-417F-A004-24C57D0F5142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6E16008-D290-4BAE-9DAC-28ADB91844D0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22D001-9BA8-421B-9882-DD9E5F35369A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FF41F60-A2EC-4E17-8C7A-DE958368568D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4D77027-33C2-4B6A-BD24-8C49889EA5AA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E6E4C7A-E168-4E75-BB7D-1ABAB7977525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174CACE-77E7-4D1A-A190-DE8394C3CE1E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7FE17A-C547-4057-AD44-0DFC26128E97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390C7D-9DBF-4DB2-A94F-79E37AAA6AA2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D5C2925-4009-4C88-B3DA-23F06BE59410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5B0E1B-74AE-4C99-907C-E79B6C8ED486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CC3F52-2B03-45E0-B4FC-109A8410D68A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5-marker">
            <a:extLst>
              <a:ext uri="{FF2B5EF4-FFF2-40B4-BE49-F238E27FC236}">
                <a16:creationId xmlns:a16="http://schemas.microsoft.com/office/drawing/2014/main" id="{B6AA98AB-41F6-4D4D-9309-58E87E8CA546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5-label">
            <a:extLst>
              <a:ext uri="{FF2B5EF4-FFF2-40B4-BE49-F238E27FC236}">
                <a16:creationId xmlns:a16="http://schemas.microsoft.com/office/drawing/2014/main" id="{45FB2152-1DBA-4167-BA63-3A751D68ED21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PRODUCT DEMO FLOW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29A2FCF-F464-486F-8829-2E45EC7F63F0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191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The buyer journey becomes visible before the agent steps in.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011B3BD-C491-49F1-9921-CD63D70A7DF2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81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This is the simple demo story: capture context, ask readiness questions, score the buyer, nurture if needed, then route the prepared opportunity.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E79188C-5E79-4C03-B4F9-B43EBB28AFB3}"/>
              </a:ext>
            </a:extLst>
          </p:cNvPr>
          <p:cNvSpPr>
            <a:spLocks noGrp="1"/>
          </p:cNvSpPr>
          <p:nvPr/>
        </p:nvSpPr>
        <p:spPr>
          <a:xfrm>
            <a:off x="514350" y="3162300"/>
            <a:ext cx="180975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BCF16A8-D3A9-4172-A69C-01C2EF173398}"/>
              </a:ext>
            </a:extLst>
          </p:cNvPr>
          <p:cNvSpPr>
            <a:spLocks noGrp="1"/>
          </p:cNvSpPr>
          <p:nvPr/>
        </p:nvSpPr>
        <p:spPr>
          <a:xfrm>
            <a:off x="514350" y="3162300"/>
            <a:ext cx="1809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046720-6311-42FF-AEE6-4497C5D1A01D}"/>
              </a:ext>
            </a:extLst>
          </p:cNvPr>
          <p:cNvSpPr>
            <a:spLocks noGrp="1"/>
          </p:cNvSpPr>
          <p:nvPr/>
        </p:nvSpPr>
        <p:spPr>
          <a:xfrm>
            <a:off x="723900" y="3429000"/>
            <a:ext cx="285750" cy="2857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92668C2-04A1-4789-BB7C-BB8A352D442A}"/>
              </a:ext>
            </a:extLst>
          </p:cNvPr>
          <p:cNvSpPr>
            <a:spLocks noGrp="1"/>
          </p:cNvSpPr>
          <p:nvPr/>
        </p:nvSpPr>
        <p:spPr>
          <a:xfrm>
            <a:off x="723900" y="3486150"/>
            <a:ext cx="285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182EC29-99C8-4084-B266-1C975123486E}"/>
              </a:ext>
            </a:extLst>
          </p:cNvPr>
          <p:cNvSpPr>
            <a:spLocks noGrp="1"/>
          </p:cNvSpPr>
          <p:nvPr/>
        </p:nvSpPr>
        <p:spPr>
          <a:xfrm>
            <a:off x="723900" y="384810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Enquiry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359241A-F963-422D-BA25-9C939DCAD13D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Buyer enters from listing, ad, or campaign.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C51E2F7-A034-438F-87B6-A57C913859E6}"/>
              </a:ext>
            </a:extLst>
          </p:cNvPr>
          <p:cNvSpPr>
            <a:spLocks noGrp="1"/>
          </p:cNvSpPr>
          <p:nvPr/>
        </p:nvSpPr>
        <p:spPr>
          <a:xfrm>
            <a:off x="2419350" y="3886200"/>
            <a:ext cx="1143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C526ECE4-5113-4C3A-A7E7-FE8EA22B65F3}"/>
              </a:ext>
            </a:extLst>
          </p:cNvPr>
          <p:cNvSpPr>
            <a:spLocks noGrp="1"/>
          </p:cNvSpPr>
          <p:nvPr/>
        </p:nvSpPr>
        <p:spPr>
          <a:xfrm>
            <a:off x="2524125" y="38290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C930E26-69F9-4844-B6B0-A0D1390C709B}"/>
              </a:ext>
            </a:extLst>
          </p:cNvPr>
          <p:cNvSpPr>
            <a:spLocks noGrp="1"/>
          </p:cNvSpPr>
          <p:nvPr/>
        </p:nvSpPr>
        <p:spPr>
          <a:xfrm>
            <a:off x="2781300" y="3162300"/>
            <a:ext cx="180975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C1084B-E2EE-4477-8091-2898A33FAC77}"/>
              </a:ext>
            </a:extLst>
          </p:cNvPr>
          <p:cNvSpPr>
            <a:spLocks noGrp="1"/>
          </p:cNvSpPr>
          <p:nvPr/>
        </p:nvSpPr>
        <p:spPr>
          <a:xfrm>
            <a:off x="2781300" y="3162300"/>
            <a:ext cx="1809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536EC33-0AE6-4D79-B5AD-031391E6AB0A}"/>
              </a:ext>
            </a:extLst>
          </p:cNvPr>
          <p:cNvSpPr>
            <a:spLocks noGrp="1"/>
          </p:cNvSpPr>
          <p:nvPr/>
        </p:nvSpPr>
        <p:spPr>
          <a:xfrm>
            <a:off x="2990850" y="3429000"/>
            <a:ext cx="285750" cy="2857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A46B2AA-41F9-4A46-AC23-DA267AD6498C}"/>
              </a:ext>
            </a:extLst>
          </p:cNvPr>
          <p:cNvSpPr>
            <a:spLocks noGrp="1"/>
          </p:cNvSpPr>
          <p:nvPr/>
        </p:nvSpPr>
        <p:spPr>
          <a:xfrm>
            <a:off x="2990850" y="3486150"/>
            <a:ext cx="285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E2635E9-D1EC-4A74-9CF7-2F9565B4D958}"/>
              </a:ext>
            </a:extLst>
          </p:cNvPr>
          <p:cNvSpPr>
            <a:spLocks noGrp="1"/>
          </p:cNvSpPr>
          <p:nvPr/>
        </p:nvSpPr>
        <p:spPr>
          <a:xfrm>
            <a:off x="2990850" y="384810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Readiness questions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56D0A5E-25E7-4DDC-B3EA-11F6ED3212BA}"/>
              </a:ext>
            </a:extLst>
          </p:cNvPr>
          <p:cNvSpPr>
            <a:spLocks noGrp="1"/>
          </p:cNvSpPr>
          <p:nvPr/>
        </p:nvSpPr>
        <p:spPr>
          <a:xfrm>
            <a:off x="2971800" y="430530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 dirty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Budget, timing, area, finance, property fit.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3E5C77-285F-4961-A868-4905546C35B2}"/>
              </a:ext>
            </a:extLst>
          </p:cNvPr>
          <p:cNvSpPr>
            <a:spLocks noGrp="1"/>
          </p:cNvSpPr>
          <p:nvPr/>
        </p:nvSpPr>
        <p:spPr>
          <a:xfrm>
            <a:off x="4686300" y="3886200"/>
            <a:ext cx="1143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F55886BB-BC66-4534-A1AA-2F0B4D273418}"/>
              </a:ext>
            </a:extLst>
          </p:cNvPr>
          <p:cNvSpPr>
            <a:spLocks noGrp="1"/>
          </p:cNvSpPr>
          <p:nvPr/>
        </p:nvSpPr>
        <p:spPr>
          <a:xfrm>
            <a:off x="4791075" y="38290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B222474-5DA1-4E01-92F1-49755ED65FBB}"/>
              </a:ext>
            </a:extLst>
          </p:cNvPr>
          <p:cNvSpPr>
            <a:spLocks noGrp="1"/>
          </p:cNvSpPr>
          <p:nvPr/>
        </p:nvSpPr>
        <p:spPr>
          <a:xfrm>
            <a:off x="5048250" y="3162300"/>
            <a:ext cx="180975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CDB310D-6D31-443A-B258-490A219394CF}"/>
              </a:ext>
            </a:extLst>
          </p:cNvPr>
          <p:cNvSpPr>
            <a:spLocks noGrp="1"/>
          </p:cNvSpPr>
          <p:nvPr/>
        </p:nvSpPr>
        <p:spPr>
          <a:xfrm>
            <a:off x="5048250" y="3162300"/>
            <a:ext cx="1809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BC6E2BD-4B17-4759-8BF6-0DDFC29667A6}"/>
              </a:ext>
            </a:extLst>
          </p:cNvPr>
          <p:cNvSpPr>
            <a:spLocks noGrp="1"/>
          </p:cNvSpPr>
          <p:nvPr/>
        </p:nvSpPr>
        <p:spPr>
          <a:xfrm>
            <a:off x="5257800" y="3429000"/>
            <a:ext cx="285750" cy="2857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C01C91-F747-481F-8E8C-09B03CAD8C32}"/>
              </a:ext>
            </a:extLst>
          </p:cNvPr>
          <p:cNvSpPr>
            <a:spLocks noGrp="1"/>
          </p:cNvSpPr>
          <p:nvPr/>
        </p:nvSpPr>
        <p:spPr>
          <a:xfrm>
            <a:off x="5257800" y="3486150"/>
            <a:ext cx="285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123074B-B0BD-4464-8004-E3A41E101C74}"/>
              </a:ext>
            </a:extLst>
          </p:cNvPr>
          <p:cNvSpPr>
            <a:spLocks noGrp="1"/>
          </p:cNvSpPr>
          <p:nvPr/>
        </p:nvSpPr>
        <p:spPr>
          <a:xfrm>
            <a:off x="5257800" y="384810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B48A48-303A-48CF-90D2-954BEC7789F6}"/>
              </a:ext>
            </a:extLst>
          </p:cNvPr>
          <p:cNvSpPr>
            <a:spLocks noGrp="1"/>
          </p:cNvSpPr>
          <p:nvPr/>
        </p:nvSpPr>
        <p:spPr>
          <a:xfrm>
            <a:off x="5257800" y="41719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Intent and readiness are ranked.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4767EA1-15D1-4BA4-A4EC-2111A97CA211}"/>
              </a:ext>
            </a:extLst>
          </p:cNvPr>
          <p:cNvSpPr>
            <a:spLocks noGrp="1"/>
          </p:cNvSpPr>
          <p:nvPr/>
        </p:nvSpPr>
        <p:spPr>
          <a:xfrm>
            <a:off x="6953250" y="3886200"/>
            <a:ext cx="1143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4B2427EE-B395-4BD0-A4A5-074264738DF4}"/>
              </a:ext>
            </a:extLst>
          </p:cNvPr>
          <p:cNvSpPr>
            <a:spLocks noGrp="1"/>
          </p:cNvSpPr>
          <p:nvPr/>
        </p:nvSpPr>
        <p:spPr>
          <a:xfrm>
            <a:off x="7058025" y="38290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CF461EB-EDEC-420B-B08F-AD470639B72C}"/>
              </a:ext>
            </a:extLst>
          </p:cNvPr>
          <p:cNvSpPr>
            <a:spLocks noGrp="1"/>
          </p:cNvSpPr>
          <p:nvPr/>
        </p:nvSpPr>
        <p:spPr>
          <a:xfrm>
            <a:off x="7315200" y="3162300"/>
            <a:ext cx="180975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7CA1CF8-3FB7-4D83-A39D-B8D14619AACF}"/>
              </a:ext>
            </a:extLst>
          </p:cNvPr>
          <p:cNvSpPr>
            <a:spLocks noGrp="1"/>
          </p:cNvSpPr>
          <p:nvPr/>
        </p:nvSpPr>
        <p:spPr>
          <a:xfrm>
            <a:off x="7315200" y="3162300"/>
            <a:ext cx="1809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8A00C46-1835-4E36-9601-4F06DD03D48D}"/>
              </a:ext>
            </a:extLst>
          </p:cNvPr>
          <p:cNvSpPr>
            <a:spLocks noGrp="1"/>
          </p:cNvSpPr>
          <p:nvPr/>
        </p:nvSpPr>
        <p:spPr>
          <a:xfrm>
            <a:off x="7524750" y="3429000"/>
            <a:ext cx="285750" cy="2857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B873B6C-F64B-49A4-A8E6-5EA7167C280D}"/>
              </a:ext>
            </a:extLst>
          </p:cNvPr>
          <p:cNvSpPr>
            <a:spLocks noGrp="1"/>
          </p:cNvSpPr>
          <p:nvPr/>
        </p:nvSpPr>
        <p:spPr>
          <a:xfrm>
            <a:off x="7524750" y="3486150"/>
            <a:ext cx="285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AD7BB00-0A55-4595-B703-81FE4B1A62B0}"/>
              </a:ext>
            </a:extLst>
          </p:cNvPr>
          <p:cNvSpPr>
            <a:spLocks noGrp="1"/>
          </p:cNvSpPr>
          <p:nvPr/>
        </p:nvSpPr>
        <p:spPr>
          <a:xfrm>
            <a:off x="7524750" y="384810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Nurture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AAEF7B3-AFB9-4E0C-87C1-B3358B0F582D}"/>
              </a:ext>
            </a:extLst>
          </p:cNvPr>
          <p:cNvSpPr>
            <a:spLocks noGrp="1"/>
          </p:cNvSpPr>
          <p:nvPr/>
        </p:nvSpPr>
        <p:spPr>
          <a:xfrm>
            <a:off x="7524750" y="41719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Automated follow-up keeps buyer warm.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3768AB4-679E-40B3-980F-CE2B147BE491}"/>
              </a:ext>
            </a:extLst>
          </p:cNvPr>
          <p:cNvSpPr>
            <a:spLocks noGrp="1"/>
          </p:cNvSpPr>
          <p:nvPr/>
        </p:nvSpPr>
        <p:spPr>
          <a:xfrm>
            <a:off x="9220200" y="3886200"/>
            <a:ext cx="1143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4" name="Isosceles Triangle 83">
            <a:extLst>
              <a:ext uri="{FF2B5EF4-FFF2-40B4-BE49-F238E27FC236}">
                <a16:creationId xmlns:a16="http://schemas.microsoft.com/office/drawing/2014/main" id="{BDC49568-D0D1-4301-A820-76B4268873FA}"/>
              </a:ext>
            </a:extLst>
          </p:cNvPr>
          <p:cNvSpPr>
            <a:spLocks noGrp="1"/>
          </p:cNvSpPr>
          <p:nvPr/>
        </p:nvSpPr>
        <p:spPr>
          <a:xfrm>
            <a:off x="9324975" y="38290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7F94CE77-48CE-4202-B7FE-727997452EDF}"/>
              </a:ext>
            </a:extLst>
          </p:cNvPr>
          <p:cNvSpPr>
            <a:spLocks noGrp="1"/>
          </p:cNvSpPr>
          <p:nvPr/>
        </p:nvSpPr>
        <p:spPr>
          <a:xfrm>
            <a:off x="9582150" y="3162300"/>
            <a:ext cx="180975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F1346AD-84CC-44AF-B437-BF306CEEA90E}"/>
              </a:ext>
            </a:extLst>
          </p:cNvPr>
          <p:cNvSpPr>
            <a:spLocks noGrp="1"/>
          </p:cNvSpPr>
          <p:nvPr/>
        </p:nvSpPr>
        <p:spPr>
          <a:xfrm>
            <a:off x="9582150" y="3162300"/>
            <a:ext cx="1809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B955020-D147-4E81-9B4C-89A0AD1BA20E}"/>
              </a:ext>
            </a:extLst>
          </p:cNvPr>
          <p:cNvSpPr>
            <a:spLocks noGrp="1"/>
          </p:cNvSpPr>
          <p:nvPr/>
        </p:nvSpPr>
        <p:spPr>
          <a:xfrm>
            <a:off x="9791700" y="3429000"/>
            <a:ext cx="285750" cy="2857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8DF9F07-E10A-49F6-B315-30C011D37341}"/>
              </a:ext>
            </a:extLst>
          </p:cNvPr>
          <p:cNvSpPr>
            <a:spLocks noGrp="1"/>
          </p:cNvSpPr>
          <p:nvPr/>
        </p:nvSpPr>
        <p:spPr>
          <a:xfrm>
            <a:off x="9791700" y="3486150"/>
            <a:ext cx="285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29FA1C5-A99D-4886-B402-F20E50D5558B}"/>
              </a:ext>
            </a:extLst>
          </p:cNvPr>
          <p:cNvSpPr>
            <a:spLocks noGrp="1"/>
          </p:cNvSpPr>
          <p:nvPr/>
        </p:nvSpPr>
        <p:spPr>
          <a:xfrm>
            <a:off x="9791700" y="384810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Hand-off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1444D6-0B4D-4B0A-8FB4-DFB233FC6695}"/>
              </a:ext>
            </a:extLst>
          </p:cNvPr>
          <p:cNvSpPr>
            <a:spLocks noGrp="1"/>
          </p:cNvSpPr>
          <p:nvPr/>
        </p:nvSpPr>
        <p:spPr>
          <a:xfrm>
            <a:off x="9791700" y="4171950"/>
            <a:ext cx="133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Agent receives context and next action.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836A869-023B-48CC-B931-3C7E01AAE48F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9D9B7446-5E93-4577-8E71-25B46DA7DC4F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855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28082427-2BC6-438D-B99E-7EF6DCD10A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61CA27-BDB8-494B-9843-DA6941D51A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72EEE7-D132-4E88-B7B4-7A649293B1C0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FB0A84-AC68-4E8D-A1DC-244529EBE4E6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8EC3F9-47DA-4367-8A0C-90D369B403F2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BD7EB-3769-4558-A210-DEBA8553BD21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61E4C-B709-4581-9CA6-39CF3721F199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11B4C-CE33-4359-9298-591C61EFAA3F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C66806-22CE-4B6C-9B16-3A84194EE734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BE83CC-4360-4B35-B803-1B82F93EAF41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98086-C684-48F6-98FB-21E3F4B7C013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D647A-8FEF-4999-9698-0E9B587F9A19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7FB8D5-1E79-4FA8-9C79-867003B0464F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56836-5776-4F12-87A4-AB3E1E53FD29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A0B3CB-83AE-4708-BFB1-C37252D9BFD2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64AF7A-64A8-4E30-AEF2-7E3487BA0B83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526A8C-C597-43B9-B6E8-A96BA745276C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7E1A0C-8FE8-473F-8070-34AA87DA5A15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1F2318-08B8-4C0C-B44B-8BF2D7A53181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4967B8-114C-4BA6-A63A-143F31D1857E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48C1EB-A4F9-42B1-97E6-7AF7218C00E6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4C3330-565A-4210-B22B-69F525B8A4F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2912A6-874F-40AE-9AC5-73003564428B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99839B-793A-40A8-A60B-EE7DE4E73C06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CA3695-BAF2-4012-BAAA-100DC3731AE7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5FCAEE-C97F-4425-8311-B9BC8E12F1EA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27194-1889-4CF7-9124-02D809A165DE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A7C989-5655-4C3F-B4F4-5BCA01DBA4F9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EEA51F-F957-4897-9DAE-E5096C63EA70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7CB0E1-B0C6-4BEF-87FE-73037361DAF5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F34EDC-FBB4-47CC-88DF-5C52322E3D90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E16E61-BE76-452D-AD00-0B4ADB653C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BE6E90-40D0-4E2D-B424-A1205D0C939B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0FD22F-FC73-4B75-AFE1-E207937933EF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6CCD5B-0D86-4DF2-8A88-079E6E778A7F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35F9EB-1939-4FA4-858F-CEBC69F1E79D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4EB3D7F-3804-40F7-A7B8-6AA2106A9C33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47D2E0-9589-4DCA-972B-F13A2CC5A428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B86EE02-CC0C-48A8-AA49-FEA48714BABF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1E522A-E0C6-4E58-AAC1-51AED1AB403F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A70D421-2919-456F-B300-D5EC5177BACE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C87F836-CB00-4909-909B-3AB46F5DB5A3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2650004-0E31-42D5-A91D-0C393796BF80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5170A8C-C158-4CD2-81DA-E366B3D196FA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A34F7A-0961-483F-95F6-E6C9BD7D9C24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85B3F5-C40E-4BD2-AB11-0E386344CB5D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6167427-47C6-4B65-B535-448303D12713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1E2042-7319-4E74-A362-4FB02B9BBAA5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6-marker">
            <a:extLst>
              <a:ext uri="{FF2B5EF4-FFF2-40B4-BE49-F238E27FC236}">
                <a16:creationId xmlns:a16="http://schemas.microsoft.com/office/drawing/2014/main" id="{2F6BAA40-0F54-4D0A-A8C4-4222AE195E53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6-label">
            <a:extLst>
              <a:ext uri="{FF2B5EF4-FFF2-40B4-BE49-F238E27FC236}">
                <a16:creationId xmlns:a16="http://schemas.microsoft.com/office/drawing/2014/main" id="{01485C8E-FA7F-4170-89EB-AC9E2C145913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READINESS LAYER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6A7FDF4-7B52-4134-A954-42C2CEE990C4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191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HeyMies creates a standard before the agent call.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89F2EFF-B1F4-4ABC-8B32-26D920A5A74E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product sits between lead generation and sales execution. It prepares the buyer, then hands off with context.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EFF5D5-795A-433D-A7BE-696A7A055C9F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272415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481A89-F179-4B32-AA37-6E0E0D629833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27241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3026A-33EC-409D-9BB1-AF4A36F1662D}"/>
              </a:ext>
            </a:extLst>
          </p:cNvPr>
          <p:cNvSpPr>
            <a:spLocks noGrp="1"/>
          </p:cNvSpPr>
          <p:nvPr/>
        </p:nvSpPr>
        <p:spPr>
          <a:xfrm>
            <a:off x="1009650" y="3333750"/>
            <a:ext cx="2133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Lead sources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A25ABB4-7E24-4A0A-AF76-A1B33D15FB9D}"/>
              </a:ext>
            </a:extLst>
          </p:cNvPr>
          <p:cNvSpPr>
            <a:spLocks noGrp="1"/>
          </p:cNvSpPr>
          <p:nvPr/>
        </p:nvSpPr>
        <p:spPr>
          <a:xfrm>
            <a:off x="1009650" y="3829050"/>
            <a:ext cx="2133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Listings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Ads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Campaigns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Private seller flow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6C88032-0534-4080-BE5B-733CA6C2D515}"/>
              </a:ext>
            </a:extLst>
          </p:cNvPr>
          <p:cNvSpPr>
            <a:spLocks noGrp="1"/>
          </p:cNvSpPr>
          <p:nvPr/>
        </p:nvSpPr>
        <p:spPr>
          <a:xfrm>
            <a:off x="3695700" y="4000500"/>
            <a:ext cx="40005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A3DF26F-947B-462D-94DD-09DC94CFFC53}"/>
              </a:ext>
            </a:extLst>
          </p:cNvPr>
          <p:cNvSpPr>
            <a:spLocks noGrp="1"/>
          </p:cNvSpPr>
          <p:nvPr/>
        </p:nvSpPr>
        <p:spPr>
          <a:xfrm>
            <a:off x="4210050" y="3028950"/>
            <a:ext cx="272415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ACCD9D8-2A02-4F48-99D4-AC3867FAB294}"/>
              </a:ext>
            </a:extLst>
          </p:cNvPr>
          <p:cNvSpPr>
            <a:spLocks noGrp="1"/>
          </p:cNvSpPr>
          <p:nvPr/>
        </p:nvSpPr>
        <p:spPr>
          <a:xfrm>
            <a:off x="4210050" y="3028950"/>
            <a:ext cx="27241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FF5D3FA-3357-4142-9B30-D36C5B9AE808}"/>
              </a:ext>
            </a:extLst>
          </p:cNvPr>
          <p:cNvSpPr>
            <a:spLocks noGrp="1"/>
          </p:cNvSpPr>
          <p:nvPr/>
        </p:nvSpPr>
        <p:spPr>
          <a:xfrm>
            <a:off x="4438650" y="3333750"/>
            <a:ext cx="2133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HeyMies readiness layer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367AF5-5D8F-4D7C-A1EA-92F84F8E4627}"/>
              </a:ext>
            </a:extLst>
          </p:cNvPr>
          <p:cNvSpPr>
            <a:spLocks noGrp="1"/>
          </p:cNvSpPr>
          <p:nvPr/>
        </p:nvSpPr>
        <p:spPr>
          <a:xfrm>
            <a:off x="4438650" y="3829050"/>
            <a:ext cx="2133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Capture profile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Score signals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Nurture timing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Prepare hand-off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2E5AC4-0740-4E4A-8A0D-6DADBCB24AE1}"/>
              </a:ext>
            </a:extLst>
          </p:cNvPr>
          <p:cNvSpPr>
            <a:spLocks noGrp="1"/>
          </p:cNvSpPr>
          <p:nvPr/>
        </p:nvSpPr>
        <p:spPr>
          <a:xfrm>
            <a:off x="7124700" y="4000500"/>
            <a:ext cx="40005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584ABD3-8560-45BC-96A6-E812B7F71616}"/>
              </a:ext>
            </a:extLst>
          </p:cNvPr>
          <p:cNvSpPr>
            <a:spLocks noGrp="1"/>
          </p:cNvSpPr>
          <p:nvPr/>
        </p:nvSpPr>
        <p:spPr>
          <a:xfrm>
            <a:off x="7639050" y="3028950"/>
            <a:ext cx="272415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9FED923-1172-4EB9-B5B1-C6186257A15C}"/>
              </a:ext>
            </a:extLst>
          </p:cNvPr>
          <p:cNvSpPr>
            <a:spLocks noGrp="1"/>
          </p:cNvSpPr>
          <p:nvPr/>
        </p:nvSpPr>
        <p:spPr>
          <a:xfrm>
            <a:off x="7639050" y="3028950"/>
            <a:ext cx="27241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7253123-CFF2-4503-A2B8-A726F26BBABD}"/>
              </a:ext>
            </a:extLst>
          </p:cNvPr>
          <p:cNvSpPr>
            <a:spLocks noGrp="1"/>
          </p:cNvSpPr>
          <p:nvPr/>
        </p:nvSpPr>
        <p:spPr>
          <a:xfrm>
            <a:off x="7867650" y="3333750"/>
            <a:ext cx="2133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Agency action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0F56659-713B-4636-8A6F-C59A913365F1}"/>
              </a:ext>
            </a:extLst>
          </p:cNvPr>
          <p:cNvSpPr>
            <a:spLocks noGrp="1"/>
          </p:cNvSpPr>
          <p:nvPr/>
        </p:nvSpPr>
        <p:spPr>
          <a:xfrm>
            <a:off x="7867650" y="3829050"/>
            <a:ext cx="2133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Ready queue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Call with context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Book viewing</a:t>
            </a:r>
          </a:p>
          <a:p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Progress offer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5DF5417-F111-4871-9E99-EFBB454C4435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CB14069-E025-447D-BD83-6200311FDCB0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9661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90">
            <a:extLst>
              <a:ext uri="{FF2B5EF4-FFF2-40B4-BE49-F238E27FC236}">
                <a16:creationId xmlns:a16="http://schemas.microsoft.com/office/drawing/2014/main" id="{367094B5-1371-48DA-8ABB-D67B56D30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C4EE1-4857-4E63-8D56-4CDA83F518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50E42B-934F-4BFF-BD1D-B303CA93DD64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DECEF0-35AC-4CD5-955B-BF85650BF447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48BBF4-68A3-4F0E-9430-937B6B97CD1F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0012BD-AA79-4A96-B5DB-E9472D3ABD3C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437CF-062F-40E5-BA05-34F880967DDA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F5B24A-376D-4195-942D-3E138F28E641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E15D6C-ACC0-42B3-ABB1-ECEEC0764E9A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89AF3C-652A-4771-BFAC-D7FC4C03CE90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5C264E-3AB0-4906-BB7C-21746568A475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C4AD1F-B93D-45D8-AE19-D0441F07CA0C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89298-B2B3-4883-AC7D-8E1906E5D4BA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8F5917-D91E-4B0A-908A-9E75D8490341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CB4E96-BB0E-4489-B074-94566D27BB1A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2E45E7-FE0F-4993-BB55-D3DD21E9B562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193038-FAE7-4B67-A38D-ED29D90831D3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162A6F-15A5-4515-8E97-000F4D80E25E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CE8515-704E-4BCA-B45D-D633464F0B88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AE9D6F-98C4-42D9-9599-64F6D4580D24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A5FB0C-CD26-49CE-A3FA-8646C5823B42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61F1F8-E102-4280-8185-C7EF298133FF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26D443-0D6B-4547-89A0-F48023106730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BA757CE-F1EE-4C8B-A863-9C853D021ED2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E7B114-0DC8-454A-89F7-EDF2A9D475D2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AAC88E4-61BC-4D1F-9F8C-E283DE5C63A0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466873-BDE9-4326-890E-BE1CB91EB829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7123DD-BA4D-48AA-AD9C-8CFC3FC9A12E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0A16D6-D30E-48CC-BF2F-6EBCCF65D24F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9717C6-6936-4E28-942A-6B033F8C23FE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207E56-00AF-4FDA-8533-B6CA6BF6EB5E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4B292AC-8CC7-45B5-9F72-4A768AB99B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E95FB5-475A-49EB-8579-A9AE111F0866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B6ACDE-8D57-4B37-9824-2E660A236BBB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485BC1B-32EB-4420-9C81-A05F971ED452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CED98AE-7A12-43D7-B65E-4CCE7BC8790D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4DD1EBC-8C82-461F-92FE-041FECA75F7B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F40024B-89CB-4E67-8819-E79DCDBE92CD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FD56AB-C0BF-46A7-BEFA-C65CF9EB495F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B02D89D-0C15-41C2-A04D-FD05AAA7FC30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BAB88C9-17B0-4FC1-BE7A-D3E3A7005398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091C5FD-3784-493E-919E-E7D7B4D14F31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DDBC262-1063-4BE4-B17B-25F003D29CF2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D5A27D5-487C-48DC-8E02-1B2592068014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2BBDAC-F96E-4117-96EE-89697D7E7363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04133-1010-4CD5-BA8E-464B5E233119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0557442-C762-46FD-9108-6BF2E94C09AC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CB4862F-4F2F-4E8C-9280-21A6F5FEC886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7-marker">
            <a:extLst>
              <a:ext uri="{FF2B5EF4-FFF2-40B4-BE49-F238E27FC236}">
                <a16:creationId xmlns:a16="http://schemas.microsoft.com/office/drawing/2014/main" id="{37200DB3-175D-4B10-8D31-B0E7E2122383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7-label">
            <a:extLst>
              <a:ext uri="{FF2B5EF4-FFF2-40B4-BE49-F238E27FC236}">
                <a16:creationId xmlns:a16="http://schemas.microsoft.com/office/drawing/2014/main" id="{1E1B6DCA-3B56-40EB-A1DB-920A79A22235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SCORING MODEL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BA381AB-7B2A-47CC-8F13-0BD706E70881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Readiness is a composite signal, not a form fill.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54FDFE0-D23B-450A-B5D3-63FA92290FB9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HeyMies scores practical signals agencies already care about: seriousness, timing, finance, fit, and engagement.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38BD883-BD6E-4D42-BFA6-337059BC2906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714500" cy="419100"/>
          </a:xfrm>
          <a:prstGeom prst="rect">
            <a:avLst/>
          </a:prstGeom>
          <a:solidFill>
            <a:srgbClr val="07111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6C49349-4B83-430F-B180-DD0999CA517B}"/>
              </a:ext>
            </a:extLst>
          </p:cNvPr>
          <p:cNvSpPr>
            <a:spLocks noGrp="1"/>
          </p:cNvSpPr>
          <p:nvPr/>
        </p:nvSpPr>
        <p:spPr>
          <a:xfrm>
            <a:off x="876300" y="2981325"/>
            <a:ext cx="14478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E14F03A-2EB9-4BD3-975F-7EB2C7E18B38}"/>
              </a:ext>
            </a:extLst>
          </p:cNvPr>
          <p:cNvSpPr>
            <a:spLocks noGrp="1"/>
          </p:cNvSpPr>
          <p:nvPr/>
        </p:nvSpPr>
        <p:spPr>
          <a:xfrm>
            <a:off x="2457450" y="2857500"/>
            <a:ext cx="5619750" cy="419100"/>
          </a:xfrm>
          <a:prstGeom prst="rect">
            <a:avLst/>
          </a:prstGeom>
          <a:solidFill>
            <a:srgbClr val="EAF6F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6F97EA7-C1B0-40C7-8D8A-7F83A611B5E0}"/>
              </a:ext>
            </a:extLst>
          </p:cNvPr>
          <p:cNvSpPr>
            <a:spLocks noGrp="1"/>
          </p:cNvSpPr>
          <p:nvPr/>
        </p:nvSpPr>
        <p:spPr>
          <a:xfrm>
            <a:off x="2590800" y="2981325"/>
            <a:ext cx="53530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What HeyMies looks for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7FDAC03-AF23-442B-922C-D4CD9B9947B3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2000250" cy="419100"/>
          </a:xfrm>
          <a:prstGeom prst="rect">
            <a:avLst/>
          </a:prstGeom>
          <a:solidFill>
            <a:srgbClr val="EAF6F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D7EDD6-C021-48B2-B067-A257361C929B}"/>
              </a:ext>
            </a:extLst>
          </p:cNvPr>
          <p:cNvSpPr>
            <a:spLocks noGrp="1"/>
          </p:cNvSpPr>
          <p:nvPr/>
        </p:nvSpPr>
        <p:spPr>
          <a:xfrm>
            <a:off x="8210550" y="2981325"/>
            <a:ext cx="1733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E26D99-48D0-45EB-A9D5-3992E63542AA}"/>
              </a:ext>
            </a:extLst>
          </p:cNvPr>
          <p:cNvSpPr>
            <a:spLocks noGrp="1"/>
          </p:cNvSpPr>
          <p:nvPr/>
        </p:nvSpPr>
        <p:spPr>
          <a:xfrm>
            <a:off x="742950" y="32766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C19120A-0D33-4E9A-9517-C96EF332B689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1447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Intent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D3227B7-88E8-4E3F-A6C2-F902EE14EBD8}"/>
              </a:ext>
            </a:extLst>
          </p:cNvPr>
          <p:cNvSpPr>
            <a:spLocks noGrp="1"/>
          </p:cNvSpPr>
          <p:nvPr/>
        </p:nvSpPr>
        <p:spPr>
          <a:xfrm>
            <a:off x="2457450" y="3276600"/>
            <a:ext cx="56197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A207FCB-85F0-43F0-AF02-E6126E827ABA}"/>
              </a:ext>
            </a:extLst>
          </p:cNvPr>
          <p:cNvSpPr>
            <a:spLocks noGrp="1"/>
          </p:cNvSpPr>
          <p:nvPr/>
        </p:nvSpPr>
        <p:spPr>
          <a:xfrm>
            <a:off x="2590800" y="3419475"/>
            <a:ext cx="53530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Repeated engagement, saved listings, enquiry depth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C85F517-6E0F-43A1-89C9-6A769AFFBCE8}"/>
              </a:ext>
            </a:extLst>
          </p:cNvPr>
          <p:cNvSpPr>
            <a:spLocks noGrp="1"/>
          </p:cNvSpPr>
          <p:nvPr/>
        </p:nvSpPr>
        <p:spPr>
          <a:xfrm>
            <a:off x="8077200" y="3276600"/>
            <a:ext cx="20002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656636-D96B-4F10-A058-09539E4224B1}"/>
              </a:ext>
            </a:extLst>
          </p:cNvPr>
          <p:cNvSpPr>
            <a:spLocks noGrp="1"/>
          </p:cNvSpPr>
          <p:nvPr/>
        </p:nvSpPr>
        <p:spPr>
          <a:xfrm>
            <a:off x="8210550" y="3419475"/>
            <a:ext cx="1733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Nurture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5BC2FC-2F36-4440-AB2C-66BC97FFF039}"/>
              </a:ext>
            </a:extLst>
          </p:cNvPr>
          <p:cNvSpPr>
            <a:spLocks noGrp="1"/>
          </p:cNvSpPr>
          <p:nvPr/>
        </p:nvSpPr>
        <p:spPr>
          <a:xfrm>
            <a:off x="742950" y="379095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5381E45-B785-4F1E-BBB3-3ED27FE946CE}"/>
              </a:ext>
            </a:extLst>
          </p:cNvPr>
          <p:cNvSpPr>
            <a:spLocks noGrp="1"/>
          </p:cNvSpPr>
          <p:nvPr/>
        </p:nvSpPr>
        <p:spPr>
          <a:xfrm>
            <a:off x="876300" y="3933825"/>
            <a:ext cx="1447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Timing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76F3DD8-BF25-406A-9112-227EC5A80BCD}"/>
              </a:ext>
            </a:extLst>
          </p:cNvPr>
          <p:cNvSpPr>
            <a:spLocks noGrp="1"/>
          </p:cNvSpPr>
          <p:nvPr/>
        </p:nvSpPr>
        <p:spPr>
          <a:xfrm>
            <a:off x="2457450" y="3790950"/>
            <a:ext cx="56197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9895466-EE9E-4765-8388-10E0F20F0443}"/>
              </a:ext>
            </a:extLst>
          </p:cNvPr>
          <p:cNvSpPr>
            <a:spLocks noGrp="1"/>
          </p:cNvSpPr>
          <p:nvPr/>
        </p:nvSpPr>
        <p:spPr>
          <a:xfrm>
            <a:off x="2590800" y="3933825"/>
            <a:ext cx="53530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30 day, 60 day, research-only, or unknown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27D3E1C-1F6B-4246-A899-2E5CADB088FF}"/>
              </a:ext>
            </a:extLst>
          </p:cNvPr>
          <p:cNvSpPr>
            <a:spLocks noGrp="1"/>
          </p:cNvSpPr>
          <p:nvPr/>
        </p:nvSpPr>
        <p:spPr>
          <a:xfrm>
            <a:off x="8077200" y="3790950"/>
            <a:ext cx="20002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E7E36B6-7071-4CCF-80B4-9A6102AA77E8}"/>
              </a:ext>
            </a:extLst>
          </p:cNvPr>
          <p:cNvSpPr>
            <a:spLocks noGrp="1"/>
          </p:cNvSpPr>
          <p:nvPr/>
        </p:nvSpPr>
        <p:spPr>
          <a:xfrm>
            <a:off x="8210550" y="3933825"/>
            <a:ext cx="1733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Nurture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A42F22D-ED8F-4B8C-82B4-95A67058E50A}"/>
              </a:ext>
            </a:extLst>
          </p:cNvPr>
          <p:cNvSpPr>
            <a:spLocks noGrp="1"/>
          </p:cNvSpPr>
          <p:nvPr/>
        </p:nvSpPr>
        <p:spPr>
          <a:xfrm>
            <a:off x="742950" y="43053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ACAA497-CF3A-4EDA-A529-EDBEEA39B83B}"/>
              </a:ext>
            </a:extLst>
          </p:cNvPr>
          <p:cNvSpPr>
            <a:spLocks noGrp="1"/>
          </p:cNvSpPr>
          <p:nvPr/>
        </p:nvSpPr>
        <p:spPr>
          <a:xfrm>
            <a:off x="876300" y="4448175"/>
            <a:ext cx="1447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Finance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FF93974-3534-4CBF-9502-CA6F254FCC8D}"/>
              </a:ext>
            </a:extLst>
          </p:cNvPr>
          <p:cNvSpPr>
            <a:spLocks noGrp="1"/>
          </p:cNvSpPr>
          <p:nvPr/>
        </p:nvSpPr>
        <p:spPr>
          <a:xfrm>
            <a:off x="2457450" y="4305300"/>
            <a:ext cx="56197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C9671E1-04C8-459B-A40B-CBB2F3FBD0C3}"/>
              </a:ext>
            </a:extLst>
          </p:cNvPr>
          <p:cNvSpPr>
            <a:spLocks noGrp="1"/>
          </p:cNvSpPr>
          <p:nvPr/>
        </p:nvSpPr>
        <p:spPr>
          <a:xfrm>
            <a:off x="2590800" y="4448175"/>
            <a:ext cx="53530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Deposit, affordability, pre-approval, transfer-cost awareness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D42769-71C8-46A9-8A38-1157B06E31B2}"/>
              </a:ext>
            </a:extLst>
          </p:cNvPr>
          <p:cNvSpPr>
            <a:spLocks noGrp="1"/>
          </p:cNvSpPr>
          <p:nvPr/>
        </p:nvSpPr>
        <p:spPr>
          <a:xfrm>
            <a:off x="8077200" y="4305300"/>
            <a:ext cx="2000250" cy="5143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D08C28E-9F6E-4B98-98D7-0387D6FC605C}"/>
              </a:ext>
            </a:extLst>
          </p:cNvPr>
          <p:cNvSpPr>
            <a:spLocks noGrp="1"/>
          </p:cNvSpPr>
          <p:nvPr/>
        </p:nvSpPr>
        <p:spPr>
          <a:xfrm>
            <a:off x="8210550" y="4448175"/>
            <a:ext cx="1733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Prioritise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32AA2BE-F8EB-45F3-AB11-E585C7538DBA}"/>
              </a:ext>
            </a:extLst>
          </p:cNvPr>
          <p:cNvSpPr>
            <a:spLocks noGrp="1"/>
          </p:cNvSpPr>
          <p:nvPr/>
        </p:nvSpPr>
        <p:spPr>
          <a:xfrm>
            <a:off x="742950" y="481965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39B64708-D413-4C12-804B-420A3BA34E62}"/>
              </a:ext>
            </a:extLst>
          </p:cNvPr>
          <p:cNvSpPr>
            <a:spLocks noGrp="1"/>
          </p:cNvSpPr>
          <p:nvPr/>
        </p:nvSpPr>
        <p:spPr>
          <a:xfrm>
            <a:off x="876300" y="4962525"/>
            <a:ext cx="1447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Fit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1556663-8C70-4D14-ABFC-2430D0C1E975}"/>
              </a:ext>
            </a:extLst>
          </p:cNvPr>
          <p:cNvSpPr>
            <a:spLocks noGrp="1"/>
          </p:cNvSpPr>
          <p:nvPr/>
        </p:nvSpPr>
        <p:spPr>
          <a:xfrm>
            <a:off x="2457450" y="4819650"/>
            <a:ext cx="56197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6E5B15D-9985-481D-8C53-D2AF507A8669}"/>
              </a:ext>
            </a:extLst>
          </p:cNvPr>
          <p:cNvSpPr>
            <a:spLocks noGrp="1"/>
          </p:cNvSpPr>
          <p:nvPr/>
        </p:nvSpPr>
        <p:spPr>
          <a:xfrm>
            <a:off x="2590800" y="4962525"/>
            <a:ext cx="53530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Area, price range, property type, buyer requirements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BA7084C-2730-4E11-B832-FD27540BCD28}"/>
              </a:ext>
            </a:extLst>
          </p:cNvPr>
          <p:cNvSpPr>
            <a:spLocks noGrp="1"/>
          </p:cNvSpPr>
          <p:nvPr/>
        </p:nvSpPr>
        <p:spPr>
          <a:xfrm>
            <a:off x="8077200" y="4819650"/>
            <a:ext cx="2000250" cy="5143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4DDE5D1-C7CA-4E54-B65B-2C9896EB9F23}"/>
              </a:ext>
            </a:extLst>
          </p:cNvPr>
          <p:cNvSpPr>
            <a:spLocks noGrp="1"/>
          </p:cNvSpPr>
          <p:nvPr/>
        </p:nvSpPr>
        <p:spPr>
          <a:xfrm>
            <a:off x="8210550" y="4962525"/>
            <a:ext cx="1733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Prioritise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AC09C10-2DE5-4D3D-ADF4-F76B1F56645A}"/>
              </a:ext>
            </a:extLst>
          </p:cNvPr>
          <p:cNvSpPr>
            <a:spLocks noGrp="1"/>
          </p:cNvSpPr>
          <p:nvPr/>
        </p:nvSpPr>
        <p:spPr>
          <a:xfrm>
            <a:off x="742950" y="5334000"/>
            <a:ext cx="171450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AE02CF-D9CB-4B23-BF94-6152B5E51D10}"/>
              </a:ext>
            </a:extLst>
          </p:cNvPr>
          <p:cNvSpPr>
            <a:spLocks noGrp="1"/>
          </p:cNvSpPr>
          <p:nvPr/>
        </p:nvSpPr>
        <p:spPr>
          <a:xfrm>
            <a:off x="876300" y="5476875"/>
            <a:ext cx="1447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Engagement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0391096-658D-46CB-9CC5-11ABEFCBC1E9}"/>
              </a:ext>
            </a:extLst>
          </p:cNvPr>
          <p:cNvSpPr>
            <a:spLocks noGrp="1"/>
          </p:cNvSpPr>
          <p:nvPr/>
        </p:nvSpPr>
        <p:spPr>
          <a:xfrm>
            <a:off x="2457450" y="5334000"/>
            <a:ext cx="561975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9095F6A-06CB-4CB7-A831-C0345644277F}"/>
              </a:ext>
            </a:extLst>
          </p:cNvPr>
          <p:cNvSpPr>
            <a:spLocks noGrp="1"/>
          </p:cNvSpPr>
          <p:nvPr/>
        </p:nvSpPr>
        <p:spPr>
          <a:xfrm>
            <a:off x="2590800" y="5476875"/>
            <a:ext cx="53530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Replies, follow-up completion, profile completeness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93D4CBF-A8D8-4E7E-9CD0-F6EF346E8DEC}"/>
              </a:ext>
            </a:extLst>
          </p:cNvPr>
          <p:cNvSpPr>
            <a:spLocks noGrp="1"/>
          </p:cNvSpPr>
          <p:nvPr/>
        </p:nvSpPr>
        <p:spPr>
          <a:xfrm>
            <a:off x="8077200" y="5334000"/>
            <a:ext cx="2000250" cy="5143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941980E-62CA-4536-A2CD-B40F071A6E79}"/>
              </a:ext>
            </a:extLst>
          </p:cNvPr>
          <p:cNvSpPr>
            <a:spLocks noGrp="1"/>
          </p:cNvSpPr>
          <p:nvPr/>
        </p:nvSpPr>
        <p:spPr>
          <a:xfrm>
            <a:off x="8210550" y="5476875"/>
            <a:ext cx="17335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Route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306DB09-112D-4731-B09F-BBF7A27DCC30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product copy plus buyer readiness flows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523E001-E715-492C-8ADC-FB00AEBBD8D7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05301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EB15571-A52C-421B-B0DF-F696B3259F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32893B-C0C2-409A-8FA0-5A18A4FF82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B0965-958E-40F7-B32E-BBA521FCA65D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9947C3-3C53-46A0-810D-0F63EF53A7B0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FC50-68E3-40C9-B3F3-9E1ABF65B089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33C1EB-A603-41EF-BD28-BDB3F8830BDA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4D0C73-85C5-42F4-B102-27BC12B3F1F7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6766E9-F4F8-4AD4-B0A5-E7333ED8AF16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2930CE-3408-4A11-A748-4E29BCB86F6C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9134EE-CA0E-4274-980D-18EC31AC4935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2430F4-9667-4D12-ADBE-72E21096C8A9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954555-1DCA-4298-BFCB-BC22547B3F62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934676-DD3D-4850-9F5B-101F002E28A0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478F2A-0E2C-4C70-A4B4-5C70F42F3142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90E460-569B-47FB-95C3-05D7B53A22A8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A729E6-DC8A-4B51-808C-5C506B9201B0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C560F6-FFF6-49BF-93C7-8E0F04D69DD7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1445B7-873C-4E6F-B89B-6B132D8A2C5E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8E14DF-6719-44DC-A1E2-94DC81F4AB47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F502CE-A6D0-4587-B821-33FE64EB5354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1A913B-0BDB-41A3-B89D-8F0E6AB91B42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AFA26D-3530-4EF4-B7B6-6363746B4CC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D21D5E-AE9E-4581-B112-D3244B847E0B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6FD6C4D-56FA-47E2-BF50-AE93C2BEBF54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52CE99-4B32-4080-B983-64DF06CD589D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48913E-A6F8-4805-8B4C-761D5CB22309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2740DE7-4B2C-4466-AC99-7BAB695BA7F3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BE9809-51E7-40BA-8777-7A6F3CC4A9C7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355C3D-28EC-44E3-AFA1-86BAE03988E7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2D01B0-2E92-49C2-AEFA-CD4FCDE2520A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E7B7720-DEA9-413B-B707-067C1D4D148D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8A0734-DDEB-4700-B9AA-CD714CD1EA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E42CDFB-65D1-4EE3-9D4E-5BF1EB7EACF4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4C22066-A14A-4D7A-90BB-18BE2A185353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4230163-FFA7-45F0-B7F9-9B44F13EDDBF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57A697C-5004-47D8-96AB-5B85784A46E1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1F21791-BAFC-40B5-A44E-1EF099AF5E2C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DFF01E-BBFD-4024-A66E-AEF31D17B6F6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49803D9-B77D-45CB-BBB7-7CB5FC4DE2EC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DCC7EC4-FCEE-409C-B3D6-DEC7F80BC54B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7DE6FA-16EE-43CF-AD8D-290EDD0E41FC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2D6997C-A33D-41A6-B555-8567CC5C9F99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C23CF55-FAA4-4033-9067-9FCC3155CDF8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B58F407-999D-4471-8BC4-51C9DC206DA1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DE4E63B-11DA-46A7-B3DF-A3E4B3E5CE8E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7DCF909-CAB8-4A51-8AA2-5807B867DFCD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B4E3FD5-068D-4066-905C-0493821BDAF6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6E738C-BA68-40FD-BE9A-CD727E3B513B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8-marker">
            <a:extLst>
              <a:ext uri="{FF2B5EF4-FFF2-40B4-BE49-F238E27FC236}">
                <a16:creationId xmlns:a16="http://schemas.microsoft.com/office/drawing/2014/main" id="{0345992F-0339-4F97-A2FF-9A781C21F7A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8-label">
            <a:extLst>
              <a:ext uri="{FF2B5EF4-FFF2-40B4-BE49-F238E27FC236}">
                <a16:creationId xmlns:a16="http://schemas.microsoft.com/office/drawing/2014/main" id="{3D2597D7-9FD4-40AB-8264-8540113EA046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NURTURE WITHOUT EFFORT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45B334D-F887-4CF2-AD52-092720D6E2DC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286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Not-ready buyers stay warm without becoming agent admin.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F80FE1C-58E7-4F4B-8BC7-A3F92C8508D3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Automated follow-ups keep the buyer moving through useful readiness steps until a human conversation makes sense.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97A5EB-0CF8-45BD-BEEE-05D5CA8C9A00}"/>
              </a:ext>
            </a:extLst>
          </p:cNvPr>
          <p:cNvSpPr>
            <a:spLocks noGrp="1"/>
          </p:cNvSpPr>
          <p:nvPr/>
        </p:nvSpPr>
        <p:spPr>
          <a:xfrm>
            <a:off x="609600" y="3181350"/>
            <a:ext cx="2190750" cy="1581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F10B1C-1123-45C5-8A82-E8022FE8A85B}"/>
              </a:ext>
            </a:extLst>
          </p:cNvPr>
          <p:cNvSpPr>
            <a:spLocks noGrp="1"/>
          </p:cNvSpPr>
          <p:nvPr/>
        </p:nvSpPr>
        <p:spPr>
          <a:xfrm>
            <a:off x="609600" y="3181350"/>
            <a:ext cx="2190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8E2B1D4-1366-40F3-B48F-C686CE75B480}"/>
              </a:ext>
            </a:extLst>
          </p:cNvPr>
          <p:cNvSpPr>
            <a:spLocks noGrp="1"/>
          </p:cNvSpPr>
          <p:nvPr/>
        </p:nvSpPr>
        <p:spPr>
          <a:xfrm>
            <a:off x="800100" y="34480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EA5E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A5E9"/>
                </a:solidFill>
                <a:latin typeface="Aptos"/>
                <a:ea typeface="Aptos"/>
                <a:cs typeface="Aptos"/>
              </a:rPr>
              <a:t>Day 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A4DBF1F-172A-4AF2-96B8-FCE68418253F}"/>
              </a:ext>
            </a:extLst>
          </p:cNvPr>
          <p:cNvSpPr>
            <a:spLocks noGrp="1"/>
          </p:cNvSpPr>
          <p:nvPr/>
        </p:nvSpPr>
        <p:spPr>
          <a:xfrm>
            <a:off x="800100" y="37147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Enquiry captured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C39174A-4752-4D16-BFCA-EFCC50918229}"/>
              </a:ext>
            </a:extLst>
          </p:cNvPr>
          <p:cNvSpPr>
            <a:spLocks noGrp="1"/>
          </p:cNvSpPr>
          <p:nvPr/>
        </p:nvSpPr>
        <p:spPr>
          <a:xfrm>
            <a:off x="800100" y="4114800"/>
            <a:ext cx="16954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Buyer shows interest and context is stored.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EE36C9-18CD-4A7C-BA16-D3E93249218A}"/>
              </a:ext>
            </a:extLst>
          </p:cNvPr>
          <p:cNvSpPr>
            <a:spLocks noGrp="1"/>
          </p:cNvSpPr>
          <p:nvPr/>
        </p:nvSpPr>
        <p:spPr>
          <a:xfrm>
            <a:off x="2895600" y="3962400"/>
            <a:ext cx="1905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Isosceles Triangle 58">
            <a:extLst>
              <a:ext uri="{FF2B5EF4-FFF2-40B4-BE49-F238E27FC236}">
                <a16:creationId xmlns:a16="http://schemas.microsoft.com/office/drawing/2014/main" id="{6C232909-C79A-41C0-AE28-F9F19615F4CA}"/>
              </a:ext>
            </a:extLst>
          </p:cNvPr>
          <p:cNvSpPr>
            <a:spLocks noGrp="1"/>
          </p:cNvSpPr>
          <p:nvPr/>
        </p:nvSpPr>
        <p:spPr>
          <a:xfrm>
            <a:off x="3076575" y="39052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41AC35-A667-4899-B061-8F079305E184}"/>
              </a:ext>
            </a:extLst>
          </p:cNvPr>
          <p:cNvSpPr>
            <a:spLocks noGrp="1"/>
          </p:cNvSpPr>
          <p:nvPr/>
        </p:nvSpPr>
        <p:spPr>
          <a:xfrm>
            <a:off x="3352800" y="3181350"/>
            <a:ext cx="2190750" cy="1581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9283FD0-2972-451B-A22C-CF06B9EAB43F}"/>
              </a:ext>
            </a:extLst>
          </p:cNvPr>
          <p:cNvSpPr>
            <a:spLocks noGrp="1"/>
          </p:cNvSpPr>
          <p:nvPr/>
        </p:nvSpPr>
        <p:spPr>
          <a:xfrm>
            <a:off x="3352800" y="3181350"/>
            <a:ext cx="2190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5216734-AA57-48D5-92AD-2ECF263DC9D8}"/>
              </a:ext>
            </a:extLst>
          </p:cNvPr>
          <p:cNvSpPr>
            <a:spLocks noGrp="1"/>
          </p:cNvSpPr>
          <p:nvPr/>
        </p:nvSpPr>
        <p:spPr>
          <a:xfrm>
            <a:off x="3543300" y="34480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Day 2-7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C2F7FEA-290C-41AA-B9C9-68AE6B3FB19F}"/>
              </a:ext>
            </a:extLst>
          </p:cNvPr>
          <p:cNvSpPr>
            <a:spLocks noGrp="1"/>
          </p:cNvSpPr>
          <p:nvPr/>
        </p:nvSpPr>
        <p:spPr>
          <a:xfrm>
            <a:off x="3543300" y="37147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Readiness prompts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BE87184-DEC8-4B4B-8462-01965B14F7CF}"/>
              </a:ext>
            </a:extLst>
          </p:cNvPr>
          <p:cNvSpPr>
            <a:spLocks noGrp="1"/>
          </p:cNvSpPr>
          <p:nvPr/>
        </p:nvSpPr>
        <p:spPr>
          <a:xfrm>
            <a:off x="3543300" y="4114800"/>
            <a:ext cx="16954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Budget, timing, finance, and area are clarified.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A8C95AF-208F-4DAA-B2FE-13C673F117D5}"/>
              </a:ext>
            </a:extLst>
          </p:cNvPr>
          <p:cNvSpPr>
            <a:spLocks noGrp="1"/>
          </p:cNvSpPr>
          <p:nvPr/>
        </p:nvSpPr>
        <p:spPr>
          <a:xfrm>
            <a:off x="5638800" y="3962400"/>
            <a:ext cx="1905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01ADE9AC-EC76-4111-BAC1-CA5FF55BA5D4}"/>
              </a:ext>
            </a:extLst>
          </p:cNvPr>
          <p:cNvSpPr>
            <a:spLocks noGrp="1"/>
          </p:cNvSpPr>
          <p:nvPr/>
        </p:nvSpPr>
        <p:spPr>
          <a:xfrm>
            <a:off x="5819775" y="39052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ED9F2B8-87D8-4040-9783-C6A14623A22E}"/>
              </a:ext>
            </a:extLst>
          </p:cNvPr>
          <p:cNvSpPr>
            <a:spLocks noGrp="1"/>
          </p:cNvSpPr>
          <p:nvPr/>
        </p:nvSpPr>
        <p:spPr>
          <a:xfrm>
            <a:off x="6096000" y="3181350"/>
            <a:ext cx="2190750" cy="1581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F3F08F2-3EF6-4E3B-93F3-7DBD4A8442F4}"/>
              </a:ext>
            </a:extLst>
          </p:cNvPr>
          <p:cNvSpPr>
            <a:spLocks noGrp="1"/>
          </p:cNvSpPr>
          <p:nvPr/>
        </p:nvSpPr>
        <p:spPr>
          <a:xfrm>
            <a:off x="6096000" y="3181350"/>
            <a:ext cx="2190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D981B9D-7659-40DF-ABFA-BB535A47CAF4}"/>
              </a:ext>
            </a:extLst>
          </p:cNvPr>
          <p:cNvSpPr>
            <a:spLocks noGrp="1"/>
          </p:cNvSpPr>
          <p:nvPr/>
        </p:nvSpPr>
        <p:spPr>
          <a:xfrm>
            <a:off x="6286500" y="34480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Day 8-21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D22444-B3DD-42AB-BC79-3259237466D9}"/>
              </a:ext>
            </a:extLst>
          </p:cNvPr>
          <p:cNvSpPr>
            <a:spLocks noGrp="1"/>
          </p:cNvSpPr>
          <p:nvPr/>
        </p:nvSpPr>
        <p:spPr>
          <a:xfrm>
            <a:off x="6286500" y="37147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Education and reminders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E19043D-2123-46C4-98E8-A069CBC98D2E}"/>
              </a:ext>
            </a:extLst>
          </p:cNvPr>
          <p:cNvSpPr>
            <a:spLocks noGrp="1"/>
          </p:cNvSpPr>
          <p:nvPr/>
        </p:nvSpPr>
        <p:spPr>
          <a:xfrm>
            <a:off x="6286500" y="4114800"/>
            <a:ext cx="16954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Buyer gets next steps, calculators, prompts.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C2152CF-F362-4113-B56A-979082D31059}"/>
              </a:ext>
            </a:extLst>
          </p:cNvPr>
          <p:cNvSpPr>
            <a:spLocks noGrp="1"/>
          </p:cNvSpPr>
          <p:nvPr/>
        </p:nvSpPr>
        <p:spPr>
          <a:xfrm>
            <a:off x="8382000" y="3962400"/>
            <a:ext cx="190500" cy="28575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81FD982F-008A-4214-97FA-A999746EEFD8}"/>
              </a:ext>
            </a:extLst>
          </p:cNvPr>
          <p:cNvSpPr>
            <a:spLocks noGrp="1"/>
          </p:cNvSpPr>
          <p:nvPr/>
        </p:nvSpPr>
        <p:spPr>
          <a:xfrm>
            <a:off x="8562975" y="3905250"/>
            <a:ext cx="133350" cy="133350"/>
          </a:xfrm>
          <a:prstGeom prst="triangle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8AB2704-514C-4183-B711-E016C42BA06C}"/>
              </a:ext>
            </a:extLst>
          </p:cNvPr>
          <p:cNvSpPr>
            <a:spLocks noGrp="1"/>
          </p:cNvSpPr>
          <p:nvPr/>
        </p:nvSpPr>
        <p:spPr>
          <a:xfrm>
            <a:off x="8839200" y="3181350"/>
            <a:ext cx="2190750" cy="1581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E2F64BF-A4DA-4FC5-970C-053541F5D098}"/>
              </a:ext>
            </a:extLst>
          </p:cNvPr>
          <p:cNvSpPr>
            <a:spLocks noGrp="1"/>
          </p:cNvSpPr>
          <p:nvPr/>
        </p:nvSpPr>
        <p:spPr>
          <a:xfrm>
            <a:off x="8839200" y="3181350"/>
            <a:ext cx="2190750" cy="57150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534BFA5-7AA8-4F02-A909-A3B1513A7A35}"/>
              </a:ext>
            </a:extLst>
          </p:cNvPr>
          <p:cNvSpPr>
            <a:spLocks noGrp="1"/>
          </p:cNvSpPr>
          <p:nvPr/>
        </p:nvSpPr>
        <p:spPr>
          <a:xfrm>
            <a:off x="9029700" y="34480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36CD047-EEFB-46BF-8870-CEF547B225C4}"/>
              </a:ext>
            </a:extLst>
          </p:cNvPr>
          <p:cNvSpPr>
            <a:spLocks noGrp="1"/>
          </p:cNvSpPr>
          <p:nvPr/>
        </p:nvSpPr>
        <p:spPr>
          <a:xfrm>
            <a:off x="9029700" y="37147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Agent hand-off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3286CE5D-B000-4796-8087-23E08C3E90B5}"/>
              </a:ext>
            </a:extLst>
          </p:cNvPr>
          <p:cNvSpPr>
            <a:spLocks noGrp="1"/>
          </p:cNvSpPr>
          <p:nvPr/>
        </p:nvSpPr>
        <p:spPr>
          <a:xfrm>
            <a:off x="9029700" y="4114800"/>
            <a:ext cx="16954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Buyer crosses agreed readiness threshold.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3D8035-098A-4656-AC85-CC25693D071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9525000" cy="40005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4E81272-A214-4FF7-A43F-FAB94B014A0D}"/>
              </a:ext>
            </a:extLst>
          </p:cNvPr>
          <p:cNvSpPr>
            <a:spLocks noGrp="1"/>
          </p:cNvSpPr>
          <p:nvPr/>
        </p:nvSpPr>
        <p:spPr>
          <a:xfrm>
            <a:off x="1066800" y="5353050"/>
            <a:ext cx="781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rule: engage when the buyer has earned the hand-off, not when the form first arrives.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5473576-C8A5-4BEE-B544-ED60E4F1E405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714861D-2905-406D-980E-3164A82D0A1F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8473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88">
            <a:extLst>
              <a:ext uri="{FF2B5EF4-FFF2-40B4-BE49-F238E27FC236}">
                <a16:creationId xmlns:a16="http://schemas.microsoft.com/office/drawing/2014/main" id="{536F433A-CCDD-4C26-B777-D75BF8ED6E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1E3D3-B08D-49D5-89C2-6C4A6D9E08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2C4A5A-19FE-46F7-8FCD-38F143FF770A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F3D15E-F8AA-4EE2-8110-89E72EE27565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1DE54-A56D-4123-85C9-799B6ADFB5D5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749EE4-EB8B-467C-888F-79DF2DA33A8C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D9A90-E75E-4BAD-9A3A-E6DB5DEB8CB5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67D3D3-98D4-47F0-A2D0-8CCA637981F8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A8E85-D4A1-4244-87AA-D2A8377C8526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802FD7-FAB0-4CB3-9EB9-EDC610A432C0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0B0644-5D98-45B7-A02F-5D52E5B6EA09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AA44E6-B82E-43D9-A848-864A73056819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9F157C-D189-4B9A-AF31-B36E0A7AD967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67EC14-846F-482D-9FEA-5ED32B7A8DB4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888DA0-08F7-4569-92D1-93823DCC78A6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375188-3DB4-4283-9AF6-CAC6F9A75F29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1BBB37-5E28-4ACE-A3DD-615252810326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2A0328-50C4-4C19-8B5D-58574F465A93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34FD1A-0FE9-44A9-9878-2060C57C2F04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235016-F031-4BC8-98F3-C667C037F47D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1E9BA2-207A-4DE6-9337-E63BFF2E83FC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C025B-133D-43D6-A42D-A04661F55EFE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7708F2-947F-44C5-9400-44A1764BC2E5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F0A255-C2DA-4FEE-8038-077EFCA9CAD6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2E448A6-166D-43DD-AC27-774882FB9692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BFEF54-59B6-4B62-8940-1E095C1A6E2F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5036CB-55B7-4798-A44D-82CB46B7D9A5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BF5936F-0DF9-4E9E-9BD9-4BB1E0D0966E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0F2904-CCBF-433F-A68E-BDBC93FAECE6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E7118F-5C63-46BD-A470-684904B0D01B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3B1A4FA-C7AC-4623-9E6F-8AC7F9131179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5DD825-AE62-41B0-B4B6-3EC0E5A88B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4DE6C1-6537-4210-9EE8-3D1288C1C40C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12CEBF8-EA5D-4C0C-97D4-A18AC25F48C2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3D3EBAC-55CC-46DB-9C75-E284D35C848F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825ED55-A248-4105-99C6-7F1E7A852EA7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F3A9EF-97C6-439F-AF15-EB776423A2A7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66A042-2E20-4697-9F7A-71C982DE341A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F3D4D52-7277-4205-A318-58C2AE3A3287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B46E30-406A-4665-B934-1409B22199EF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13D2CC-5F2D-4C82-A0D7-47B4EF136AF1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62090D6-5BA5-431E-A3AF-01B96B5954E5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2213B92-EF73-40BB-99D3-89E458BB6CE5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3ABF086-9320-4035-BCC0-7C868E969A5F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1E859AE-E9CC-43FE-AFEC-978BA2D02E4B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695341-E5B1-40BB-83D9-2C280CF8533D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C6832EC-2D74-4934-8921-210E65668030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1338C68-C431-419E-823E-D8BD94F00D98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9-marker">
            <a:extLst>
              <a:ext uri="{FF2B5EF4-FFF2-40B4-BE49-F238E27FC236}">
                <a16:creationId xmlns:a16="http://schemas.microsoft.com/office/drawing/2014/main" id="{36211775-189D-423D-B15F-3DA544203E53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9-label">
            <a:extLst>
              <a:ext uri="{FF2B5EF4-FFF2-40B4-BE49-F238E27FC236}">
                <a16:creationId xmlns:a16="http://schemas.microsoft.com/office/drawing/2014/main" id="{E4591B54-40C9-4FFB-A043-3D18A5F59324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AGENT ACTION SURFACE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4F5E19-9C3E-4897-9CFD-43FE5BD62BD6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382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The dashboard turns readiness into a daily action queue.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9A6AAA5-1C44-4307-BDFD-E14E31B0E143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Agents see listings, lead stages, readiness status, and next best action in one focused operating surface.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CFE6CF-D6E9-439D-AAF4-5828CE16E0DF}"/>
              </a:ext>
            </a:extLst>
          </p:cNvPr>
          <p:cNvSpPr>
            <a:spLocks noGrp="1"/>
          </p:cNvSpPr>
          <p:nvPr/>
        </p:nvSpPr>
        <p:spPr>
          <a:xfrm>
            <a:off x="742950" y="2724150"/>
            <a:ext cx="9906000" cy="2914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C728B0-BCFB-470B-B1FD-1AF24E6EA9BC}"/>
              </a:ext>
            </a:extLst>
          </p:cNvPr>
          <p:cNvSpPr>
            <a:spLocks noGrp="1"/>
          </p:cNvSpPr>
          <p:nvPr/>
        </p:nvSpPr>
        <p:spPr>
          <a:xfrm>
            <a:off x="742950" y="2724150"/>
            <a:ext cx="9906000" cy="4572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9B7E6B5-567F-4077-8911-59000F09EBCF}"/>
              </a:ext>
            </a:extLst>
          </p:cNvPr>
          <p:cNvSpPr>
            <a:spLocks noGrp="1"/>
          </p:cNvSpPr>
          <p:nvPr/>
        </p:nvSpPr>
        <p:spPr>
          <a:xfrm>
            <a:off x="1009650" y="28575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Dashboard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FE732E-80AD-4720-8F3D-DE13E7F00268}"/>
              </a:ext>
            </a:extLst>
          </p:cNvPr>
          <p:cNvSpPr>
            <a:spLocks noGrp="1"/>
          </p:cNvSpPr>
          <p:nvPr/>
        </p:nvSpPr>
        <p:spPr>
          <a:xfrm>
            <a:off x="1028700" y="3429000"/>
            <a:ext cx="1200150" cy="666750"/>
          </a:xfrm>
          <a:prstGeom prst="rect">
            <a:avLst/>
          </a:prstGeom>
          <a:solidFill>
            <a:srgbClr val="F8FAFC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324929-9000-4936-930E-0D0E56B52CA5}"/>
              </a:ext>
            </a:extLst>
          </p:cNvPr>
          <p:cNvSpPr>
            <a:spLocks noGrp="1"/>
          </p:cNvSpPr>
          <p:nvPr/>
        </p:nvSpPr>
        <p:spPr>
          <a:xfrm>
            <a:off x="1181100" y="3543300"/>
            <a:ext cx="800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Listings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CD10F69-9631-4380-A138-A51601C5F642}"/>
              </a:ext>
            </a:extLst>
          </p:cNvPr>
          <p:cNvSpPr>
            <a:spLocks noGrp="1"/>
          </p:cNvSpPr>
          <p:nvPr/>
        </p:nvSpPr>
        <p:spPr>
          <a:xfrm>
            <a:off x="1181100" y="3771900"/>
            <a:ext cx="762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EA5E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EA5E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E4AA724-1762-4C2B-9D63-E74EBC97C272}"/>
              </a:ext>
            </a:extLst>
          </p:cNvPr>
          <p:cNvSpPr>
            <a:spLocks noGrp="1"/>
          </p:cNvSpPr>
          <p:nvPr/>
        </p:nvSpPr>
        <p:spPr>
          <a:xfrm>
            <a:off x="2457450" y="3429000"/>
            <a:ext cx="1200150" cy="666750"/>
          </a:xfrm>
          <a:prstGeom prst="rect">
            <a:avLst/>
          </a:prstGeom>
          <a:solidFill>
            <a:srgbClr val="F8FAFC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88ED38E-1BE4-409D-8DD8-595B18F4B9B1}"/>
              </a:ext>
            </a:extLst>
          </p:cNvPr>
          <p:cNvSpPr>
            <a:spLocks noGrp="1"/>
          </p:cNvSpPr>
          <p:nvPr/>
        </p:nvSpPr>
        <p:spPr>
          <a:xfrm>
            <a:off x="2609850" y="3543300"/>
            <a:ext cx="800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Leads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67D4AAD-F8A2-431E-8266-3EABBEFF08AB}"/>
              </a:ext>
            </a:extLst>
          </p:cNvPr>
          <p:cNvSpPr>
            <a:spLocks noGrp="1"/>
          </p:cNvSpPr>
          <p:nvPr/>
        </p:nvSpPr>
        <p:spPr>
          <a:xfrm>
            <a:off x="2609850" y="3771900"/>
            <a:ext cx="762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E74A9C9-73F7-4E14-94BC-96E3CDB68AE8}"/>
              </a:ext>
            </a:extLst>
          </p:cNvPr>
          <p:cNvSpPr>
            <a:spLocks noGrp="1"/>
          </p:cNvSpPr>
          <p:nvPr/>
        </p:nvSpPr>
        <p:spPr>
          <a:xfrm>
            <a:off x="3886200" y="3429000"/>
            <a:ext cx="1200150" cy="666750"/>
          </a:xfrm>
          <a:prstGeom prst="rect">
            <a:avLst/>
          </a:prstGeom>
          <a:solidFill>
            <a:srgbClr val="F8FAFC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5EEE930-59B1-4FA1-8057-5D2CC84C2883}"/>
              </a:ext>
            </a:extLst>
          </p:cNvPr>
          <p:cNvSpPr>
            <a:spLocks noGrp="1"/>
          </p:cNvSpPr>
          <p:nvPr/>
        </p:nvSpPr>
        <p:spPr>
          <a:xfrm>
            <a:off x="4038600" y="3543300"/>
            <a:ext cx="800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73D9593-BD8E-4C72-A6D4-C95546B95EA5}"/>
              </a:ext>
            </a:extLst>
          </p:cNvPr>
          <p:cNvSpPr>
            <a:spLocks noGrp="1"/>
          </p:cNvSpPr>
          <p:nvPr/>
        </p:nvSpPr>
        <p:spPr>
          <a:xfrm>
            <a:off x="4038600" y="3771900"/>
            <a:ext cx="762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8283326-4785-40BA-837A-0F010CC760F4}"/>
              </a:ext>
            </a:extLst>
          </p:cNvPr>
          <p:cNvSpPr>
            <a:spLocks noGrp="1"/>
          </p:cNvSpPr>
          <p:nvPr/>
        </p:nvSpPr>
        <p:spPr>
          <a:xfrm>
            <a:off x="5314950" y="3429000"/>
            <a:ext cx="1200150" cy="666750"/>
          </a:xfrm>
          <a:prstGeom prst="rect">
            <a:avLst/>
          </a:prstGeom>
          <a:solidFill>
            <a:srgbClr val="F8FAFC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9C7F771-B5ED-443C-A01F-76C1CBD07493}"/>
              </a:ext>
            </a:extLst>
          </p:cNvPr>
          <p:cNvSpPr>
            <a:spLocks noGrp="1"/>
          </p:cNvSpPr>
          <p:nvPr/>
        </p:nvSpPr>
        <p:spPr>
          <a:xfrm>
            <a:off x="5467350" y="3543300"/>
            <a:ext cx="800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Nurturing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876CE5F-A2D7-4ECD-8BC9-FF6E94EB8EF1}"/>
              </a:ext>
            </a:extLst>
          </p:cNvPr>
          <p:cNvSpPr>
            <a:spLocks noGrp="1"/>
          </p:cNvSpPr>
          <p:nvPr/>
        </p:nvSpPr>
        <p:spPr>
          <a:xfrm>
            <a:off x="5467350" y="3771900"/>
            <a:ext cx="762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1F2F6F9-FFF9-451E-9F6B-FFCF5BE798BE}"/>
              </a:ext>
            </a:extLst>
          </p:cNvPr>
          <p:cNvSpPr>
            <a:spLocks noGrp="1"/>
          </p:cNvSpPr>
          <p:nvPr/>
        </p:nvSpPr>
        <p:spPr>
          <a:xfrm>
            <a:off x="1028700" y="4343400"/>
            <a:ext cx="5905500" cy="361950"/>
          </a:xfrm>
          <a:prstGeom prst="rect">
            <a:avLst/>
          </a:prstGeom>
          <a:solidFill>
            <a:srgbClr val="F0FDF4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B19E293-230E-4629-BA46-77DDB6B4285B}"/>
              </a:ext>
            </a:extLst>
          </p:cNvPr>
          <p:cNvSpPr>
            <a:spLocks noGrp="1"/>
          </p:cNvSpPr>
          <p:nvPr/>
        </p:nvSpPr>
        <p:spPr>
          <a:xfrm>
            <a:off x="1181100" y="443865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Ayesha R.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A296B93-99C9-468D-9BAB-1D7B6740BB40}"/>
              </a:ext>
            </a:extLst>
          </p:cNvPr>
          <p:cNvSpPr>
            <a:spLocks noGrp="1"/>
          </p:cNvSpPr>
          <p:nvPr/>
        </p:nvSpPr>
        <p:spPr>
          <a:xfrm>
            <a:off x="2686050" y="4438650"/>
            <a:ext cx="2381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Family home with garden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E3A55B6-E99D-4AEE-ABDB-0B1D824FBA82}"/>
              </a:ext>
            </a:extLst>
          </p:cNvPr>
          <p:cNvSpPr>
            <a:spLocks noGrp="1"/>
          </p:cNvSpPr>
          <p:nvPr/>
        </p:nvSpPr>
        <p:spPr>
          <a:xfrm>
            <a:off x="5581650" y="4419600"/>
            <a:ext cx="1066800" cy="209550"/>
          </a:xfrm>
          <a:prstGeom prst="rect">
            <a:avLst/>
          </a:prstGeom>
          <a:solidFill>
            <a:srgbClr val="D1FA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9502504-CE05-42C7-A5AB-C4C081FF8F58}"/>
              </a:ext>
            </a:extLst>
          </p:cNvPr>
          <p:cNvSpPr>
            <a:spLocks noGrp="1"/>
          </p:cNvSpPr>
          <p:nvPr/>
        </p:nvSpPr>
        <p:spPr>
          <a:xfrm>
            <a:off x="5676900" y="4448175"/>
            <a:ext cx="8763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40988C7-FA49-4594-96BE-97469437FC0C}"/>
              </a:ext>
            </a:extLst>
          </p:cNvPr>
          <p:cNvSpPr>
            <a:spLocks noGrp="1"/>
          </p:cNvSpPr>
          <p:nvPr/>
        </p:nvSpPr>
        <p:spPr>
          <a:xfrm>
            <a:off x="1028700" y="4705350"/>
            <a:ext cx="5905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B01B5A-659E-4BAB-A277-B0989E078D7D}"/>
              </a:ext>
            </a:extLst>
          </p:cNvPr>
          <p:cNvSpPr>
            <a:spLocks noGrp="1"/>
          </p:cNvSpPr>
          <p:nvPr/>
        </p:nvSpPr>
        <p:spPr>
          <a:xfrm>
            <a:off x="1181100" y="480060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Samantha K.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96B292D-6FD0-4C2E-AC49-745EA3749AB6}"/>
              </a:ext>
            </a:extLst>
          </p:cNvPr>
          <p:cNvSpPr>
            <a:spLocks noGrp="1"/>
          </p:cNvSpPr>
          <p:nvPr/>
        </p:nvSpPr>
        <p:spPr>
          <a:xfrm>
            <a:off x="2686050" y="4800600"/>
            <a:ext cx="2381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Lock-up-and-go townhouse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A2E1B3E-95D6-4E83-BA7A-FD20EE1FEDE8}"/>
              </a:ext>
            </a:extLst>
          </p:cNvPr>
          <p:cNvSpPr>
            <a:spLocks noGrp="1"/>
          </p:cNvSpPr>
          <p:nvPr/>
        </p:nvSpPr>
        <p:spPr>
          <a:xfrm>
            <a:off x="5581650" y="4781550"/>
            <a:ext cx="1066800" cy="209550"/>
          </a:xfrm>
          <a:prstGeom prst="rect">
            <a:avLst/>
          </a:prstGeom>
          <a:solidFill>
            <a:srgbClr val="E0F2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A6E63E7-F6EF-4BD3-8461-C41CFF1B1F96}"/>
              </a:ext>
            </a:extLst>
          </p:cNvPr>
          <p:cNvSpPr>
            <a:spLocks noGrp="1"/>
          </p:cNvSpPr>
          <p:nvPr/>
        </p:nvSpPr>
        <p:spPr>
          <a:xfrm>
            <a:off x="5676900" y="4810125"/>
            <a:ext cx="8763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EA5E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A5E9"/>
                </a:solidFill>
                <a:latin typeface="Aptos"/>
                <a:ea typeface="Aptos"/>
                <a:cs typeface="Aptos"/>
              </a:rPr>
              <a:t>Nurturing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3F4C19C-6644-4979-8CF2-9FD9F1A8D910}"/>
              </a:ext>
            </a:extLst>
          </p:cNvPr>
          <p:cNvSpPr>
            <a:spLocks noGrp="1"/>
          </p:cNvSpPr>
          <p:nvPr/>
        </p:nvSpPr>
        <p:spPr>
          <a:xfrm>
            <a:off x="1028700" y="5067300"/>
            <a:ext cx="5905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5186C7A-12D4-47DF-AE73-95391E1B9FC2}"/>
              </a:ext>
            </a:extLst>
          </p:cNvPr>
          <p:cNvSpPr>
            <a:spLocks noGrp="1"/>
          </p:cNvSpPr>
          <p:nvPr/>
        </p:nvSpPr>
        <p:spPr>
          <a:xfrm>
            <a:off x="1181100" y="516255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Thabo M.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D0069DC-60D7-4332-B751-22AA8355DBD3}"/>
              </a:ext>
            </a:extLst>
          </p:cNvPr>
          <p:cNvSpPr>
            <a:spLocks noGrp="1"/>
          </p:cNvSpPr>
          <p:nvPr/>
        </p:nvSpPr>
        <p:spPr>
          <a:xfrm>
            <a:off x="2686050" y="5162550"/>
            <a:ext cx="2381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Modern 2-bed apartment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BA71E3-7907-42B3-8C3F-378035E717C4}"/>
              </a:ext>
            </a:extLst>
          </p:cNvPr>
          <p:cNvSpPr>
            <a:spLocks noGrp="1"/>
          </p:cNvSpPr>
          <p:nvPr/>
        </p:nvSpPr>
        <p:spPr>
          <a:xfrm>
            <a:off x="5581650" y="5143500"/>
            <a:ext cx="1066800" cy="209550"/>
          </a:xfrm>
          <a:prstGeom prst="rect">
            <a:avLst/>
          </a:prstGeom>
          <a:solidFill>
            <a:srgbClr val="F1F5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E30D7E88-9E64-42B2-941C-DCE00EBB5E88}"/>
              </a:ext>
            </a:extLst>
          </p:cNvPr>
          <p:cNvSpPr>
            <a:spLocks noGrp="1"/>
          </p:cNvSpPr>
          <p:nvPr/>
        </p:nvSpPr>
        <p:spPr>
          <a:xfrm>
            <a:off x="5676900" y="5172075"/>
            <a:ext cx="8763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New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C46CAA0-BA25-409C-B9CA-F571839671F9}"/>
              </a:ext>
            </a:extLst>
          </p:cNvPr>
          <p:cNvSpPr>
            <a:spLocks noGrp="1"/>
          </p:cNvSpPr>
          <p:nvPr/>
        </p:nvSpPr>
        <p:spPr>
          <a:xfrm>
            <a:off x="7372350" y="3390900"/>
            <a:ext cx="2857500" cy="1943100"/>
          </a:xfrm>
          <a:prstGeom prst="rect">
            <a:avLst/>
          </a:prstGeom>
          <a:solidFill>
            <a:srgbClr val="F8FAFC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15A964-B0F5-4803-BEAB-2BBB44C8F519}"/>
              </a:ext>
            </a:extLst>
          </p:cNvPr>
          <p:cNvSpPr>
            <a:spLocks noGrp="1"/>
          </p:cNvSpPr>
          <p:nvPr/>
        </p:nvSpPr>
        <p:spPr>
          <a:xfrm>
            <a:off x="7620000" y="3638550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Next best action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322AD17-4EE4-4FAD-A048-47BE11D4D1DE}"/>
              </a:ext>
            </a:extLst>
          </p:cNvPr>
          <p:cNvSpPr>
            <a:spLocks noGrp="1"/>
          </p:cNvSpPr>
          <p:nvPr/>
        </p:nvSpPr>
        <p:spPr>
          <a:xfrm>
            <a:off x="7620000" y="3981450"/>
            <a:ext cx="2190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Call ready buyer with listing context, finance readiness, and timing notes.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99FA92E-8829-42F4-B70A-A7D8FC33D501}"/>
              </a:ext>
            </a:extLst>
          </p:cNvPr>
          <p:cNvSpPr>
            <a:spLocks noGrp="1"/>
          </p:cNvSpPr>
          <p:nvPr/>
        </p:nvSpPr>
        <p:spPr>
          <a:xfrm>
            <a:off x="7620000" y="4991100"/>
            <a:ext cx="2095500" cy="762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3561992-636E-42EF-8106-BDE3048CC226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agent dashboard component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4E92BB-894F-4D3D-BD73-49AC6F3C5AFC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62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B604C093-061C-4158-B834-C6F0C9A1C3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049AEB-A90D-44A1-95D6-C90C83A5F8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5F1748-2E90-4717-AE98-2171AFDFD944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7328CF-A4C3-421A-A03E-B083D9D09FE8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20FA54-AE81-45C5-9F8E-F1342CB97049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271DE7-5304-4E86-998F-1688A8135DE3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42243E-999F-4285-801F-82B2ADD4700C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B9A55-C824-48C0-9436-4DE784D169CD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18F12C-41B0-4062-AE51-B0DD6013ACD3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ED5D3C-C4FF-4EBB-BA94-D96C382FE177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1C286C-E0F8-4673-AEB8-3A9141B4136B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887EB1-C119-4843-9F49-C3533E41DA0C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0D7672-2A17-4685-B0E2-519A8FBF6DB6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E42857-B532-44C9-8B21-8742C5BFCF1C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5FB769-4807-4EA5-BDC2-47595B670807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979256-BDEF-4D0B-BBEE-4A332F170A78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8C9601-5115-4141-AFF9-E07F7F4285E4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27366F-62B2-4791-8365-CD2ABBB3B65F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9F3E28-BF9D-46ED-84EF-15E3F7935452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503B6-6C26-4AA5-927F-4CAB649C87D2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E91BEF-226B-444E-8B69-FE240DFEC5FA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4D7F46-6C7D-487E-8CC1-AF08FBD9B394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766A53-5660-400C-8687-5C3324BA01AF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2E2883-47E3-4C44-A758-2C67DE8452F0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89682B-2E70-4C21-909C-718B855BFC8B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7BC9C8-A18E-45B0-83D7-E6BC0F1AA2A1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A56037-E857-4152-8056-D032C95D7A5D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2E20EF-3B06-45C2-8A9C-BC5B6C4A201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3662F8-BD88-4346-98ED-3B93B672CD8E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12D186-8C47-4207-83E7-9C3D60518321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8B60CC-9272-47E1-A775-E9A7DAE3B282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745C602-DD1D-4321-85B6-0FA2F18CC5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702C94-629E-4A3B-85E8-B80CF500D3D6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032F96-CCAD-4BB5-9B11-1EC6A0674F91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8B40F64-B964-4A3C-AF26-85E6E13170BC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8949C97-1BBE-4517-85C4-C108AF7CAE9D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E96E37-1346-406B-BEDE-7498FE5C3718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38628B5-9651-4021-AAFD-3628ADB7658A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4031B70-FD1C-4A0C-AB10-4EB49775EFD9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494EBA-3ABA-449B-867D-1E9C6F8610FB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AE8EE2-AE37-4F68-8412-02A8DF42A182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AD68B24-A04F-4130-B9B6-AEB50349066E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CDBEA8-96E9-4DC2-8912-C60A38931D54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1677AA5-E8E6-4EB3-9DD3-FA0DB77391DB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B91EE35-5C59-40A6-B85A-A7B60C5B4415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2972E3E-412C-4CC5-8A36-B40F2E4FF255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6079B-3969-4054-B6FE-B729608ADCB4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02281F-1BC9-4B1A-B092-5F37BC84327D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0-marker">
            <a:extLst>
              <a:ext uri="{FF2B5EF4-FFF2-40B4-BE49-F238E27FC236}">
                <a16:creationId xmlns:a16="http://schemas.microsoft.com/office/drawing/2014/main" id="{A2F938D6-4692-4DF5-BD96-AA1F03DDE8B1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0-label">
            <a:extLst>
              <a:ext uri="{FF2B5EF4-FFF2-40B4-BE49-F238E27FC236}">
                <a16:creationId xmlns:a16="http://schemas.microsoft.com/office/drawing/2014/main" id="{89EAB3EA-7549-467B-9C9E-ECB39B2181CA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WORKFLOW CHANGE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326D7DB-24AB-4239-9A18-EAE898529099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858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The workflow changes from chasing to threshold-based hand-off.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8DE04D-E809-4C46-A2DC-83760E9B4311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HeyMies should slot into the agency rhythm as a preparation layer, not a new sales religion.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D7E8099-333B-450E-9428-8868583CA119}"/>
              </a:ext>
            </a:extLst>
          </p:cNvPr>
          <p:cNvSpPr>
            <a:spLocks noGrp="1"/>
          </p:cNvSpPr>
          <p:nvPr/>
        </p:nvSpPr>
        <p:spPr>
          <a:xfrm>
            <a:off x="800100" y="2895600"/>
            <a:ext cx="1143000" cy="59055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5102E-5116-4B4E-9CB5-22C8609D62DE}"/>
              </a:ext>
            </a:extLst>
          </p:cNvPr>
          <p:cNvSpPr>
            <a:spLocks noGrp="1"/>
          </p:cNvSpPr>
          <p:nvPr/>
        </p:nvSpPr>
        <p:spPr>
          <a:xfrm>
            <a:off x="990600" y="3076575"/>
            <a:ext cx="762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81CCCBD-16D6-4895-8B17-97A124E1BEA9}"/>
              </a:ext>
            </a:extLst>
          </p:cNvPr>
          <p:cNvSpPr>
            <a:spLocks noGrp="1"/>
          </p:cNvSpPr>
          <p:nvPr/>
        </p:nvSpPr>
        <p:spPr>
          <a:xfrm>
            <a:off x="2381250" y="28956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B99A653-F16E-4537-8570-E7BF504BC849}"/>
              </a:ext>
            </a:extLst>
          </p:cNvPr>
          <p:cNvSpPr>
            <a:spLocks noGrp="1"/>
          </p:cNvSpPr>
          <p:nvPr/>
        </p:nvSpPr>
        <p:spPr>
          <a:xfrm>
            <a:off x="2533650" y="30765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Enquires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39EE239-AC24-4325-AB8F-3961F8AF08E7}"/>
              </a:ext>
            </a:extLst>
          </p:cNvPr>
          <p:cNvSpPr>
            <a:spLocks noGrp="1"/>
          </p:cNvSpPr>
          <p:nvPr/>
        </p:nvSpPr>
        <p:spPr>
          <a:xfrm>
            <a:off x="4019550" y="31813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7D4E59E-6E60-4902-B610-80B780E1ACFB}"/>
              </a:ext>
            </a:extLst>
          </p:cNvPr>
          <p:cNvSpPr>
            <a:spLocks noGrp="1"/>
          </p:cNvSpPr>
          <p:nvPr/>
        </p:nvSpPr>
        <p:spPr>
          <a:xfrm>
            <a:off x="4476750" y="28956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F417A4-780D-4822-8865-4594D96238AD}"/>
              </a:ext>
            </a:extLst>
          </p:cNvPr>
          <p:cNvSpPr>
            <a:spLocks noGrp="1"/>
          </p:cNvSpPr>
          <p:nvPr/>
        </p:nvSpPr>
        <p:spPr>
          <a:xfrm>
            <a:off x="4629150" y="30765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Adds context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5B9C735-9CDE-4A86-BB43-05A172F09590}"/>
              </a:ext>
            </a:extLst>
          </p:cNvPr>
          <p:cNvSpPr>
            <a:spLocks noGrp="1"/>
          </p:cNvSpPr>
          <p:nvPr/>
        </p:nvSpPr>
        <p:spPr>
          <a:xfrm>
            <a:off x="6115050" y="31813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CBE64B1-0E63-41DB-86E3-FD0EBFDDBF64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7349DAC-FBEB-4752-B446-7CE7FC46A587}"/>
              </a:ext>
            </a:extLst>
          </p:cNvPr>
          <p:cNvSpPr>
            <a:spLocks noGrp="1"/>
          </p:cNvSpPr>
          <p:nvPr/>
        </p:nvSpPr>
        <p:spPr>
          <a:xfrm>
            <a:off x="6724650" y="30765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Completes follow-up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5B7943E-748A-4CD7-80A6-44B3BDC89714}"/>
              </a:ext>
            </a:extLst>
          </p:cNvPr>
          <p:cNvSpPr>
            <a:spLocks noGrp="1"/>
          </p:cNvSpPr>
          <p:nvPr/>
        </p:nvSpPr>
        <p:spPr>
          <a:xfrm>
            <a:off x="8210550" y="31813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E9263DD-D227-4D95-B4A1-9A7B4D4020EE}"/>
              </a:ext>
            </a:extLst>
          </p:cNvPr>
          <p:cNvSpPr>
            <a:spLocks noGrp="1"/>
          </p:cNvSpPr>
          <p:nvPr/>
        </p:nvSpPr>
        <p:spPr>
          <a:xfrm>
            <a:off x="8667750" y="28956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A4240D-91F6-4CCB-B206-2A2CF273819D}"/>
              </a:ext>
            </a:extLst>
          </p:cNvPr>
          <p:cNvSpPr>
            <a:spLocks noGrp="1"/>
          </p:cNvSpPr>
          <p:nvPr/>
        </p:nvSpPr>
        <p:spPr>
          <a:xfrm>
            <a:off x="8820150" y="30765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Speaks to agent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A530A0C-1CE1-4822-B634-C47BA01B8EFA}"/>
              </a:ext>
            </a:extLst>
          </p:cNvPr>
          <p:cNvSpPr>
            <a:spLocks noGrp="1"/>
          </p:cNvSpPr>
          <p:nvPr/>
        </p:nvSpPr>
        <p:spPr>
          <a:xfrm>
            <a:off x="800100" y="3714750"/>
            <a:ext cx="1143000" cy="5905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BACE09C-2C9B-49C8-BAC6-4089B595F9A0}"/>
              </a:ext>
            </a:extLst>
          </p:cNvPr>
          <p:cNvSpPr>
            <a:spLocks noGrp="1"/>
          </p:cNvSpPr>
          <p:nvPr/>
        </p:nvSpPr>
        <p:spPr>
          <a:xfrm>
            <a:off x="990600" y="3895725"/>
            <a:ext cx="762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HeyMies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6EED966-7214-48ED-8442-084DF5FDE3DA}"/>
              </a:ext>
            </a:extLst>
          </p:cNvPr>
          <p:cNvSpPr>
            <a:spLocks noGrp="1"/>
          </p:cNvSpPr>
          <p:nvPr/>
        </p:nvSpPr>
        <p:spPr>
          <a:xfrm>
            <a:off x="2381250" y="3714750"/>
            <a:ext cx="1524000" cy="5905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0A53FBD-2D8E-4AEF-BDFC-7D1586D92BE7}"/>
              </a:ext>
            </a:extLst>
          </p:cNvPr>
          <p:cNvSpPr>
            <a:spLocks noGrp="1"/>
          </p:cNvSpPr>
          <p:nvPr/>
        </p:nvSpPr>
        <p:spPr>
          <a:xfrm>
            <a:off x="2533650" y="389572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Captures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6C9833A-24BD-4ED2-91E7-9F92F3D76E99}"/>
              </a:ext>
            </a:extLst>
          </p:cNvPr>
          <p:cNvSpPr>
            <a:spLocks noGrp="1"/>
          </p:cNvSpPr>
          <p:nvPr/>
        </p:nvSpPr>
        <p:spPr>
          <a:xfrm>
            <a:off x="4019550" y="400050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785CAC1-511F-40D6-A37D-3E769A9783F5}"/>
              </a:ext>
            </a:extLst>
          </p:cNvPr>
          <p:cNvSpPr>
            <a:spLocks noGrp="1"/>
          </p:cNvSpPr>
          <p:nvPr/>
        </p:nvSpPr>
        <p:spPr>
          <a:xfrm>
            <a:off x="4476750" y="3714750"/>
            <a:ext cx="1524000" cy="5905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D33347E-BB2B-4A6D-90AC-6BF365E4E8B3}"/>
              </a:ext>
            </a:extLst>
          </p:cNvPr>
          <p:cNvSpPr>
            <a:spLocks noGrp="1"/>
          </p:cNvSpPr>
          <p:nvPr/>
        </p:nvSpPr>
        <p:spPr>
          <a:xfrm>
            <a:off x="4629150" y="389572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Scores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583AA97-BE42-4B3F-B47F-02FB5291D127}"/>
              </a:ext>
            </a:extLst>
          </p:cNvPr>
          <p:cNvSpPr>
            <a:spLocks noGrp="1"/>
          </p:cNvSpPr>
          <p:nvPr/>
        </p:nvSpPr>
        <p:spPr>
          <a:xfrm>
            <a:off x="6115050" y="400050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7A89A9B-7873-46D4-84EB-D0E58D230610}"/>
              </a:ext>
            </a:extLst>
          </p:cNvPr>
          <p:cNvSpPr>
            <a:spLocks noGrp="1"/>
          </p:cNvSpPr>
          <p:nvPr/>
        </p:nvSpPr>
        <p:spPr>
          <a:xfrm>
            <a:off x="6572250" y="3714750"/>
            <a:ext cx="1524000" cy="5905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F672C0-954E-4DA0-BC14-DF31BDA3A2DB}"/>
              </a:ext>
            </a:extLst>
          </p:cNvPr>
          <p:cNvSpPr>
            <a:spLocks noGrp="1"/>
          </p:cNvSpPr>
          <p:nvPr/>
        </p:nvSpPr>
        <p:spPr>
          <a:xfrm>
            <a:off x="6724650" y="389572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Nurtures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7988AFE-771C-443F-B36A-8F4C3FE8F33C}"/>
              </a:ext>
            </a:extLst>
          </p:cNvPr>
          <p:cNvSpPr>
            <a:spLocks noGrp="1"/>
          </p:cNvSpPr>
          <p:nvPr/>
        </p:nvSpPr>
        <p:spPr>
          <a:xfrm>
            <a:off x="8210550" y="400050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A322C18-B3C2-4709-9E38-ED91E8289E8D}"/>
              </a:ext>
            </a:extLst>
          </p:cNvPr>
          <p:cNvSpPr>
            <a:spLocks noGrp="1"/>
          </p:cNvSpPr>
          <p:nvPr/>
        </p:nvSpPr>
        <p:spPr>
          <a:xfrm>
            <a:off x="8667750" y="3714750"/>
            <a:ext cx="1524000" cy="5905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7D349BD-FF49-43CF-8994-026CF4755A16}"/>
              </a:ext>
            </a:extLst>
          </p:cNvPr>
          <p:cNvSpPr>
            <a:spLocks noGrp="1"/>
          </p:cNvSpPr>
          <p:nvPr/>
        </p:nvSpPr>
        <p:spPr>
          <a:xfrm>
            <a:off x="8820150" y="389572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Routes with notes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7BC06D3-6DAC-4CF7-ABF9-498B570BECB4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1143000" cy="59055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0F1FA92-96AB-4D88-B958-D512B8A25499}"/>
              </a:ext>
            </a:extLst>
          </p:cNvPr>
          <p:cNvSpPr>
            <a:spLocks noGrp="1"/>
          </p:cNvSpPr>
          <p:nvPr/>
        </p:nvSpPr>
        <p:spPr>
          <a:xfrm>
            <a:off x="990600" y="4714875"/>
            <a:ext cx="762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9D91D77-C5E3-4A58-964D-20DAA645C3C4}"/>
              </a:ext>
            </a:extLst>
          </p:cNvPr>
          <p:cNvSpPr>
            <a:spLocks noGrp="1"/>
          </p:cNvSpPr>
          <p:nvPr/>
        </p:nvSpPr>
        <p:spPr>
          <a:xfrm>
            <a:off x="2381250" y="45339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59D5710-9DFF-4915-8B82-E970CC29710C}"/>
              </a:ext>
            </a:extLst>
          </p:cNvPr>
          <p:cNvSpPr>
            <a:spLocks noGrp="1"/>
          </p:cNvSpPr>
          <p:nvPr/>
        </p:nvSpPr>
        <p:spPr>
          <a:xfrm>
            <a:off x="2533650" y="47148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No chase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2450121-8132-4BE9-A21C-905E8FC419F2}"/>
              </a:ext>
            </a:extLst>
          </p:cNvPr>
          <p:cNvSpPr>
            <a:spLocks noGrp="1"/>
          </p:cNvSpPr>
          <p:nvPr/>
        </p:nvSpPr>
        <p:spPr>
          <a:xfrm>
            <a:off x="4019550" y="48196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89F7071-9DA2-46DA-B410-325AE75AD175}"/>
              </a:ext>
            </a:extLst>
          </p:cNvPr>
          <p:cNvSpPr>
            <a:spLocks noGrp="1"/>
          </p:cNvSpPr>
          <p:nvPr/>
        </p:nvSpPr>
        <p:spPr>
          <a:xfrm>
            <a:off x="4476750" y="45339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3A04624-3F78-430D-90A0-DCF34102091F}"/>
              </a:ext>
            </a:extLst>
          </p:cNvPr>
          <p:cNvSpPr>
            <a:spLocks noGrp="1"/>
          </p:cNvSpPr>
          <p:nvPr/>
        </p:nvSpPr>
        <p:spPr>
          <a:xfrm>
            <a:off x="4629150" y="47148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Monitors queue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71E5B86-15D7-4133-83D3-9C8FC1A44F1B}"/>
              </a:ext>
            </a:extLst>
          </p:cNvPr>
          <p:cNvSpPr>
            <a:spLocks noGrp="1"/>
          </p:cNvSpPr>
          <p:nvPr/>
        </p:nvSpPr>
        <p:spPr>
          <a:xfrm>
            <a:off x="6115050" y="48196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1556227-D992-417A-92BF-319D94AC6581}"/>
              </a:ext>
            </a:extLst>
          </p:cNvPr>
          <p:cNvSpPr>
            <a:spLocks noGrp="1"/>
          </p:cNvSpPr>
          <p:nvPr/>
        </p:nvSpPr>
        <p:spPr>
          <a:xfrm>
            <a:off x="6572250" y="45339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1880C64-1360-40FB-8BE6-AE09E6A7EB1F}"/>
              </a:ext>
            </a:extLst>
          </p:cNvPr>
          <p:cNvSpPr>
            <a:spLocks noGrp="1"/>
          </p:cNvSpPr>
          <p:nvPr/>
        </p:nvSpPr>
        <p:spPr>
          <a:xfrm>
            <a:off x="6724650" y="47148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Calls ready buyer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7B4E680-52D2-4CCB-ABD7-51CB22709949}"/>
              </a:ext>
            </a:extLst>
          </p:cNvPr>
          <p:cNvSpPr>
            <a:spLocks noGrp="1"/>
          </p:cNvSpPr>
          <p:nvPr/>
        </p:nvSpPr>
        <p:spPr>
          <a:xfrm>
            <a:off x="8210550" y="4819650"/>
            <a:ext cx="285750" cy="19050"/>
          </a:xfrm>
          <a:prstGeom prst="rect">
            <a:avLst/>
          </a:prstGeom>
          <a:solidFill>
            <a:srgbClr val="94A3B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2BE723E-8E54-4599-B3B6-2083BF98E565}"/>
              </a:ext>
            </a:extLst>
          </p:cNvPr>
          <p:cNvSpPr>
            <a:spLocks noGrp="1"/>
          </p:cNvSpPr>
          <p:nvPr/>
        </p:nvSpPr>
        <p:spPr>
          <a:xfrm>
            <a:off x="8667750" y="4533900"/>
            <a:ext cx="1524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167CD3F-7B0F-41FE-9F0F-B77A69EC6934}"/>
              </a:ext>
            </a:extLst>
          </p:cNvPr>
          <p:cNvSpPr>
            <a:spLocks noGrp="1"/>
          </p:cNvSpPr>
          <p:nvPr/>
        </p:nvSpPr>
        <p:spPr>
          <a:xfrm>
            <a:off x="8820150" y="4714875"/>
            <a:ext cx="1219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Books next step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65DC3D3-DDAA-4666-A253-EEB7BB91BF52}"/>
              </a:ext>
            </a:extLst>
          </p:cNvPr>
          <p:cNvSpPr>
            <a:spLocks noGrp="1"/>
          </p:cNvSpPr>
          <p:nvPr/>
        </p:nvSpPr>
        <p:spPr>
          <a:xfrm>
            <a:off x="8667750" y="2609850"/>
            <a:ext cx="1524000" cy="19050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FED4A95-B95B-4894-9A0F-C0EA4607C6FD}"/>
              </a:ext>
            </a:extLst>
          </p:cNvPr>
          <p:cNvSpPr>
            <a:spLocks noGrp="1"/>
          </p:cNvSpPr>
          <p:nvPr/>
        </p:nvSpPr>
        <p:spPr>
          <a:xfrm>
            <a:off x="8763000" y="2647950"/>
            <a:ext cx="133350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HAND-OFF THRESHOLD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B3408D1-5798-45CF-AC3F-FE03F2C31F71}"/>
              </a:ext>
            </a:extLst>
          </p:cNvPr>
          <p:cNvSpPr>
            <a:spLocks noGrp="1"/>
          </p:cNvSpPr>
          <p:nvPr/>
        </p:nvSpPr>
        <p:spPr>
          <a:xfrm>
            <a:off x="857250" y="5581650"/>
            <a:ext cx="847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The agency decides what counts as ready, what stays in nurture, and what is ignored.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46195B3F-4E46-458A-8B2B-14094152C1CD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EDB5315-0DC8-4622-88DF-A1A0368CD14B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2554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A8FF8985-B95A-4BD7-A7F7-BE6627CBB6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B54B6F-6AEE-4680-B060-942AF04F58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8772A6-D932-474B-8655-3364B766DE95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D3053E-F616-442C-9973-980D148AECE1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2563E5-A7ED-43F1-AED6-768DB082EA08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61F18-A2C6-4945-BA0A-093B5E78148B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0B8921-3BC5-4BE2-B4D0-92DDBE656E97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E4D4C2-5CC7-4215-927A-A479E4B7D6FC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7CDA3-3B5C-4769-A736-50499D589760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78E58B-1397-4ED9-8797-78D3DFD1760A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930688-4E70-4F94-A284-4DF9C8C84C16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26E611-1EEC-4F55-B287-9C0A1ECC672F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C431B-BFAF-483A-98FD-3421FF6F9CA6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14E157-A742-487E-B211-F3006D30D25B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D3B1DD-2DFA-4E66-A44F-EB7DF5251C0D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F30F41-F0DF-4E74-B33A-31AAD4CA819E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071277-9975-4129-AF0F-9977B243F2BE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778501-3B08-4BD9-BC36-8D6E7A2F06A5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3F419F-681B-492D-AE98-7DB1843D319D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6DF866-F03D-473B-95AD-3C37770578E3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E78CF4-4942-4BDA-8938-DEB48CC5416F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73A778-B2D0-4401-BF62-C34C83ADF99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66E8FD-1518-412A-A7B1-B93D65F390C6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6B3288-E15C-4F83-B7DA-2A3226C9B544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3C6BB8-752A-41AC-A63C-7CEC779F94F8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8C71D-9652-454C-9A3A-80215D06DF42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F81135-9609-411A-BDCD-D1550330E8EC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8A2991-088E-4B03-88C6-BBFD5F63AAAF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5AE4B8-204E-4E07-8A0E-625E5985081F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192AB8-8565-4BAB-BF05-89C31BC8B7C1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6573EE-7D64-4FE5-A2DE-6E5A9B319658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D23193-2519-421A-8D6D-BA4AE13B8F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43A70AA-6CAF-44AC-A1DB-D2F97D9FACBE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3335F74-2C54-4256-A094-B7CA1D247764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97FDB0-DEA6-47D2-BA8D-3EBFECBFBAEE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B63611-E426-4FED-8478-37FA37BA3C45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984E74-1AED-4BFC-B325-02C29DCB69BE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E519DC-7986-49FE-896E-220438B5071B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C00C4B5-5942-469B-834A-89C5E2053524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6A80B08-0476-4885-A5B2-BA5FEAE70F70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58A10C-B970-4C72-AFF1-A52CA09BAD3E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7F65630-82B1-419B-9281-3EDB7C65CF53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98597E2-B849-4FFE-82CC-9CFE0A699B55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F18C08-21C4-48A3-B73B-A237FCE85000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411FE8-1291-4E68-B169-A00B7E1E93D3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3CE90B7-2AA4-461A-9F39-6FE3FC565A84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4C10609-3633-43EF-A08C-4FB27F4D6313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7726D9B-2D4C-47FF-9E35-94226C4B37D6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1-marker">
            <a:extLst>
              <a:ext uri="{FF2B5EF4-FFF2-40B4-BE49-F238E27FC236}">
                <a16:creationId xmlns:a16="http://schemas.microsoft.com/office/drawing/2014/main" id="{D8D6880B-220A-4302-A646-B40717168987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1-label">
            <a:extLst>
              <a:ext uri="{FF2B5EF4-FFF2-40B4-BE49-F238E27FC236}">
                <a16:creationId xmlns:a16="http://schemas.microsoft.com/office/drawing/2014/main" id="{243E4ECC-7478-4747-A1EC-CAC9B78163DE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AGENCY OUTCOMES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F6C2E1-4F19-4DE3-95E8-5AFAE4704699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382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The value is operational before it is statistical.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1350511-223D-4127-AC61-311BDFC60469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715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Until pilot metrics exist, frame the benefits as workflow outcomes the agency can inspect and validate.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35E276C-344A-4B26-A2A9-83EFBBD98288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7CC2634-1DC4-449D-8817-345C41236D98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2952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C69727-8DB6-4340-865E-AA206A663A8B}"/>
              </a:ext>
            </a:extLst>
          </p:cNvPr>
          <p:cNvSpPr>
            <a:spLocks noGrp="1"/>
          </p:cNvSpPr>
          <p:nvPr/>
        </p:nvSpPr>
        <p:spPr>
          <a:xfrm>
            <a:off x="895350" y="31051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Protect agent time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43080F0-BD62-4B4D-821C-D65FDA32FDF8}"/>
              </a:ext>
            </a:extLst>
          </p:cNvPr>
          <p:cNvSpPr>
            <a:spLocks noGrp="1"/>
          </p:cNvSpPr>
          <p:nvPr/>
        </p:nvSpPr>
        <p:spPr>
          <a:xfrm>
            <a:off x="895350" y="34099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Reduce manual chasing of weak or early enquiries.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693C64E-B0F9-4932-9E4E-3AEBA5B15B6E}"/>
              </a:ext>
            </a:extLst>
          </p:cNvPr>
          <p:cNvSpPr>
            <a:spLocks noGrp="1"/>
          </p:cNvSpPr>
          <p:nvPr/>
        </p:nvSpPr>
        <p:spPr>
          <a:xfrm>
            <a:off x="4210050" y="28765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AE1B50F-E116-4DB4-97E4-9EDB052B7690}"/>
              </a:ext>
            </a:extLst>
          </p:cNvPr>
          <p:cNvSpPr>
            <a:spLocks noGrp="1"/>
          </p:cNvSpPr>
          <p:nvPr/>
        </p:nvSpPr>
        <p:spPr>
          <a:xfrm>
            <a:off x="4210050" y="2876550"/>
            <a:ext cx="2952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87D92BD-35C2-4B18-B1B9-6839717761A5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Improve first-call context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ACAADA1-3187-492C-BA7F-5344AA805CE9}"/>
              </a:ext>
            </a:extLst>
          </p:cNvPr>
          <p:cNvSpPr>
            <a:spLocks noGrp="1"/>
          </p:cNvSpPr>
          <p:nvPr/>
        </p:nvSpPr>
        <p:spPr>
          <a:xfrm>
            <a:off x="4419600" y="34099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Give agents timing, finance, fit, and source notes.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2E4CDF3-A180-48F9-840B-52B01F217F58}"/>
              </a:ext>
            </a:extLst>
          </p:cNvPr>
          <p:cNvSpPr>
            <a:spLocks noGrp="1"/>
          </p:cNvSpPr>
          <p:nvPr/>
        </p:nvSpPr>
        <p:spPr>
          <a:xfrm>
            <a:off x="7734300" y="28765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8A19F8F-D74B-49A4-9A52-FB0ED2D6B23B}"/>
              </a:ext>
            </a:extLst>
          </p:cNvPr>
          <p:cNvSpPr>
            <a:spLocks noGrp="1"/>
          </p:cNvSpPr>
          <p:nvPr/>
        </p:nvSpPr>
        <p:spPr>
          <a:xfrm>
            <a:off x="7734300" y="2876550"/>
            <a:ext cx="2952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000662-CC0E-4E35-A286-1E5F953CE967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Reduce manual follow-up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8682019-72D5-43D3-BF7E-13A239F96CBC}"/>
              </a:ext>
            </a:extLst>
          </p:cNvPr>
          <p:cNvSpPr>
            <a:spLocks noGrp="1"/>
          </p:cNvSpPr>
          <p:nvPr/>
        </p:nvSpPr>
        <p:spPr>
          <a:xfrm>
            <a:off x="7943850" y="34099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Let automation handle not-yet-ready buyers.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DDD41E7-CECC-4B6D-8553-66B9EF0F554F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B37A86-462E-40C6-B5B0-42C3F69F4987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2952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30786-F730-4B56-BAC5-FFFA97135145}"/>
              </a:ext>
            </a:extLst>
          </p:cNvPr>
          <p:cNvSpPr>
            <a:spLocks noGrp="1"/>
          </p:cNvSpPr>
          <p:nvPr/>
        </p:nvSpPr>
        <p:spPr>
          <a:xfrm>
            <a:off x="895350" y="44005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Build a warmer database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99C4DC2-7FB7-453B-AB70-F6475944F683}"/>
              </a:ext>
            </a:extLst>
          </p:cNvPr>
          <p:cNvSpPr>
            <a:spLocks noGrp="1"/>
          </p:cNvSpPr>
          <p:nvPr/>
        </p:nvSpPr>
        <p:spPr>
          <a:xfrm>
            <a:off x="895350" y="47053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Keep buyers engaged until timing improves.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16AC798-05E9-4602-B1A3-8BF144408305}"/>
              </a:ext>
            </a:extLst>
          </p:cNvPr>
          <p:cNvSpPr>
            <a:spLocks noGrp="1"/>
          </p:cNvSpPr>
          <p:nvPr/>
        </p:nvSpPr>
        <p:spPr>
          <a:xfrm>
            <a:off x="4210050" y="41719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8DA762A-C76E-4625-AC81-284AB94C6384}"/>
              </a:ext>
            </a:extLst>
          </p:cNvPr>
          <p:cNvSpPr>
            <a:spLocks noGrp="1"/>
          </p:cNvSpPr>
          <p:nvPr/>
        </p:nvSpPr>
        <p:spPr>
          <a:xfrm>
            <a:off x="4210050" y="4171950"/>
            <a:ext cx="2952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1CA589-29D4-4260-BDD3-C5F1FE9E2DDD}"/>
              </a:ext>
            </a:extLst>
          </p:cNvPr>
          <p:cNvSpPr>
            <a:spLocks noGrp="1"/>
          </p:cNvSpPr>
          <p:nvPr/>
        </p:nvSpPr>
        <p:spPr>
          <a:xfrm>
            <a:off x="4419600" y="44005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Standardise readiness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C7042CA-F4BC-4A14-BA5E-9FC72BBB8ACF}"/>
              </a:ext>
            </a:extLst>
          </p:cNvPr>
          <p:cNvSpPr>
            <a:spLocks noGrp="1"/>
          </p:cNvSpPr>
          <p:nvPr/>
        </p:nvSpPr>
        <p:spPr>
          <a:xfrm>
            <a:off x="4419600" y="47053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Create a shared threshold for lead hand-off.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2A9277-880F-4444-A719-CAFE7C4081FA}"/>
              </a:ext>
            </a:extLst>
          </p:cNvPr>
          <p:cNvSpPr>
            <a:spLocks noGrp="1"/>
          </p:cNvSpPr>
          <p:nvPr/>
        </p:nvSpPr>
        <p:spPr>
          <a:xfrm>
            <a:off x="7734300" y="417195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0BB01F-758C-493E-8908-9893413A8F64}"/>
              </a:ext>
            </a:extLst>
          </p:cNvPr>
          <p:cNvSpPr>
            <a:spLocks noGrp="1"/>
          </p:cNvSpPr>
          <p:nvPr/>
        </p:nvSpPr>
        <p:spPr>
          <a:xfrm>
            <a:off x="7734300" y="4171950"/>
            <a:ext cx="2952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6CADF78-BAD1-4EA2-BB0E-8834B3BBF504}"/>
              </a:ext>
            </a:extLst>
          </p:cNvPr>
          <p:cNvSpPr>
            <a:spLocks noGrp="1"/>
          </p:cNvSpPr>
          <p:nvPr/>
        </p:nvSpPr>
        <p:spPr>
          <a:xfrm>
            <a:off x="7943850" y="44005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Validate pricing fairly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C9E47FA-A057-42D2-8AE8-004A8FE1C90C}"/>
              </a:ext>
            </a:extLst>
          </p:cNvPr>
          <p:cNvSpPr>
            <a:spLocks noGrp="1"/>
          </p:cNvSpPr>
          <p:nvPr/>
        </p:nvSpPr>
        <p:spPr>
          <a:xfrm>
            <a:off x="7943850" y="4705350"/>
            <a:ext cx="23431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Price around proven workflow value, not guesswork.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C289317-4C66-4FB2-AD41-37E392E24988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1F95EC-1599-4D51-ADCA-C90A58537EAC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91204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3">
            <a:extLst>
              <a:ext uri="{FF2B5EF4-FFF2-40B4-BE49-F238E27FC236}">
                <a16:creationId xmlns:a16="http://schemas.microsoft.com/office/drawing/2014/main" id="{813A8EC0-3809-4AB7-874D-14AAE22E70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C61FE9-59B5-43CB-BA31-25F01B1925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4DA792-A956-463E-B65B-C3C54A8A2C6E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BB4F05-12B5-496F-9B80-DE2021007D06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0778E9-B7D2-4DCF-8606-47B79BF3D5A3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5688EE-BA20-4529-9ADC-DB80D0788B75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8556D-82CD-4D8A-8D1B-70E89C4BE0A5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21A301-F74E-4DD0-8C78-431A361869FA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06F7-DF8C-4EC3-A9BF-8DDAE05623CA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79E07A-5F35-4C3C-91D5-8BDF7A6AEDC7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BD39E5-7CA4-4451-A219-A49B2A28B430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05FA5-069A-424B-8BF3-2217E2C099AB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5EF1DC-0A26-4F50-9CBB-07EDD49E1E94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92E8F1-0D15-46AA-86AA-D358C43E1157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BEAF1D-2FEB-43B1-A9F1-8F019E6B4B28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FD5FDA-990D-4407-B8F6-84A2CCFFDF28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0F2ED7-B6F4-432B-BCFF-36108675A71E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A3D341-94E6-4967-B008-1D8E3084615B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B46800-CCC3-4071-AD1E-199CDF43E2CF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98DBA2-9C6E-4084-8193-B2D3B1B4889D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4AF017-EF99-4D00-A9A8-C23D7048E73B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0C3D7C-D054-4ADE-BF34-9E241F0DA74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19354C-159D-4DA3-8246-5E518A958187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17EB98-9496-4443-AF67-C1ECABBDBEA8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72DC17-2C0C-4D0D-8E18-075694168634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02632D-642E-402E-8A6B-7F74BA377065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5782F6-7F1C-4A0E-9621-81D21F163426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BA5B246-59AA-4665-B49C-14FEBFE99AD6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666C14-184E-40A7-8394-E95E9C928136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EEB01D7-EC8E-4C4D-8E82-26FDBBC2F7B6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761F28-2039-4225-9B96-970EAB392497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2CB76-9E3B-43A7-BAC4-E0A3361919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F089B0C-48F1-4A04-94DE-707A51803401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9F60B8-8F84-4B0B-8E12-6B1F0D88EB5E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FA9313-2EF3-4006-A1E3-CE69A81DC15D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3FE9603-E43E-4F4A-A7E9-34678A9619CD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E2CE1B-7AFB-480A-9582-170D586BF9D4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F4FAA4-EF82-4AFE-A460-9DC57B1A5238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570B35F-3E6B-4BFA-B2A7-4BE84082F3A7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C965F8-90FB-487D-95A5-6525210BECD2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7B7BA7-569D-4512-8598-CD625451DBAB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AB86CEF-6459-4702-8731-3237AFD36429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D5D2C3-BD57-482E-9D67-53B73F383941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42DDDC-ACE9-4229-A2AB-B79FBED2CF19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0AA4D74-32B0-44A6-8D59-13BA08C1A58B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BA4A1A3-5DA9-4131-B2ED-686EE7CAD883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4488F2-8453-4AE0-A315-85B0BBFE90ED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E09A40-3AA7-4AC9-BA43-476F638FB532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2-marker">
            <a:extLst>
              <a:ext uri="{FF2B5EF4-FFF2-40B4-BE49-F238E27FC236}">
                <a16:creationId xmlns:a16="http://schemas.microsoft.com/office/drawing/2014/main" id="{F360E112-5050-4F0E-AF7A-E8343D5AB2DE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2-label">
            <a:extLst>
              <a:ext uri="{FF2B5EF4-FFF2-40B4-BE49-F238E27FC236}">
                <a16:creationId xmlns:a16="http://schemas.microsoft.com/office/drawing/2014/main" id="{160CECB0-607D-4373-91AB-C5AF0DD808E0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D1FAE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1FAE5"/>
                </a:solidFill>
                <a:latin typeface="Aptos"/>
                <a:ea typeface="Aptos"/>
                <a:cs typeface="Aptos"/>
              </a:rPr>
              <a:t>COMMERCIAL MODEL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3052D5-82D8-4E0C-B32A-7F13393519CB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7429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Agencies buy readiness, not impressions.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0E9492A-DD27-4CB2-8434-B534407F1C3A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6953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The subscription should be judged by hand-off quality, saved admin time, and better prepared conversations - not raw lead volume alone.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D6C721-0EB9-4A58-93FE-50839568DDFC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4095750" cy="2057400"/>
          </a:xfrm>
          <a:prstGeom prst="rect">
            <a:avLst/>
          </a:prstGeom>
          <a:solidFill>
            <a:srgbClr val="0B1E2A"/>
          </a:solidFill>
          <a:ln w="9525">
            <a:solidFill>
              <a:srgbClr val="25526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0889AB0-361A-4300-ACE4-EA6C0E604A00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4095750" cy="66675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72CA3C5-7719-4E4C-BD5C-C2AE0478062A}"/>
              </a:ext>
            </a:extLst>
          </p:cNvPr>
          <p:cNvSpPr>
            <a:spLocks noGrp="1"/>
          </p:cNvSpPr>
          <p:nvPr/>
        </p:nvSpPr>
        <p:spPr>
          <a:xfrm>
            <a:off x="1047750" y="3352800"/>
            <a:ext cx="2952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Traditional portal logic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332E3AA-D2FD-48BD-80F5-53C0F43F49B3}"/>
              </a:ext>
            </a:extLst>
          </p:cNvPr>
          <p:cNvSpPr>
            <a:spLocks noGrp="1"/>
          </p:cNvSpPr>
          <p:nvPr/>
        </p:nvSpPr>
        <p:spPr>
          <a:xfrm>
            <a:off x="1047750" y="3886200"/>
            <a:ext cx="3048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Pay for exposure</a:t>
            </a:r>
          </a:p>
          <a:p>
            <a:pPr algn="l"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Compete on response speed</a:t>
            </a:r>
          </a:p>
          <a:p>
            <a:pPr algn="l"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Chase every enquiry</a:t>
            </a:r>
          </a:p>
          <a:p>
            <a:pPr algn="l"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Qualification risk sits with agent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5BBB9EE-D60C-435C-942F-72C5446C1B60}"/>
              </a:ext>
            </a:extLst>
          </p:cNvPr>
          <p:cNvSpPr>
            <a:spLocks noGrp="1"/>
          </p:cNvSpPr>
          <p:nvPr/>
        </p:nvSpPr>
        <p:spPr>
          <a:xfrm>
            <a:off x="6629400" y="3028950"/>
            <a:ext cx="4095750" cy="2057400"/>
          </a:xfrm>
          <a:prstGeom prst="rect">
            <a:avLst/>
          </a:prstGeom>
          <a:solidFill>
            <a:srgbClr val="10B981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5CD0D29-ACF1-4C8B-81D0-28605AFD843A}"/>
              </a:ext>
            </a:extLst>
          </p:cNvPr>
          <p:cNvSpPr>
            <a:spLocks noGrp="1"/>
          </p:cNvSpPr>
          <p:nvPr/>
        </p:nvSpPr>
        <p:spPr>
          <a:xfrm>
            <a:off x="6629400" y="3028950"/>
            <a:ext cx="409575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CC0A32-E513-428A-87A9-1C88B4BF4A21}"/>
              </a:ext>
            </a:extLst>
          </p:cNvPr>
          <p:cNvSpPr>
            <a:spLocks noGrp="1"/>
          </p:cNvSpPr>
          <p:nvPr/>
        </p:nvSpPr>
        <p:spPr>
          <a:xfrm>
            <a:off x="6896100" y="3352800"/>
            <a:ext cx="2952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HeyMies subscription logic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93967A9-7C82-420E-AC54-A691B4225BC6}"/>
              </a:ext>
            </a:extLst>
          </p:cNvPr>
          <p:cNvSpPr>
            <a:spLocks noGrp="1"/>
          </p:cNvSpPr>
          <p:nvPr/>
        </p:nvSpPr>
        <p:spPr>
          <a:xfrm>
            <a:off x="6896100" y="3886200"/>
            <a:ext cx="3048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Pay for readiness workflow</a:t>
            </a:r>
          </a:p>
          <a:p>
            <a:pPr algn="l">
              <a:defRPr sz="12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Compete on relevance</a:t>
            </a:r>
          </a:p>
          <a:p>
            <a:pPr algn="l">
              <a:defRPr sz="12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Engage when signal is strong</a:t>
            </a:r>
          </a:p>
          <a:p>
            <a:pPr algn="l">
              <a:defRPr sz="1200" b="0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F"/>
                </a:solidFill>
                <a:latin typeface="Aptos"/>
                <a:ea typeface="Aptos"/>
                <a:cs typeface="Aptos"/>
              </a:rPr>
              <a:t>Qualification work moves upstream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117236A-9F2E-4DBF-99B8-6DEEE21CD94D}"/>
              </a:ext>
            </a:extLst>
          </p:cNvPr>
          <p:cNvSpPr>
            <a:spLocks noGrp="1"/>
          </p:cNvSpPr>
          <p:nvPr/>
        </p:nvSpPr>
        <p:spPr>
          <a:xfrm>
            <a:off x="838200" y="5524500"/>
            <a:ext cx="781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Pilot pricing stays as RXXX / month until validation confirms the right package.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7052975-534F-4993-A58B-3507E8F4EC76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pricing and portal comparison copy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8966876-DAB5-4986-B4C6-5168EF2C17CF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71419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6001FA6F-3690-493E-A302-0ACC3D5518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7613CC-15BC-41A4-8F36-6E23713877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00EF7C-2D96-48A7-8207-242F6C45794C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F406E4-77DE-4A03-9354-EACBAA798D1F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ACA064-B951-4BF0-BD32-D66F0579FEBA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BB51CC-1759-4803-A2B1-005C1ADF6B63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062224-795B-408E-A1A3-57090691F153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C8F720-24B3-4DC7-9E03-626273A7ECC9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C01F4-26FC-4C3B-A0E7-E8A4A4F9A9BE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285647-16AA-4FFA-81F6-BADB7D74A510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D246BE-3B42-496B-BEEF-7AB1279CEA51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8CA290-3751-4B1B-BB13-A5896F88086C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99033B-A373-430C-9ED4-4385C0C03D17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0EB86A-63DC-4E85-B59C-7B705EFB11F3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55797C-0005-4723-96C0-B2A86C4AB6A7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48C7A5-E9B6-4858-A1D3-423EB8E9A783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889C39-EE71-4D71-9A75-97BA4401B917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7D6EE8-A46E-4A47-A3F7-DCC3A1662AD9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DAA42B-67B5-4906-8458-DAA0DAFB2A50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3A46F8-697C-48C6-A410-2B3790656DEF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D458A7-E3C3-403B-A4F8-FC6C1A098559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38277B-B6AF-4947-961B-75DDEC4672A1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9F80F92-7FE6-4CB9-89A1-EE623E61A837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795AF6-18C8-4EDD-B7DE-9B7F7507B2D5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9DD029-74D0-420D-8A93-221E14051B39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712BFD-3558-437D-ADAD-6D081FA64141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9DB833D-09BA-471B-99E8-0DC521C1DB62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13B2E5-A486-4E63-A8FA-C048655BD016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CFBA0D-5571-44AD-BD6C-7E5586CA79E8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3C54D2-09B1-47FD-8F34-7C97116B439B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B2AA98-107A-45FE-830A-0157487A80F0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B353ED-102E-410A-A16E-F81FE28A0F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28BC2B6-9206-4916-866D-76E4F88D1D87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6F1A9F2-84ED-42E0-B69B-194E675C60F2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1524342-45BB-40EF-AEC8-8F79F571A1F8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F2E607-E3E1-48A7-8688-E56BD25427EB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8111A4-D91C-4B56-92D4-90ED4E58E76C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9187143-3E18-422C-A17A-DCB9DAB4AE46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3F0E63-BA8F-429A-846C-16C9FD535A50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022EE0-4625-44CC-9B16-27C232B679EF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7B3508-64F1-42E0-BF98-4236D9B48A8E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76EBD7-2A7D-45CA-AE4C-2F23086E4242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166EA5-D65D-45EA-8331-9006684BA73E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572F5A5-4320-4381-B625-931713D8229B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06909D-A7BA-40BB-B26C-A3AC88ECF2D4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4D2FB3-C0D2-47B9-A322-B41E9E8AB9DD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CBB9043-F69E-4764-8F13-5DAA6525B79F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AB79E8-9DEA-437E-B6B3-9D930648E8C8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3-marker">
            <a:extLst>
              <a:ext uri="{FF2B5EF4-FFF2-40B4-BE49-F238E27FC236}">
                <a16:creationId xmlns:a16="http://schemas.microsoft.com/office/drawing/2014/main" id="{826480B0-C732-442A-9CD4-CE963E38423C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3-label">
            <a:extLst>
              <a:ext uri="{FF2B5EF4-FFF2-40B4-BE49-F238E27FC236}">
                <a16:creationId xmlns:a16="http://schemas.microsoft.com/office/drawing/2014/main" id="{251BFF9F-0B4C-4DFC-8559-13ED43AC54E2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PILOT OFFER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D94DEF-16D2-4974-8032-52D428F4ED68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A 90-day agency pilot keeps the ask concrete.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79A2D8A-9AA1-4534-8261-DBF1F1F78285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Start with a small, visible slice of the agency, then decide whether the hand-off quality justifies a broader rollout.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97D1C4-0DE7-4CD7-AF52-C9D22DDE2A85}"/>
              </a:ext>
            </a:extLst>
          </p:cNvPr>
          <p:cNvSpPr>
            <a:spLocks noGrp="1"/>
          </p:cNvSpPr>
          <p:nvPr/>
        </p:nvSpPr>
        <p:spPr>
          <a:xfrm>
            <a:off x="819150" y="3028950"/>
            <a:ext cx="2724150" cy="2114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09325E2-4304-4EEA-B183-4B2CC5EFF9E5}"/>
              </a:ext>
            </a:extLst>
          </p:cNvPr>
          <p:cNvSpPr>
            <a:spLocks noGrp="1"/>
          </p:cNvSpPr>
          <p:nvPr/>
        </p:nvSpPr>
        <p:spPr>
          <a:xfrm>
            <a:off x="819150" y="3028950"/>
            <a:ext cx="27241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336FDB-7010-4F9F-82CD-B945A5BE1430}"/>
              </a:ext>
            </a:extLst>
          </p:cNvPr>
          <p:cNvSpPr>
            <a:spLocks noGrp="1"/>
          </p:cNvSpPr>
          <p:nvPr/>
        </p:nvSpPr>
        <p:spPr>
          <a:xfrm>
            <a:off x="1047750" y="3371850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8D0CB7C-E261-4F68-BC6F-E62CF074E1B4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095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 branch, area, or team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Selected listings or campaigns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Clear lead ownership rules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FA10C61-D498-41EF-A231-F8EBE7F1BC20}"/>
              </a:ext>
            </a:extLst>
          </p:cNvPr>
          <p:cNvSpPr>
            <a:spLocks noGrp="1"/>
          </p:cNvSpPr>
          <p:nvPr/>
        </p:nvSpPr>
        <p:spPr>
          <a:xfrm>
            <a:off x="4191000" y="3028950"/>
            <a:ext cx="2724150" cy="2114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695CE22-901A-4CAD-A9DA-FB18BBC17C80}"/>
              </a:ext>
            </a:extLst>
          </p:cNvPr>
          <p:cNvSpPr>
            <a:spLocks noGrp="1"/>
          </p:cNvSpPr>
          <p:nvPr/>
        </p:nvSpPr>
        <p:spPr>
          <a:xfrm>
            <a:off x="4191000" y="3028950"/>
            <a:ext cx="27241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DCB22F7-4A94-4707-98EA-09797C996DF4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Cadence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3ACBD03-1009-4A0D-B30F-7E046B6E74EF}"/>
              </a:ext>
            </a:extLst>
          </p:cNvPr>
          <p:cNvSpPr>
            <a:spLocks noGrp="1"/>
          </p:cNvSpPr>
          <p:nvPr/>
        </p:nvSpPr>
        <p:spPr>
          <a:xfrm>
            <a:off x="4419600" y="3905250"/>
            <a:ext cx="2095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Weekly quality review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Agent feedback loop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Readiness threshold tuning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27FB7A-A2D0-4986-98B2-F0370283CE1A}"/>
              </a:ext>
            </a:extLst>
          </p:cNvPr>
          <p:cNvSpPr>
            <a:spLocks noGrp="1"/>
          </p:cNvSpPr>
          <p:nvPr/>
        </p:nvSpPr>
        <p:spPr>
          <a:xfrm>
            <a:off x="7562850" y="3028950"/>
            <a:ext cx="2724150" cy="2114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B420406-A1AF-4C91-B984-7D22595F1767}"/>
              </a:ext>
            </a:extLst>
          </p:cNvPr>
          <p:cNvSpPr>
            <a:spLocks noGrp="1"/>
          </p:cNvSpPr>
          <p:nvPr/>
        </p:nvSpPr>
        <p:spPr>
          <a:xfrm>
            <a:off x="7562850" y="3028950"/>
            <a:ext cx="27241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B5360C3-8A15-4F66-BF79-1A108E1E7788}"/>
              </a:ext>
            </a:extLst>
          </p:cNvPr>
          <p:cNvSpPr>
            <a:spLocks noGrp="1"/>
          </p:cNvSpPr>
          <p:nvPr/>
        </p:nvSpPr>
        <p:spPr>
          <a:xfrm>
            <a:off x="7791450" y="3371850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DE565A1-2AC7-424F-B6F6-F90C87AC3C92}"/>
              </a:ext>
            </a:extLst>
          </p:cNvPr>
          <p:cNvSpPr>
            <a:spLocks noGrp="1"/>
          </p:cNvSpPr>
          <p:nvPr/>
        </p:nvSpPr>
        <p:spPr>
          <a:xfrm>
            <a:off x="7791450" y="3905250"/>
            <a:ext cx="2095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Lead-stage queue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Nurture workflow</a:t>
            </a:r>
          </a:p>
          <a:p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Pilot readout and pricing recommendation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C2FC96-A2A1-415B-B453-2AD93286E59A}"/>
              </a:ext>
            </a:extLst>
          </p:cNvPr>
          <p:cNvSpPr>
            <a:spLocks noGrp="1"/>
          </p:cNvSpPr>
          <p:nvPr/>
        </p:nvSpPr>
        <p:spPr>
          <a:xfrm>
            <a:off x="819150" y="5562600"/>
            <a:ext cx="9467850" cy="3429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CF3C8F2-EE78-4434-A3B6-3A00DA3AECA0}"/>
              </a:ext>
            </a:extLst>
          </p:cNvPr>
          <p:cNvSpPr>
            <a:spLocks noGrp="1"/>
          </p:cNvSpPr>
          <p:nvPr/>
        </p:nvSpPr>
        <p:spPr>
          <a:xfrm>
            <a:off x="1104900" y="5638800"/>
            <a:ext cx="800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Pilot principle: prove the hand-off with one focused team before asking the whole agency to change.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E632B62-549C-44EB-8CAC-DA39E537B65B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1C20D4-20AA-4987-B2F7-A34EC84C1613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8155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0DF04822-F725-4E52-8B2F-D317E0F66F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B1ADF1-5931-4AC3-B7B6-C0E7728DD2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9E11BE-0A58-412B-AC4B-527C71279179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404A1A-AB94-4B83-A55A-8B17C50622C9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2BF19-7094-4CA9-AF0E-3DB52F05017D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5E5AE-987A-486A-B580-F9DD4DED529C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58A86-A881-44E2-8F10-60C2E51EC060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A21E33-4A58-4159-B8F1-714AF3583016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49D1D9-0B17-4444-99F4-8A47D0EA0E7A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1AD222-0B79-493D-835B-78677423FC23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BF8172-6166-4A8E-B6D1-5473D8A97061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E2F4C9-6F95-4076-8093-5D4D24E87F53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0CB189-CC4A-49E0-B26B-DFB791DA7036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A364A-88C1-4BB7-AA03-71C88C46B780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63DFD1-79E4-4881-8697-8AC4A915ACB3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83E471-E016-4770-8F09-F6FD08E9EEC8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0870C3-DAEF-46D1-9619-92B27344E487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45739C-24D1-4943-904D-61497EAB783C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694A61-9DB2-4062-85A9-8B87E796CD02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F6D2D-67FD-45E0-8BBB-450A26DEB06A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33D9BD-F2BC-439E-8F44-B96989A23C6F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FD7758-CA59-4F7F-AEA5-477148595250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AA62C5-F199-4FAE-85C2-599AC60DA83B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8D1CDF5-FC9F-42E5-A148-8E4507AA0C74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70524-94D4-445C-AE46-C7BBD3A87523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618B4A5-926C-4CFE-AD6C-3244B0A91724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714562-3EDA-41DA-A792-6BE4DDADBFAA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0D26D-4DBC-4A0A-9D3A-33219E166B2A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6E1D10-8326-4605-9A5D-12598F21CB8D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B901F48-719C-4884-9999-C267C55E541E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7D398F3-D090-4E29-BF17-3611636B4568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5E3FD1-EDFB-4011-AE34-E67697F3A7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F7204C-4CDF-45E9-AC92-4F9F6DA71E13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8F67F3C-C2CC-4480-8EF6-B4718AA0561A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F9BB38C-38F9-4B4D-AAE7-90AB408AD1DF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89ADC4-9F1E-4A57-AE0D-DE38A841FE3D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6ECFB93-E47C-42FF-99A4-D843A5C7419C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A8A868-DEC4-4854-B7C3-81B1B22B4F47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AFD9CF-6CBA-42C0-AF7D-5448CA182A58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749B04D-CC63-4B28-94C6-57CDA276AC1D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DEA53D-35DC-4C63-B01B-5ECD09970BBF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9BF78D3-8AB8-4D0C-A41C-3B8C5573B4E7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E83D632-69C6-4C52-B313-79C9C67A8108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495271-A9BD-44BA-841D-8D055B65CC8C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1111948-A0E3-489C-B1CA-361AF6C2D688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8E63D22-7E3F-4075-AF2A-EF0A4F797F57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D70FC3A-6311-4A3A-B602-C34ABEC89D6F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888437F-8341-4363-B349-837B32B2848E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4-marker">
            <a:extLst>
              <a:ext uri="{FF2B5EF4-FFF2-40B4-BE49-F238E27FC236}">
                <a16:creationId xmlns:a16="http://schemas.microsoft.com/office/drawing/2014/main" id="{3B6E7EF9-1A3B-4CFF-86D4-EC135D95C1BA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4-label">
            <a:extLst>
              <a:ext uri="{FF2B5EF4-FFF2-40B4-BE49-F238E27FC236}">
                <a16:creationId xmlns:a16="http://schemas.microsoft.com/office/drawing/2014/main" id="{6F8FA748-2274-4952-BD59-26C246A286B6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PILOT MEASUREMENT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F5CBD94-B238-4BD2-8A04-07AEFDDF31F7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191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Measure the quality of the hand-off, not just lead count.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F2B4F-64B1-402B-A736-42E38E072B64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pilot should create evidence the agency trusts: agent feedback, buyer response, readiness quality, and next-step progression.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D83998C-129A-4D16-A47E-8453D98991DD}"/>
              </a:ext>
            </a:extLst>
          </p:cNvPr>
          <p:cNvSpPr>
            <a:spLocks noGrp="1"/>
          </p:cNvSpPr>
          <p:nvPr/>
        </p:nvSpPr>
        <p:spPr>
          <a:xfrm>
            <a:off x="704850" y="291465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1F00628-2B14-4698-BADA-A5878CBE4D7A}"/>
              </a:ext>
            </a:extLst>
          </p:cNvPr>
          <p:cNvSpPr>
            <a:spLocks noGrp="1"/>
          </p:cNvSpPr>
          <p:nvPr/>
        </p:nvSpPr>
        <p:spPr>
          <a:xfrm>
            <a:off x="704850" y="2914650"/>
            <a:ext cx="2952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8592BDC-2766-492D-B832-7DBF6C5D4F44}"/>
              </a:ext>
            </a:extLst>
          </p:cNvPr>
          <p:cNvSpPr>
            <a:spLocks noGrp="1"/>
          </p:cNvSpPr>
          <p:nvPr/>
        </p:nvSpPr>
        <p:spPr>
          <a:xfrm>
            <a:off x="914400" y="312420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Hand-off acceptance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8A28C73-AA2E-42AB-84B4-FBB684495DB8}"/>
              </a:ext>
            </a:extLst>
          </p:cNvPr>
          <p:cNvSpPr>
            <a:spLocks noGrp="1"/>
          </p:cNvSpPr>
          <p:nvPr/>
        </p:nvSpPr>
        <p:spPr>
          <a:xfrm>
            <a:off x="914400" y="340995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Did agents agree the lead deserved action?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55C5D94-0086-4691-B44E-8C7D601DA3F1}"/>
              </a:ext>
            </a:extLst>
          </p:cNvPr>
          <p:cNvSpPr>
            <a:spLocks noGrp="1"/>
          </p:cNvSpPr>
          <p:nvPr/>
        </p:nvSpPr>
        <p:spPr>
          <a:xfrm>
            <a:off x="4229100" y="291465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2C6650-6383-4E13-83D5-8BA0E14AEBF4}"/>
              </a:ext>
            </a:extLst>
          </p:cNvPr>
          <p:cNvSpPr>
            <a:spLocks noGrp="1"/>
          </p:cNvSpPr>
          <p:nvPr/>
        </p:nvSpPr>
        <p:spPr>
          <a:xfrm>
            <a:off x="4229100" y="2914650"/>
            <a:ext cx="2952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1A228C-1E9B-4223-ADCF-5F8A7DD40630}"/>
              </a:ext>
            </a:extLst>
          </p:cNvPr>
          <p:cNvSpPr>
            <a:spLocks noGrp="1"/>
          </p:cNvSpPr>
          <p:nvPr/>
        </p:nvSpPr>
        <p:spPr>
          <a:xfrm>
            <a:off x="4438650" y="312420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First-call context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CEFC8F2-9433-4D09-A3E0-CE21061537D4}"/>
              </a:ext>
            </a:extLst>
          </p:cNvPr>
          <p:cNvSpPr>
            <a:spLocks noGrp="1"/>
          </p:cNvSpPr>
          <p:nvPr/>
        </p:nvSpPr>
        <p:spPr>
          <a:xfrm>
            <a:off x="4438650" y="340995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Did the notes improve the conversation?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4FF25CA-5E0E-4795-B42A-333E2309758B}"/>
              </a:ext>
            </a:extLst>
          </p:cNvPr>
          <p:cNvSpPr>
            <a:spLocks noGrp="1"/>
          </p:cNvSpPr>
          <p:nvPr/>
        </p:nvSpPr>
        <p:spPr>
          <a:xfrm>
            <a:off x="7753350" y="291465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F97A986-78C8-4C98-9C86-3422D88AE4C1}"/>
              </a:ext>
            </a:extLst>
          </p:cNvPr>
          <p:cNvSpPr>
            <a:spLocks noGrp="1"/>
          </p:cNvSpPr>
          <p:nvPr/>
        </p:nvSpPr>
        <p:spPr>
          <a:xfrm>
            <a:off x="7753350" y="2914650"/>
            <a:ext cx="2952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05504DC-2467-41D3-A97C-910C3BC3971B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Buyer response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1A69865-82B2-4E37-B0DE-E58B4D6D7AA8}"/>
              </a:ext>
            </a:extLst>
          </p:cNvPr>
          <p:cNvSpPr>
            <a:spLocks noGrp="1"/>
          </p:cNvSpPr>
          <p:nvPr/>
        </p:nvSpPr>
        <p:spPr>
          <a:xfrm>
            <a:off x="7962900" y="340995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Did nurtured buyers continue engaging?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0D0370C-CCCB-4363-842B-8EC2DFFFB599}"/>
              </a:ext>
            </a:extLst>
          </p:cNvPr>
          <p:cNvSpPr>
            <a:spLocks noGrp="1"/>
          </p:cNvSpPr>
          <p:nvPr/>
        </p:nvSpPr>
        <p:spPr>
          <a:xfrm>
            <a:off x="704850" y="415290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0ABCACF-F20E-4495-8ADD-C62214C14074}"/>
              </a:ext>
            </a:extLst>
          </p:cNvPr>
          <p:cNvSpPr>
            <a:spLocks noGrp="1"/>
          </p:cNvSpPr>
          <p:nvPr/>
        </p:nvSpPr>
        <p:spPr>
          <a:xfrm>
            <a:off x="704850" y="4152900"/>
            <a:ext cx="29527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8BE6199-0AA8-433C-B13E-E49B934DCDDF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Viewing progress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1953616-B01D-4F95-899A-9C8FDC765240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Did ready buyers move toward viewings?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B6DFB92-ED95-4873-8FDF-3893CEBB6CF8}"/>
              </a:ext>
            </a:extLst>
          </p:cNvPr>
          <p:cNvSpPr>
            <a:spLocks noGrp="1"/>
          </p:cNvSpPr>
          <p:nvPr/>
        </p:nvSpPr>
        <p:spPr>
          <a:xfrm>
            <a:off x="4229100" y="415290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D5FDB2D-FAF6-4B03-9743-EA652BC1B4E7}"/>
              </a:ext>
            </a:extLst>
          </p:cNvPr>
          <p:cNvSpPr>
            <a:spLocks noGrp="1"/>
          </p:cNvSpPr>
          <p:nvPr/>
        </p:nvSpPr>
        <p:spPr>
          <a:xfrm>
            <a:off x="4229100" y="4152900"/>
            <a:ext cx="29527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8203E9-6639-4837-B55E-DE021F05569C}"/>
              </a:ext>
            </a:extLst>
          </p:cNvPr>
          <p:cNvSpPr>
            <a:spLocks noGrp="1"/>
          </p:cNvSpPr>
          <p:nvPr/>
        </p:nvSpPr>
        <p:spPr>
          <a:xfrm>
            <a:off x="4438650" y="436245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Agent time saved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FBC9281-2C79-4ADC-8CA5-21EEE23F3017}"/>
              </a:ext>
            </a:extLst>
          </p:cNvPr>
          <p:cNvSpPr>
            <a:spLocks noGrp="1"/>
          </p:cNvSpPr>
          <p:nvPr/>
        </p:nvSpPr>
        <p:spPr>
          <a:xfrm>
            <a:off x="4438650" y="464820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Where did automation remove manual follow-up?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76FA28C-2F7E-42E9-96B5-1A196866FB23}"/>
              </a:ext>
            </a:extLst>
          </p:cNvPr>
          <p:cNvSpPr>
            <a:spLocks noGrp="1"/>
          </p:cNvSpPr>
          <p:nvPr/>
        </p:nvSpPr>
        <p:spPr>
          <a:xfrm>
            <a:off x="7753350" y="4152900"/>
            <a:ext cx="2952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CD6AF65-B53E-4317-9094-86AC90C71C10}"/>
              </a:ext>
            </a:extLst>
          </p:cNvPr>
          <p:cNvSpPr>
            <a:spLocks noGrp="1"/>
          </p:cNvSpPr>
          <p:nvPr/>
        </p:nvSpPr>
        <p:spPr>
          <a:xfrm>
            <a:off x="7753350" y="4152900"/>
            <a:ext cx="29527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21CECA-2C98-48C5-BF6E-2D86F6B8502F}"/>
              </a:ext>
            </a:extLst>
          </p:cNvPr>
          <p:cNvSpPr>
            <a:spLocks noGrp="1"/>
          </p:cNvSpPr>
          <p:nvPr/>
        </p:nvSpPr>
        <p:spPr>
          <a:xfrm>
            <a:off x="7962900" y="4362450"/>
            <a:ext cx="228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Pricing fit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1BAC461-C43A-4533-A5D0-885BE064BC31}"/>
              </a:ext>
            </a:extLst>
          </p:cNvPr>
          <p:cNvSpPr>
            <a:spLocks noGrp="1"/>
          </p:cNvSpPr>
          <p:nvPr/>
        </p:nvSpPr>
        <p:spPr>
          <a:xfrm>
            <a:off x="7962900" y="4648200"/>
            <a:ext cx="2305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What subscription package matches actual value?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FB6E929-798A-4369-B2A9-BBB0AFD7BFDB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0505120-C12A-47B0-B55E-39DCA68552CC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43192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>
            <a:extLst>
              <a:ext uri="{FF2B5EF4-FFF2-40B4-BE49-F238E27FC236}">
                <a16:creationId xmlns:a16="http://schemas.microsoft.com/office/drawing/2014/main" id="{7DA86A78-62E6-4653-A5A2-801472DC86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E323E0-679F-4DE2-9860-D50313ACBE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5211B9-073F-4567-B206-A631EC1BAEEF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45EE17-F370-4785-BAF1-6DB56361573C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845967-FCF8-4C24-B5DF-E8EBFBAA86F3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82B87-79C8-4221-954C-1A171BDBD845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EF06C9-9282-465E-A421-C618C6D71C32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E48F13-2DA4-4979-A8FE-63DEF37630DA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FCE89C-4C03-4794-B2A8-36E78BC4953F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13BAE6-2164-4AA9-BBF9-BDEA30BAFDF8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23BBD3-7AF5-4C1E-BE1C-8F3A2A0C0331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898BD7-815A-4B4D-966A-D20ED2B1F5F5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A0CC2D-0997-4874-B535-7D50399253AD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20D71C-EE05-4414-BC09-8B370FBF1FBE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BB9ED-9F15-423E-AFEA-FB69F21CB304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ED23C0-BAE5-46A2-87F8-A04BAA334877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0D1134-3E25-4B70-AE20-4787DD08A279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F3D8B2-F1D1-4234-9B0A-A54C85DE3119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7EDFFE-5D4E-4EAB-9850-6D9444F63A47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3BFBBF-6A21-4A47-8456-CD7718E9852B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E1B39-120F-4BAE-AB49-6F0D6E789F6F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A98E41-50BB-49F4-894E-899EFF0250FE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04CEC4-549E-4066-9269-D9F3C547180E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AE9272-F465-4DE0-8534-3989895A17ED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F43967-398E-4AB3-B2DA-40408587B489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C6961-3566-44EC-921B-26796CA811EB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9D6073-5F9D-4DCF-BF4E-540EF842F4F1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91B87B-5071-47E0-B750-17C499747B3C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1E832C-FB90-4046-AE1E-6DDA2B26BC18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BA67FC6-B6A8-4C76-A54B-22FDECE7BECC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32053C-88D5-4F1F-B75B-10D2BCCD6914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89FFFE-6558-4FDE-93D5-E3934B6989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DAFB0E-C0F0-4396-9DDB-F3EDA5DE6839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BFC2D7-52B9-4D2D-8E8B-CF7608553088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2D7E27C-91B0-45FF-865D-8B888CDBBDDE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DD2A6F-ADF4-4BAA-A742-34409C83F483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CE43CE-4C35-44A5-9EC1-B383CDF1D9F5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734FF0B-EAD6-415E-A2EB-DB9781F47439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E65F69-180F-4390-A48F-96B1F480B259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C937DB6-F17E-49CC-956C-ADCF35FA8D73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EC6EFB-6DEC-440B-9BD0-1187C1C9910A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0D6E094-9593-4521-ADF6-DC91A155372B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8C23180-5844-4F14-BA11-B533270D45D3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BD6641-4A37-4488-8E89-AC1579C398F1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DDAA3F4-198D-4227-A83E-80B8D4EBECAE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F95EBE7-CB82-4CD5-BE7F-A192DBA431DC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33F0819-3F9F-41F3-81AF-26A7842D7414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8ED66D4-1C1C-4542-A1FC-26383993211B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5-marker">
            <a:extLst>
              <a:ext uri="{FF2B5EF4-FFF2-40B4-BE49-F238E27FC236}">
                <a16:creationId xmlns:a16="http://schemas.microsoft.com/office/drawing/2014/main" id="{984A853B-C868-4567-AB08-9B77C9ED9E3E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5-label">
            <a:extLst>
              <a:ext uri="{FF2B5EF4-FFF2-40B4-BE49-F238E27FC236}">
                <a16:creationId xmlns:a16="http://schemas.microsoft.com/office/drawing/2014/main" id="{85A65C50-8432-4AD0-B555-32A75DEA5648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IMPLEMENTATION PLAN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37BE2BF-0383-45C2-AE45-5A662835CBD9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A simple 30 / 60 / 90 rollout gives the agency control.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FF13BE2-BE3B-4A3F-AB2A-7295CA632339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pilot should start with setup discipline, then qualify buyers, then validate the model before scaling.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B8BEBCB-76CF-46AF-851F-EFD5F21D6BE9}"/>
              </a:ext>
            </a:extLst>
          </p:cNvPr>
          <p:cNvSpPr>
            <a:spLocks noGrp="1"/>
          </p:cNvSpPr>
          <p:nvPr/>
        </p:nvSpPr>
        <p:spPr>
          <a:xfrm>
            <a:off x="876300" y="2990850"/>
            <a:ext cx="26479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60A7E13-2A9E-484A-90EB-DDE171659597}"/>
              </a:ext>
            </a:extLst>
          </p:cNvPr>
          <p:cNvSpPr>
            <a:spLocks noGrp="1"/>
          </p:cNvSpPr>
          <p:nvPr/>
        </p:nvSpPr>
        <p:spPr>
          <a:xfrm>
            <a:off x="876300" y="2990850"/>
            <a:ext cx="2647950" cy="571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59C1AEC-07D8-4D46-B9D9-14405E472C97}"/>
              </a:ext>
            </a:extLst>
          </p:cNvPr>
          <p:cNvSpPr>
            <a:spLocks noGrp="1"/>
          </p:cNvSpPr>
          <p:nvPr/>
        </p:nvSpPr>
        <p:spPr>
          <a:xfrm>
            <a:off x="1104900" y="32575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EA5E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A5E9"/>
                </a:solidFill>
                <a:latin typeface="Aptos"/>
                <a:ea typeface="Aptos"/>
                <a:cs typeface="Aptos"/>
              </a:rPr>
              <a:t>Days 1-30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485692D-A5C2-4D4B-8425-37EBCE39B933}"/>
              </a:ext>
            </a:extLst>
          </p:cNvPr>
          <p:cNvSpPr>
            <a:spLocks noGrp="1"/>
          </p:cNvSpPr>
          <p:nvPr/>
        </p:nvSpPr>
        <p:spPr>
          <a:xfrm>
            <a:off x="1104900" y="3562350"/>
            <a:ext cx="1619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01F34F4-DE42-4A03-8461-EE6EE87B8DFE}"/>
              </a:ext>
            </a:extLst>
          </p:cNvPr>
          <p:cNvSpPr>
            <a:spLocks noGrp="1"/>
          </p:cNvSpPr>
          <p:nvPr/>
        </p:nvSpPr>
        <p:spPr>
          <a:xfrm>
            <a:off x="1104900" y="4114800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Pick area and listings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Define readiness fields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Agree hand-off threshold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685BB59-A04B-4980-B274-24C0173A5B1D}"/>
              </a:ext>
            </a:extLst>
          </p:cNvPr>
          <p:cNvSpPr>
            <a:spLocks noGrp="1"/>
          </p:cNvSpPr>
          <p:nvPr/>
        </p:nvSpPr>
        <p:spPr>
          <a:xfrm>
            <a:off x="4191000" y="2990850"/>
            <a:ext cx="26479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4ADE7CE-D195-4947-916D-1CED6020B503}"/>
              </a:ext>
            </a:extLst>
          </p:cNvPr>
          <p:cNvSpPr>
            <a:spLocks noGrp="1"/>
          </p:cNvSpPr>
          <p:nvPr/>
        </p:nvSpPr>
        <p:spPr>
          <a:xfrm>
            <a:off x="4191000" y="2990850"/>
            <a:ext cx="26479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FCC841B-B053-46CF-A4F1-945408428D0A}"/>
              </a:ext>
            </a:extLst>
          </p:cNvPr>
          <p:cNvSpPr>
            <a:spLocks noGrp="1"/>
          </p:cNvSpPr>
          <p:nvPr/>
        </p:nvSpPr>
        <p:spPr>
          <a:xfrm>
            <a:off x="4419600" y="32575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Days 31-60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C915FC-90BC-43ED-847B-94B4B3BEEE41}"/>
              </a:ext>
            </a:extLst>
          </p:cNvPr>
          <p:cNvSpPr>
            <a:spLocks noGrp="1"/>
          </p:cNvSpPr>
          <p:nvPr/>
        </p:nvSpPr>
        <p:spPr>
          <a:xfrm>
            <a:off x="4419600" y="3562350"/>
            <a:ext cx="1619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Qualify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859D5FB-D832-4710-BB47-247DC6B65653}"/>
              </a:ext>
            </a:extLst>
          </p:cNvPr>
          <p:cNvSpPr>
            <a:spLocks noGrp="1"/>
          </p:cNvSpPr>
          <p:nvPr/>
        </p:nvSpPr>
        <p:spPr>
          <a:xfrm>
            <a:off x="4419600" y="4114800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Run capture and scoring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Nurture early buyers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Review agent feedback weekly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FEE6347-2192-41AB-B1E8-5668808D1160}"/>
              </a:ext>
            </a:extLst>
          </p:cNvPr>
          <p:cNvSpPr>
            <a:spLocks noGrp="1"/>
          </p:cNvSpPr>
          <p:nvPr/>
        </p:nvSpPr>
        <p:spPr>
          <a:xfrm>
            <a:off x="7505700" y="2990850"/>
            <a:ext cx="26479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A874735-45A9-4636-B389-8F13039A9967}"/>
              </a:ext>
            </a:extLst>
          </p:cNvPr>
          <p:cNvSpPr>
            <a:spLocks noGrp="1"/>
          </p:cNvSpPr>
          <p:nvPr/>
        </p:nvSpPr>
        <p:spPr>
          <a:xfrm>
            <a:off x="7505700" y="2990850"/>
            <a:ext cx="2647950" cy="571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98D28C6-3E71-4A6F-A46D-114544E02ADC}"/>
              </a:ext>
            </a:extLst>
          </p:cNvPr>
          <p:cNvSpPr>
            <a:spLocks noGrp="1"/>
          </p:cNvSpPr>
          <p:nvPr/>
        </p:nvSpPr>
        <p:spPr>
          <a:xfrm>
            <a:off x="7734300" y="32575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Days 61-90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E004D5-FB33-4122-A225-9B72F0FCBD25}"/>
              </a:ext>
            </a:extLst>
          </p:cNvPr>
          <p:cNvSpPr>
            <a:spLocks noGrp="1"/>
          </p:cNvSpPr>
          <p:nvPr/>
        </p:nvSpPr>
        <p:spPr>
          <a:xfrm>
            <a:off x="7734300" y="3562350"/>
            <a:ext cx="1619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9A7C116-BF05-4EE0-BC85-702C4A43A5F6}"/>
              </a:ext>
            </a:extLst>
          </p:cNvPr>
          <p:cNvSpPr>
            <a:spLocks noGrp="1"/>
          </p:cNvSpPr>
          <p:nvPr/>
        </p:nvSpPr>
        <p:spPr>
          <a:xfrm>
            <a:off x="7734300" y="4114800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Compare lead-stage quality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Review call outcomes</a:t>
            </a:r>
          </a:p>
          <a:p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Decide price and rollout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68BA0C7-F095-48C3-BA98-5588C7DA35B1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DF20049-62F7-4338-9C08-6CE0AFBBBB8E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57687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973D2309-F26B-4952-89C4-F66DAD6079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75B1AA-D371-4912-9DCC-C94D716CF8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667978-5F96-470A-833A-929865872F4C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3CFFB-CB68-42DD-92D3-E685D82AAFE6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9003D5-F55E-4633-B534-A35A506DF7D0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725423-B21A-47DA-A233-79B4BD0D0EF1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6D8850-D0D8-4CC8-B410-6E5B765AE10B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24B258-AA76-4E6E-A227-A96E8A9D97DE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C5B35-68DE-487E-B665-3C6E9FE891A5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6F07A8-1214-4AD3-95DF-951503988C5D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003F6D-D102-466A-84F4-AFA5F7955529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757D55-6F36-4766-A200-C5341775F8B8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710C96-18CA-43ED-BB7A-F1EF1AE7006B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76D19E-0F13-4165-AB5D-59CE478D851C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38BC07-BD1B-436E-8BE6-DAECE0391E29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AF7844-C8AE-4BBA-A6B5-535A8A0C9283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8704C0-A35E-4A1E-A7FA-A4E3365FF07F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A189D9-61C0-412D-A2FF-275C6DF48BDC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66D228-CC19-4F16-B1CE-B3B9E6032659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05EEBA-1E83-459A-A960-5E6F343E3162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37F3E8F-3868-4A95-8C9E-03BF7DAC7B64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E7A047-BB24-4C2C-9F5A-C9CCF898C8F0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F5435D-9808-41EB-953B-4ACA9571EBBD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E49B5ED-DA10-4A6B-9020-4882AC25936E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D6C543-DDC2-4668-AFBB-4BEF6D234AB4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5948C3-2DC2-4A42-84D4-59EF30291815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DBB818B-73F3-422E-8AD7-C2F4FE26C583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3E7514-4BF7-4C77-9079-03B67DD4E0C7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98C8B2-9A7F-4B1E-AE6A-30DAD55CBE50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4EB3765-D155-4233-B0A7-8EEC5B0E21F3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E415F9-AFE1-48AC-8E6D-DD50F20938DD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F91283D-21D9-4E79-9C20-448A38E87D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6B23C49-E263-456F-A679-0BD15C534EFB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FA89D9-54A7-4623-B558-6A541B1C42BD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14F0787-DDBF-40BF-A5B4-29B705E8AA4F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581CE5-BD5B-44F3-8661-80DA6D871892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D0327F-83A7-44EF-9C33-AA96E299416B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57B35A5-C1B5-433B-B148-9138219CFA1C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DB802E-0BC8-4F51-A69F-56BD0DB40A1C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E0D958-2723-4820-A9D5-1DF609CBF899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5E3BABC-5A32-4CE8-8FC5-4A0675346081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25417A-530F-439A-830D-2DDD47761161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DDD961-E18C-4619-BB42-09F24CD37AC3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D36C36-21F5-4DA5-A988-89697ED238CE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B9B7A8F-BDFD-4EFC-89F5-8C137CA1C8C8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1D9025-BE58-40F2-802B-0F4057E701E6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769B797-05F1-4B38-A611-9A1EF29B1E8C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216C779-E45D-402C-8BCF-559189E6873F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6-marker">
            <a:extLst>
              <a:ext uri="{FF2B5EF4-FFF2-40B4-BE49-F238E27FC236}">
                <a16:creationId xmlns:a16="http://schemas.microsoft.com/office/drawing/2014/main" id="{84798ECA-3B7D-4B15-8CC2-C559ACEDAA82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6-label">
            <a:extLst>
              <a:ext uri="{FF2B5EF4-FFF2-40B4-BE49-F238E27FC236}">
                <a16:creationId xmlns:a16="http://schemas.microsoft.com/office/drawing/2014/main" id="{6136F9BA-C373-4257-9FD0-26F4AF92974D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OBJECTION APPENDIX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4212E01-0AD7-4A3F-B599-A63A5EA15BD7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Answer concerns before they become blockers.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B3D0E15-A5FB-425B-9117-4EB605FA13AA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Use this as a backup slide or keep it in the main flow for more skeptical rooms.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BDA019D-E1C0-48C6-A6B4-8042BB148AD8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572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D214FDF-0B62-4491-B655-167FB98342BC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7625" cy="781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87E222E-323B-44D2-AFE3-4CDC3B48A7A4}"/>
              </a:ext>
            </a:extLst>
          </p:cNvPr>
          <p:cNvSpPr>
            <a:spLocks noGrp="1"/>
          </p:cNvSpPr>
          <p:nvPr/>
        </p:nvSpPr>
        <p:spPr>
          <a:xfrm>
            <a:off x="819150" y="29337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How is this different from portals?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32B174A-85E5-406C-9598-49F92B679000}"/>
              </a:ext>
            </a:extLst>
          </p:cNvPr>
          <p:cNvSpPr>
            <a:spLocks noGrp="1"/>
          </p:cNvSpPr>
          <p:nvPr/>
        </p:nvSpPr>
        <p:spPr>
          <a:xfrm>
            <a:off x="819150" y="32004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Portals create exposure. HeyMies creates readiness before the agent call.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BC8A23-939C-4F38-B519-FF61A699FEEF}"/>
              </a:ext>
            </a:extLst>
          </p:cNvPr>
          <p:cNvSpPr>
            <a:spLocks noGrp="1"/>
          </p:cNvSpPr>
          <p:nvPr/>
        </p:nvSpPr>
        <p:spPr>
          <a:xfrm>
            <a:off x="5943600" y="2762250"/>
            <a:ext cx="4572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7C3DC81-B06D-4244-85D9-53FD1FAEF336}"/>
              </a:ext>
            </a:extLst>
          </p:cNvPr>
          <p:cNvSpPr>
            <a:spLocks noGrp="1"/>
          </p:cNvSpPr>
          <p:nvPr/>
        </p:nvSpPr>
        <p:spPr>
          <a:xfrm>
            <a:off x="5943600" y="2762250"/>
            <a:ext cx="47625" cy="781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C4C361B-AA35-49BA-BEF2-D8E3CC4D6E02}"/>
              </a:ext>
            </a:extLst>
          </p:cNvPr>
          <p:cNvSpPr>
            <a:spLocks noGrp="1"/>
          </p:cNvSpPr>
          <p:nvPr/>
        </p:nvSpPr>
        <p:spPr>
          <a:xfrm>
            <a:off x="6153150" y="29337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Does this replace our CRM?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9F7AC5B-E3A1-4B4E-9D3A-5F85715EDF17}"/>
              </a:ext>
            </a:extLst>
          </p:cNvPr>
          <p:cNvSpPr>
            <a:spLocks noGrp="1"/>
          </p:cNvSpPr>
          <p:nvPr/>
        </p:nvSpPr>
        <p:spPr>
          <a:xfrm>
            <a:off x="6153150" y="32004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No. It prepares and routes buyer context; CRM ownership can stay with the agency.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E954EEA-558B-492C-A200-7D764FC121E4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52D4762-66B0-4FB3-AC6F-1FD57020190B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7625" cy="781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8E4E79-16E0-41C7-A374-988C57090728}"/>
              </a:ext>
            </a:extLst>
          </p:cNvPr>
          <p:cNvSpPr>
            <a:spLocks noGrp="1"/>
          </p:cNvSpPr>
          <p:nvPr/>
        </p:nvSpPr>
        <p:spPr>
          <a:xfrm>
            <a:off x="819150" y="394335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Will this replace agents?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6E14E7-9503-4D45-A7D2-52436791BA7F}"/>
              </a:ext>
            </a:extLst>
          </p:cNvPr>
          <p:cNvSpPr>
            <a:spLocks noGrp="1"/>
          </p:cNvSpPr>
          <p:nvPr/>
        </p:nvSpPr>
        <p:spPr>
          <a:xfrm>
            <a:off x="819150" y="421005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No. It protects agent time so humans focus on selling and relationship work.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36D879B-0199-4325-A600-59B5720907A2}"/>
              </a:ext>
            </a:extLst>
          </p:cNvPr>
          <p:cNvSpPr>
            <a:spLocks noGrp="1"/>
          </p:cNvSpPr>
          <p:nvPr/>
        </p:nvSpPr>
        <p:spPr>
          <a:xfrm>
            <a:off x="5943600" y="3771900"/>
            <a:ext cx="4572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B9C2F8-CEBC-4B8F-A0E4-553ACD8B1C4B}"/>
              </a:ext>
            </a:extLst>
          </p:cNvPr>
          <p:cNvSpPr>
            <a:spLocks noGrp="1"/>
          </p:cNvSpPr>
          <p:nvPr/>
        </p:nvSpPr>
        <p:spPr>
          <a:xfrm>
            <a:off x="5943600" y="3771900"/>
            <a:ext cx="47625" cy="781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A6CBF27-529B-4F77-A4BE-6135F59A512B}"/>
              </a:ext>
            </a:extLst>
          </p:cNvPr>
          <p:cNvSpPr>
            <a:spLocks noGrp="1"/>
          </p:cNvSpPr>
          <p:nvPr/>
        </p:nvSpPr>
        <p:spPr>
          <a:xfrm>
            <a:off x="6153150" y="394335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Who owns the lead?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626E20A-0B5A-4862-86C9-A99C644568FD}"/>
              </a:ext>
            </a:extLst>
          </p:cNvPr>
          <p:cNvSpPr>
            <a:spLocks noGrp="1"/>
          </p:cNvSpPr>
          <p:nvPr/>
        </p:nvSpPr>
        <p:spPr>
          <a:xfrm>
            <a:off x="6153150" y="421005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pilot should define routing, visibility, and follow-up rules before launch.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EF66A46-F844-48BE-9F92-30B03A9311C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572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8FF944-D0C1-4CD0-B9E7-D8BE48239B3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7625" cy="781050"/>
          </a:xfrm>
          <a:prstGeom prst="rect">
            <a:avLst/>
          </a:prstGeom>
          <a:solidFill>
            <a:srgbClr val="0EA5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8448CB1-948C-4DC1-A443-B2CEDBF6A5BE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How do we trust the score?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86A8C24-833C-46A5-BE11-B2E29D7702CA}"/>
              </a:ext>
            </a:extLst>
          </p:cNvPr>
          <p:cNvSpPr>
            <a:spLocks noGrp="1"/>
          </p:cNvSpPr>
          <p:nvPr/>
        </p:nvSpPr>
        <p:spPr>
          <a:xfrm>
            <a:off x="819150" y="52197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Start transparent, review feedback weekly, and tune the threshold.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AA1B631-C0F5-48AA-8C33-C52D510D25C5}"/>
              </a:ext>
            </a:extLst>
          </p:cNvPr>
          <p:cNvSpPr>
            <a:spLocks noGrp="1"/>
          </p:cNvSpPr>
          <p:nvPr/>
        </p:nvSpPr>
        <p:spPr>
          <a:xfrm>
            <a:off x="5943600" y="4781550"/>
            <a:ext cx="4572000" cy="78105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6FF9948-5EFD-44CC-B519-B25B076AE1A7}"/>
              </a:ext>
            </a:extLst>
          </p:cNvPr>
          <p:cNvSpPr>
            <a:spLocks noGrp="1"/>
          </p:cNvSpPr>
          <p:nvPr/>
        </p:nvSpPr>
        <p:spPr>
          <a:xfrm>
            <a:off x="5943600" y="4781550"/>
            <a:ext cx="47625" cy="7810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CF006F5-37AE-4EAD-B318-5CA30877C740}"/>
              </a:ext>
            </a:extLst>
          </p:cNvPr>
          <p:cNvSpPr>
            <a:spLocks noGrp="1"/>
          </p:cNvSpPr>
          <p:nvPr/>
        </p:nvSpPr>
        <p:spPr>
          <a:xfrm>
            <a:off x="6153150" y="49530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What is the price?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34DCFB6-3712-42C9-A753-21612108AD75}"/>
              </a:ext>
            </a:extLst>
          </p:cNvPr>
          <p:cNvSpPr>
            <a:spLocks noGrp="1"/>
          </p:cNvSpPr>
          <p:nvPr/>
        </p:nvSpPr>
        <p:spPr>
          <a:xfrm>
            <a:off x="6153150" y="5219700"/>
            <a:ext cx="3810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Agent pricing is monthly, with final pricing confirmed after pilot validation.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2B05046-5A87-4F4F-B29F-DEC07511391F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E18FCB3-E514-4793-9674-607336B83597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74360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34F8FC2D-26DB-47FF-A6EF-15BD7E669C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A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4F1A27-2C99-4AC7-8C40-7AD7B4AF96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D9AF04-4556-4747-BA94-EE0C6AEF166E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D68F3E-C81C-4631-ADE9-51A548AB4289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3DBDDB-89EE-4B9A-A9F8-BF84FBA07163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7CDB6D-5823-418E-BF0E-FCA5394C559F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7A0771-C6AE-40F4-988B-3ECB31EBFE19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D370EE-A8B5-40D6-B54E-3611F21E5A18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8FD7C1-6A07-40E0-91EF-E47C645E8F50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272FE5-91BF-4521-9472-111520E00276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ADB111-B4EF-442B-A920-0EB9594C4DC6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A877D9-19E5-42CF-8F49-914D38F8020F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9C5002-245C-410D-B46A-858F78FD14FF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806527-BA90-4D67-9DBA-03DE02C90581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F3A899-24F2-4402-A10F-948D26C6F67A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25A58A-2721-4810-A096-81773DF8F010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D85C7F-E2F4-455E-BB3D-15768CD83626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C6BB9C-9E58-4740-BC33-1595765F5C77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72D366-74B6-41B4-B1E9-A3395900C7B8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5F381D-AD9D-4E45-B199-AD79A130C290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6EDB9F-455B-4E56-83E5-2FB3F1D8859B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CAB657-8530-48F7-9A48-6A96FD5F058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B6B69A-2C96-48D9-AE88-F2287E2E4CEE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C8B149-839B-4B48-8CAB-2283774FE463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C11114-13C7-45B6-A3F1-4AAA075183E0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221486-6498-4A22-933E-B0E6EFDA6AAB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CFAD13-A90B-4B81-966C-312C90ABCDF9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B8B8873-AD1B-47EA-A666-FC458FA8F1D3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08363C-B1AE-4479-8732-D780B040A19C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C8B7A90-EF58-4A96-A13C-E725FF2CE636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D059DC7-5A5D-4E9D-A466-08B0D2C94562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A6ADE93-ACCF-4143-8FB8-8B76657666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7EE2774-0DD8-43B3-8722-C7E6870D2EEB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41D5434-FFA1-4C20-9462-A77B499EE6B8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79CD7D-A142-43A1-9662-C633EE2FE1E9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E807629-3E93-4BCC-B629-0FDAFB53D7E9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334274-5AF1-4D2E-B4B2-4C4B2802CAE6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5E8F5F-6158-49A1-8F56-48F52644FF22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95325BB-50F9-4910-A96D-579DFD7A70B8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95301F-C6EC-4651-A9D4-63D5BEB0162E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7859A5-944B-46A6-BBED-6950220E6CB4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90C3F51-B9EC-41DC-991F-3EDCF809943E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FFF236C-A44F-4060-9963-0D5A8A7D8143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FBBDEE3-DE37-430C-BF01-0F6A878D4DE1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EE267C-87F4-40C3-A12B-3136B0614C00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5E81492-8A6F-42B7-AF65-0B37354F3406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4E9261D-A275-4E43-A665-43BF53DD888E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838523D-6837-4670-A69A-82CAA0C130AF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DCEBE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kicker-17-marker">
            <a:extLst>
              <a:ext uri="{FF2B5EF4-FFF2-40B4-BE49-F238E27FC236}">
                <a16:creationId xmlns:a16="http://schemas.microsoft.com/office/drawing/2014/main" id="{9C13F3E7-1422-4925-BC40-B93B425D4238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342900" cy="28575"/>
          </a:xfrm>
          <a:prstGeom prst="rect">
            <a:avLst/>
          </a:prstGeom>
          <a:solidFill>
            <a:srgbClr val="064E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kicker-17-label">
            <a:extLst>
              <a:ext uri="{FF2B5EF4-FFF2-40B4-BE49-F238E27FC236}">
                <a16:creationId xmlns:a16="http://schemas.microsoft.com/office/drawing/2014/main" id="{07BB6275-9728-4116-AE3E-32BD2477D54E}"/>
              </a:ext>
            </a:extLst>
          </p:cNvPr>
          <p:cNvSpPr>
            <a:spLocks noGrp="1"/>
          </p:cNvSpPr>
          <p:nvPr/>
        </p:nvSpPr>
        <p:spPr>
          <a:xfrm>
            <a:off x="990600" y="428625"/>
            <a:ext cx="4762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50" b="1">
                <a:solidFill>
                  <a:srgbClr val="064E3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4E3B"/>
                </a:solidFill>
                <a:latin typeface="Aptos"/>
                <a:ea typeface="Aptos"/>
                <a:cs typeface="Aptos"/>
              </a:rPr>
              <a:t>PARTNER FIT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E971107-A9CD-4E4D-B383-AC82BDD93E76}"/>
              </a:ext>
            </a:extLst>
          </p:cNvPr>
          <p:cNvSpPr>
            <a:spLocks noGrp="1"/>
          </p:cNvSpPr>
          <p:nvPr/>
        </p:nvSpPr>
        <p:spPr>
          <a:xfrm>
            <a:off x="514350" y="83820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7111F"/>
                </a:solidFill>
                <a:latin typeface="Aptos Display"/>
                <a:ea typeface="Aptos Display"/>
                <a:cs typeface="Aptos Display"/>
              </a:rPr>
              <a:t>Best-fit agencies can shape the category early.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4F38814-D9AF-4CA5-8CA9-C950021703BA}"/>
              </a:ext>
            </a:extLst>
          </p:cNvPr>
          <p:cNvSpPr>
            <a:spLocks noGrp="1"/>
          </p:cNvSpPr>
          <p:nvPr/>
        </p:nvSpPr>
        <p:spPr>
          <a:xfrm>
            <a:off x="533400" y="186690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ideal pilot partner wants better conversations, cleaner process, and a repeatable standard across a focused area or team.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34A447C-2CC6-4FE9-B510-9FACEC7F5AF4}"/>
              </a:ext>
            </a:extLst>
          </p:cNvPr>
          <p:cNvSpPr>
            <a:spLocks noGrp="1"/>
          </p:cNvSpPr>
          <p:nvPr/>
        </p:nvSpPr>
        <p:spPr>
          <a:xfrm>
            <a:off x="876300" y="3067050"/>
            <a:ext cx="428625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AF9AAF7-A576-42A6-BE4E-4C142E0EFD1D}"/>
              </a:ext>
            </a:extLst>
          </p:cNvPr>
          <p:cNvSpPr>
            <a:spLocks noGrp="1"/>
          </p:cNvSpPr>
          <p:nvPr/>
        </p:nvSpPr>
        <p:spPr>
          <a:xfrm>
            <a:off x="876300" y="3067050"/>
            <a:ext cx="4286250" cy="5715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1C48A66-F1D9-4E50-8B9F-22D2DBC6F1C2}"/>
              </a:ext>
            </a:extLst>
          </p:cNvPr>
          <p:cNvSpPr>
            <a:spLocks noGrp="1"/>
          </p:cNvSpPr>
          <p:nvPr/>
        </p:nvSpPr>
        <p:spPr>
          <a:xfrm>
            <a:off x="1162050" y="33718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Best-fit agency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B9486F1-183A-4E82-AEC0-473163D7205B}"/>
              </a:ext>
            </a:extLst>
          </p:cNvPr>
          <p:cNvSpPr>
            <a:spLocks noGrp="1"/>
          </p:cNvSpPr>
          <p:nvPr/>
        </p:nvSpPr>
        <p:spPr>
          <a:xfrm>
            <a:off x="1181100" y="3905250"/>
            <a:ext cx="76200" cy="762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35BC237-22A9-4791-BA57-609B0D427D49}"/>
              </a:ext>
            </a:extLst>
          </p:cNvPr>
          <p:cNvSpPr>
            <a:spLocks noGrp="1"/>
          </p:cNvSpPr>
          <p:nvPr/>
        </p:nvSpPr>
        <p:spPr>
          <a:xfrm>
            <a:off x="1390650" y="384810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Area focus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38DDE56-D7B5-42D4-9312-28B5BE3D9980}"/>
              </a:ext>
            </a:extLst>
          </p:cNvPr>
          <p:cNvSpPr>
            <a:spLocks noGrp="1"/>
          </p:cNvSpPr>
          <p:nvPr/>
        </p:nvSpPr>
        <p:spPr>
          <a:xfrm>
            <a:off x="2895600" y="384810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 clear suburb, city, or segment.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1A9525A-0503-4A01-A0D6-DFDF0E4C1906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76200" cy="762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16081C2-4690-4E63-B473-1F9A9009F46C}"/>
              </a:ext>
            </a:extLst>
          </p:cNvPr>
          <p:cNvSpPr>
            <a:spLocks noGrp="1"/>
          </p:cNvSpPr>
          <p:nvPr/>
        </p:nvSpPr>
        <p:spPr>
          <a:xfrm>
            <a:off x="1390650" y="42481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Team rhythm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BC5C03F-FF17-453D-AD4E-4630AEBE61C4}"/>
              </a:ext>
            </a:extLst>
          </p:cNvPr>
          <p:cNvSpPr>
            <a:spLocks noGrp="1"/>
          </p:cNvSpPr>
          <p:nvPr/>
        </p:nvSpPr>
        <p:spPr>
          <a:xfrm>
            <a:off x="2895600" y="424815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Agents willing to work from a readiness queue.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21F144A-68FB-4E11-AE08-BF26CE920EC9}"/>
              </a:ext>
            </a:extLst>
          </p:cNvPr>
          <p:cNvSpPr>
            <a:spLocks noGrp="1"/>
          </p:cNvSpPr>
          <p:nvPr/>
        </p:nvSpPr>
        <p:spPr>
          <a:xfrm>
            <a:off x="1181100" y="4705350"/>
            <a:ext cx="76200" cy="762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17EC2F6-75EA-4B5D-80F5-73F344A23523}"/>
              </a:ext>
            </a:extLst>
          </p:cNvPr>
          <p:cNvSpPr>
            <a:spLocks noGrp="1"/>
          </p:cNvSpPr>
          <p:nvPr/>
        </p:nvSpPr>
        <p:spPr>
          <a:xfrm>
            <a:off x="1390650" y="464820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Feedback loop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3559473-4C80-4D5A-BCA0-EA051BFF6681}"/>
              </a:ext>
            </a:extLst>
          </p:cNvPr>
          <p:cNvSpPr>
            <a:spLocks noGrp="1"/>
          </p:cNvSpPr>
          <p:nvPr/>
        </p:nvSpPr>
        <p:spPr>
          <a:xfrm>
            <a:off x="2895600" y="464820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Regular notes on lead quality and objections.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EF83828-7EED-4A5D-AC2B-65DA6E021AE7}"/>
              </a:ext>
            </a:extLst>
          </p:cNvPr>
          <p:cNvSpPr>
            <a:spLocks noGrp="1"/>
          </p:cNvSpPr>
          <p:nvPr/>
        </p:nvSpPr>
        <p:spPr>
          <a:xfrm>
            <a:off x="6324600" y="3067050"/>
            <a:ext cx="4286250" cy="2095500"/>
          </a:xfrm>
          <a:prstGeom prst="rect">
            <a:avLst/>
          </a:prstGeom>
          <a:solidFill>
            <a:srgbClr val="D1FAE5"/>
          </a:solidFill>
          <a:ln w="9525">
            <a:solidFill>
              <a:srgbClr val="D7E4E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B9425A8-AAD7-408F-8FA4-5E4616DA9B9E}"/>
              </a:ext>
            </a:extLst>
          </p:cNvPr>
          <p:cNvSpPr>
            <a:spLocks noGrp="1"/>
          </p:cNvSpPr>
          <p:nvPr/>
        </p:nvSpPr>
        <p:spPr>
          <a:xfrm>
            <a:off x="6324600" y="3067050"/>
            <a:ext cx="4286250" cy="571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EB153EC-07BD-443C-BC81-D59C2D601F1D}"/>
              </a:ext>
            </a:extLst>
          </p:cNvPr>
          <p:cNvSpPr>
            <a:spLocks noGrp="1"/>
          </p:cNvSpPr>
          <p:nvPr/>
        </p:nvSpPr>
        <p:spPr>
          <a:xfrm>
            <a:off x="6610350" y="33718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Pilot contract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72B2C1-9028-4E7F-AE16-CAD48F2ADDC8}"/>
              </a:ext>
            </a:extLst>
          </p:cNvPr>
          <p:cNvSpPr>
            <a:spLocks noGrp="1"/>
          </p:cNvSpPr>
          <p:nvPr/>
        </p:nvSpPr>
        <p:spPr>
          <a:xfrm>
            <a:off x="6629400" y="3905250"/>
            <a:ext cx="76200" cy="762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F824E0E-29F5-4914-948F-F72F87876CBD}"/>
              </a:ext>
            </a:extLst>
          </p:cNvPr>
          <p:cNvSpPr>
            <a:spLocks noGrp="1"/>
          </p:cNvSpPr>
          <p:nvPr/>
        </p:nvSpPr>
        <p:spPr>
          <a:xfrm>
            <a:off x="6838950" y="384810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HeyMies provides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8D96FAA-7F1D-4175-8595-935A6D5AF78D}"/>
              </a:ext>
            </a:extLst>
          </p:cNvPr>
          <p:cNvSpPr>
            <a:spLocks noGrp="1"/>
          </p:cNvSpPr>
          <p:nvPr/>
        </p:nvSpPr>
        <p:spPr>
          <a:xfrm>
            <a:off x="8362950" y="384810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Readiness workflow and dashboard.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D3A4043-B6BE-47EE-A5F7-A1ECF8517117}"/>
              </a:ext>
            </a:extLst>
          </p:cNvPr>
          <p:cNvSpPr>
            <a:spLocks noGrp="1"/>
          </p:cNvSpPr>
          <p:nvPr/>
        </p:nvSpPr>
        <p:spPr>
          <a:xfrm>
            <a:off x="6629400" y="4305300"/>
            <a:ext cx="76200" cy="762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1BDCBBA-C806-446A-9BCB-AFF1AC1E7D47}"/>
              </a:ext>
            </a:extLst>
          </p:cNvPr>
          <p:cNvSpPr>
            <a:spLocks noGrp="1"/>
          </p:cNvSpPr>
          <p:nvPr/>
        </p:nvSpPr>
        <p:spPr>
          <a:xfrm>
            <a:off x="6838950" y="42481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Agency provides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E7FAFE0-D692-4B8F-94D3-0C742903829B}"/>
              </a:ext>
            </a:extLst>
          </p:cNvPr>
          <p:cNvSpPr>
            <a:spLocks noGrp="1"/>
          </p:cNvSpPr>
          <p:nvPr/>
        </p:nvSpPr>
        <p:spPr>
          <a:xfrm>
            <a:off x="8362950" y="424815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Listings, feedback, and sales follow-through.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8C29B72-7C5E-4CA6-AF23-0BC8F6681A31}"/>
              </a:ext>
            </a:extLst>
          </p:cNvPr>
          <p:cNvSpPr>
            <a:spLocks noGrp="1"/>
          </p:cNvSpPr>
          <p:nvPr/>
        </p:nvSpPr>
        <p:spPr>
          <a:xfrm>
            <a:off x="6629400" y="4705350"/>
            <a:ext cx="76200" cy="76200"/>
          </a:xfrm>
          <a:prstGeom prst="rect">
            <a:avLst/>
          </a:prstGeom>
          <a:solidFill>
            <a:srgbClr val="0711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4F603F2-A4E6-4705-88A1-26DB65AAF36B}"/>
              </a:ext>
            </a:extLst>
          </p:cNvPr>
          <p:cNvSpPr>
            <a:spLocks noGrp="1"/>
          </p:cNvSpPr>
          <p:nvPr/>
        </p:nvSpPr>
        <p:spPr>
          <a:xfrm>
            <a:off x="6838950" y="464820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Shared outcome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EB7F8BF-897C-4807-B651-70719899FCEB}"/>
              </a:ext>
            </a:extLst>
          </p:cNvPr>
          <p:cNvSpPr>
            <a:spLocks noGrp="1"/>
          </p:cNvSpPr>
          <p:nvPr/>
        </p:nvSpPr>
        <p:spPr>
          <a:xfrm>
            <a:off x="8362950" y="464820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trusted hand-off standard.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EA75CA1-2C7B-4C45-A4FC-9901402D947A}"/>
              </a:ext>
            </a:extLst>
          </p:cNvPr>
          <p:cNvSpPr>
            <a:spLocks noGrp="1"/>
          </p:cNvSpPr>
          <p:nvPr/>
        </p:nvSpPr>
        <p:spPr>
          <a:xfrm>
            <a:off x="514350" y="6419850"/>
            <a:ext cx="723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HeyMies website and product repo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1B9F5BC-E820-4E6A-BA3A-578387B8128B}"/>
              </a:ext>
            </a:extLst>
          </p:cNvPr>
          <p:cNvSpPr>
            <a:spLocks noGrp="1"/>
          </p:cNvSpPr>
          <p:nvPr/>
        </p:nvSpPr>
        <p:spPr>
          <a:xfrm>
            <a:off x="11239500" y="6400800"/>
            <a:ext cx="438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22644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9C3EB07E-53B9-458D-AA7C-E4CA5117D9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CBBE19-D0CF-4C38-9A7A-2A7F2248FD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225099-F9FF-46A7-867E-C90C8350FF61}"/>
              </a:ext>
            </a:extLst>
          </p:cNvPr>
          <p:cNvSpPr>
            <a:spLocks noGrp="1"/>
          </p:cNvSpPr>
          <p:nvPr/>
        </p:nvSpPr>
        <p:spPr>
          <a:xfrm>
            <a:off x="419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69FBAC-2D34-43F6-BEEB-8EAF194AFD5F}"/>
              </a:ext>
            </a:extLst>
          </p:cNvPr>
          <p:cNvSpPr>
            <a:spLocks noGrp="1"/>
          </p:cNvSpPr>
          <p:nvPr/>
        </p:nvSpPr>
        <p:spPr>
          <a:xfrm>
            <a:off x="838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3E0160-1444-4863-B589-0804FE31B211}"/>
              </a:ext>
            </a:extLst>
          </p:cNvPr>
          <p:cNvSpPr>
            <a:spLocks noGrp="1"/>
          </p:cNvSpPr>
          <p:nvPr/>
        </p:nvSpPr>
        <p:spPr>
          <a:xfrm>
            <a:off x="1257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263455-C5D6-48DC-BA1C-0AE33A3B29CE}"/>
              </a:ext>
            </a:extLst>
          </p:cNvPr>
          <p:cNvSpPr>
            <a:spLocks noGrp="1"/>
          </p:cNvSpPr>
          <p:nvPr/>
        </p:nvSpPr>
        <p:spPr>
          <a:xfrm>
            <a:off x="1676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765872-03C3-43B7-B891-697132BE1B88}"/>
              </a:ext>
            </a:extLst>
          </p:cNvPr>
          <p:cNvSpPr>
            <a:spLocks noGrp="1"/>
          </p:cNvSpPr>
          <p:nvPr/>
        </p:nvSpPr>
        <p:spPr>
          <a:xfrm>
            <a:off x="2095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6CBE46-626F-4CFA-903B-892B60FBAD0B}"/>
              </a:ext>
            </a:extLst>
          </p:cNvPr>
          <p:cNvSpPr>
            <a:spLocks noGrp="1"/>
          </p:cNvSpPr>
          <p:nvPr/>
        </p:nvSpPr>
        <p:spPr>
          <a:xfrm>
            <a:off x="2514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8575D6-27AA-4DBA-B36E-F9223CB82EC4}"/>
              </a:ext>
            </a:extLst>
          </p:cNvPr>
          <p:cNvSpPr>
            <a:spLocks noGrp="1"/>
          </p:cNvSpPr>
          <p:nvPr/>
        </p:nvSpPr>
        <p:spPr>
          <a:xfrm>
            <a:off x="2933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7D4895-9B36-44C7-8407-150DE4657732}"/>
              </a:ext>
            </a:extLst>
          </p:cNvPr>
          <p:cNvSpPr>
            <a:spLocks noGrp="1"/>
          </p:cNvSpPr>
          <p:nvPr/>
        </p:nvSpPr>
        <p:spPr>
          <a:xfrm>
            <a:off x="3352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AA4AFB-7768-4286-83CF-686799209195}"/>
              </a:ext>
            </a:extLst>
          </p:cNvPr>
          <p:cNvSpPr>
            <a:spLocks noGrp="1"/>
          </p:cNvSpPr>
          <p:nvPr/>
        </p:nvSpPr>
        <p:spPr>
          <a:xfrm>
            <a:off x="3771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041C03-BA26-482D-A802-64D690EB2164}"/>
              </a:ext>
            </a:extLst>
          </p:cNvPr>
          <p:cNvSpPr>
            <a:spLocks noGrp="1"/>
          </p:cNvSpPr>
          <p:nvPr/>
        </p:nvSpPr>
        <p:spPr>
          <a:xfrm>
            <a:off x="4191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5E73FB-D7F7-439D-AED5-9A9E1E786609}"/>
              </a:ext>
            </a:extLst>
          </p:cNvPr>
          <p:cNvSpPr>
            <a:spLocks noGrp="1"/>
          </p:cNvSpPr>
          <p:nvPr/>
        </p:nvSpPr>
        <p:spPr>
          <a:xfrm>
            <a:off x="4610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EEBB8C-44CD-4375-8C06-87733D59F4B7}"/>
              </a:ext>
            </a:extLst>
          </p:cNvPr>
          <p:cNvSpPr>
            <a:spLocks noGrp="1"/>
          </p:cNvSpPr>
          <p:nvPr/>
        </p:nvSpPr>
        <p:spPr>
          <a:xfrm>
            <a:off x="5029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4A95DC-622B-44AE-AED8-3AE05F0AC0AE}"/>
              </a:ext>
            </a:extLst>
          </p:cNvPr>
          <p:cNvSpPr>
            <a:spLocks noGrp="1"/>
          </p:cNvSpPr>
          <p:nvPr/>
        </p:nvSpPr>
        <p:spPr>
          <a:xfrm>
            <a:off x="5448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192E29-DBA6-48FA-9A5A-CB3692EE30AF}"/>
              </a:ext>
            </a:extLst>
          </p:cNvPr>
          <p:cNvSpPr>
            <a:spLocks noGrp="1"/>
          </p:cNvSpPr>
          <p:nvPr/>
        </p:nvSpPr>
        <p:spPr>
          <a:xfrm>
            <a:off x="5867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828905-769B-4A3C-AF10-549D4B12E24E}"/>
              </a:ext>
            </a:extLst>
          </p:cNvPr>
          <p:cNvSpPr>
            <a:spLocks noGrp="1"/>
          </p:cNvSpPr>
          <p:nvPr/>
        </p:nvSpPr>
        <p:spPr>
          <a:xfrm>
            <a:off x="6286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5508F6-A222-47B8-A4B1-9EA6DAEC6FFF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CE414E-0086-4AFD-ADC8-77DA1358454E}"/>
              </a:ext>
            </a:extLst>
          </p:cNvPr>
          <p:cNvSpPr>
            <a:spLocks noGrp="1"/>
          </p:cNvSpPr>
          <p:nvPr/>
        </p:nvSpPr>
        <p:spPr>
          <a:xfrm>
            <a:off x="7124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B1447-C6ED-403D-A960-2A1F46FDA371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43CD75-D528-45C1-9834-3370B85AEB38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A41B82-44B0-4810-AD4E-F86A2FC13ABF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4C52C4-AF2F-49AB-A761-8503161562CE}"/>
              </a:ext>
            </a:extLst>
          </p:cNvPr>
          <p:cNvSpPr>
            <a:spLocks noGrp="1"/>
          </p:cNvSpPr>
          <p:nvPr/>
        </p:nvSpPr>
        <p:spPr>
          <a:xfrm>
            <a:off x="88011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F3AAF51-F502-47DA-85BB-E68C8473A120}"/>
              </a:ext>
            </a:extLst>
          </p:cNvPr>
          <p:cNvSpPr>
            <a:spLocks noGrp="1"/>
          </p:cNvSpPr>
          <p:nvPr/>
        </p:nvSpPr>
        <p:spPr>
          <a:xfrm>
            <a:off x="92202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A5705D3-6EE6-4209-B767-CF492BECD98F}"/>
              </a:ext>
            </a:extLst>
          </p:cNvPr>
          <p:cNvSpPr>
            <a:spLocks noGrp="1"/>
          </p:cNvSpPr>
          <p:nvPr/>
        </p:nvSpPr>
        <p:spPr>
          <a:xfrm>
            <a:off x="96393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118CC39-6736-4DEF-B598-D1743959CE22}"/>
              </a:ext>
            </a:extLst>
          </p:cNvPr>
          <p:cNvSpPr>
            <a:spLocks noGrp="1"/>
          </p:cNvSpPr>
          <p:nvPr/>
        </p:nvSpPr>
        <p:spPr>
          <a:xfrm>
            <a:off x="100584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BE3307-7877-474B-B5A5-534E06A3B316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7F8072-AD15-4C90-B2DA-138EF22CE0C3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7B1DA8-4FDC-4DFD-A6A7-ED47FD40697E}"/>
              </a:ext>
            </a:extLst>
          </p:cNvPr>
          <p:cNvSpPr>
            <a:spLocks noGrp="1"/>
          </p:cNvSpPr>
          <p:nvPr/>
        </p:nvSpPr>
        <p:spPr>
          <a:xfrm>
            <a:off x="113157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42CB05-E8C4-47F9-8BBD-A20E4C1AC47E}"/>
              </a:ext>
            </a:extLst>
          </p:cNvPr>
          <p:cNvSpPr>
            <a:spLocks noGrp="1"/>
          </p:cNvSpPr>
          <p:nvPr/>
        </p:nvSpPr>
        <p:spPr>
          <a:xfrm>
            <a:off x="117348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1ED32F9-0881-430D-A113-14C6530131C7}"/>
              </a:ext>
            </a:extLst>
          </p:cNvPr>
          <p:cNvSpPr>
            <a:spLocks noGrp="1"/>
          </p:cNvSpPr>
          <p:nvPr/>
        </p:nvSpPr>
        <p:spPr>
          <a:xfrm>
            <a:off x="12153900" y="0"/>
            <a:ext cx="9525" cy="6858000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8A7EB4-956B-43FF-849D-3D4BCD13A0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1DB843-FB65-4E78-8BA9-507953E87574}"/>
              </a:ext>
            </a:extLst>
          </p:cNvPr>
          <p:cNvSpPr>
            <a:spLocks noGrp="1"/>
          </p:cNvSpPr>
          <p:nvPr/>
        </p:nvSpPr>
        <p:spPr>
          <a:xfrm>
            <a:off x="0" y="419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790CCF-ED65-461C-A77F-DC02F9B6E8D6}"/>
              </a:ext>
            </a:extLst>
          </p:cNvPr>
          <p:cNvSpPr>
            <a:spLocks noGrp="1"/>
          </p:cNvSpPr>
          <p:nvPr/>
        </p:nvSpPr>
        <p:spPr>
          <a:xfrm>
            <a:off x="0" y="838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D96EFB-57F9-4DBB-A934-9CC9210E4C41}"/>
              </a:ext>
            </a:extLst>
          </p:cNvPr>
          <p:cNvSpPr>
            <a:spLocks noGrp="1"/>
          </p:cNvSpPr>
          <p:nvPr/>
        </p:nvSpPr>
        <p:spPr>
          <a:xfrm>
            <a:off x="0" y="1257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46CF9C1-038C-40A9-8AFA-0E34AC5B0D66}"/>
              </a:ext>
            </a:extLst>
          </p:cNvPr>
          <p:cNvSpPr>
            <a:spLocks noGrp="1"/>
          </p:cNvSpPr>
          <p:nvPr/>
        </p:nvSpPr>
        <p:spPr>
          <a:xfrm>
            <a:off x="0" y="1676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F4402F-7CE0-4273-9C8C-3E259EF58E47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307C87C-7F43-4CC0-AD57-2C846F04A52C}"/>
              </a:ext>
            </a:extLst>
          </p:cNvPr>
          <p:cNvSpPr>
            <a:spLocks noGrp="1"/>
          </p:cNvSpPr>
          <p:nvPr/>
        </p:nvSpPr>
        <p:spPr>
          <a:xfrm>
            <a:off x="0" y="2514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E9D3544-8D6F-494C-AA3D-438ECB6EA5EF}"/>
              </a:ext>
            </a:extLst>
          </p:cNvPr>
          <p:cNvSpPr>
            <a:spLocks noGrp="1"/>
          </p:cNvSpPr>
          <p:nvPr/>
        </p:nvSpPr>
        <p:spPr>
          <a:xfrm>
            <a:off x="0" y="29337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D3516CF-38ED-4181-AABB-AB8F57CFB7B3}"/>
              </a:ext>
            </a:extLst>
          </p:cNvPr>
          <p:cNvSpPr>
            <a:spLocks noGrp="1"/>
          </p:cNvSpPr>
          <p:nvPr/>
        </p:nvSpPr>
        <p:spPr>
          <a:xfrm>
            <a:off x="0" y="33528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6E5388-5E12-4BFB-AEE6-75552C289631}"/>
              </a:ext>
            </a:extLst>
          </p:cNvPr>
          <p:cNvSpPr>
            <a:spLocks noGrp="1"/>
          </p:cNvSpPr>
          <p:nvPr/>
        </p:nvSpPr>
        <p:spPr>
          <a:xfrm>
            <a:off x="0" y="37719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7AA28-5C6F-4286-8042-1CBA6649132E}"/>
              </a:ext>
            </a:extLst>
          </p:cNvPr>
          <p:cNvSpPr>
            <a:spLocks noGrp="1"/>
          </p:cNvSpPr>
          <p:nvPr/>
        </p:nvSpPr>
        <p:spPr>
          <a:xfrm>
            <a:off x="0" y="41910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A49BD8-4C4A-476B-A005-0A90DC500562}"/>
              </a:ext>
            </a:extLst>
          </p:cNvPr>
          <p:cNvSpPr>
            <a:spLocks noGrp="1"/>
          </p:cNvSpPr>
          <p:nvPr/>
        </p:nvSpPr>
        <p:spPr>
          <a:xfrm>
            <a:off x="0" y="46101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14ABC9-ADC9-4755-8C5E-EF1F98F61FDE}"/>
              </a:ext>
            </a:extLst>
          </p:cNvPr>
          <p:cNvSpPr>
            <a:spLocks noGrp="1"/>
          </p:cNvSpPr>
          <p:nvPr/>
        </p:nvSpPr>
        <p:spPr>
          <a:xfrm>
            <a:off x="0" y="50292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14A991-814F-46BE-9FDE-BB2CC4AFBBF3}"/>
              </a:ext>
            </a:extLst>
          </p:cNvPr>
          <p:cNvSpPr>
            <a:spLocks noGrp="1"/>
          </p:cNvSpPr>
          <p:nvPr/>
        </p:nvSpPr>
        <p:spPr>
          <a:xfrm>
            <a:off x="0" y="54483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F4878F-7051-444D-AB3E-7B97A7354BB5}"/>
              </a:ext>
            </a:extLst>
          </p:cNvPr>
          <p:cNvSpPr>
            <a:spLocks noGrp="1"/>
          </p:cNvSpPr>
          <p:nvPr/>
        </p:nvSpPr>
        <p:spPr>
          <a:xfrm>
            <a:off x="0" y="58674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0E48A34-BFCA-48F6-97B4-EEE8A76E0813}"/>
              </a:ext>
            </a:extLst>
          </p:cNvPr>
          <p:cNvSpPr>
            <a:spLocks noGrp="1"/>
          </p:cNvSpPr>
          <p:nvPr/>
        </p:nvSpPr>
        <p:spPr>
          <a:xfrm>
            <a:off x="0" y="62865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F1F38CF-E685-4D7A-AEA4-30C97B687A0D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2314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247461B-9F7C-4399-B099-BE15E31F0443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447800" cy="14478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9150" y="876300"/>
            <a:ext cx="1181100" cy="11811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7E767F55-E58B-405A-B9EA-B321E2377B24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72390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Let HeyMies do the chasing. Let agents do the closing.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038BCD-E3D8-4032-AC33-8602E1870738}"/>
              </a:ext>
            </a:extLst>
          </p:cNvPr>
          <p:cNvSpPr>
            <a:spLocks noGrp="1"/>
          </p:cNvSpPr>
          <p:nvPr/>
        </p:nvSpPr>
        <p:spPr>
          <a:xfrm>
            <a:off x="723900" y="4114800"/>
            <a:ext cx="61912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28575" rIns="0" bIns="28575" anchor="t"/>
          <a:lstStyle/>
          <a:p>
            <a:pPr algn="l">
              <a:defRPr sz="14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Next step: run a pilot workshop to choose the area, define readiness fields, and agree the hand-off threshold.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646165-C586-4885-B552-93F3F57A04BC}"/>
              </a:ext>
            </a:extLst>
          </p:cNvPr>
          <p:cNvSpPr>
            <a:spLocks noGrp="1"/>
          </p:cNvSpPr>
          <p:nvPr/>
        </p:nvSpPr>
        <p:spPr>
          <a:xfrm>
            <a:off x="7810500" y="1352550"/>
            <a:ext cx="3143250" cy="3143250"/>
          </a:xfrm>
          <a:prstGeom prst="rect">
            <a:avLst/>
          </a:prstGeom>
          <a:solidFill>
            <a:srgbClr val="0B1E2A"/>
          </a:solidFill>
          <a:ln w="9525">
            <a:solidFill>
              <a:srgbClr val="25526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E76EB8-1E37-4641-8899-4F7A2262BC3A}"/>
              </a:ext>
            </a:extLst>
          </p:cNvPr>
          <p:cNvSpPr>
            <a:spLocks noGrp="1"/>
          </p:cNvSpPr>
          <p:nvPr/>
        </p:nvSpPr>
        <p:spPr>
          <a:xfrm>
            <a:off x="8115300" y="1676400"/>
            <a:ext cx="2190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Workshop agenda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C3BA99B-63F1-41E8-8F56-E0616D2EF22D}"/>
              </a:ext>
            </a:extLst>
          </p:cNvPr>
          <p:cNvSpPr>
            <a:spLocks noGrp="1"/>
          </p:cNvSpPr>
          <p:nvPr/>
        </p:nvSpPr>
        <p:spPr>
          <a:xfrm>
            <a:off x="8134350" y="2276475"/>
            <a:ext cx="161925" cy="16192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9ACDA23-BC52-44A4-AB5D-B479E2DD780D}"/>
              </a:ext>
            </a:extLst>
          </p:cNvPr>
          <p:cNvSpPr>
            <a:spLocks noGrp="1"/>
          </p:cNvSpPr>
          <p:nvPr/>
        </p:nvSpPr>
        <p:spPr>
          <a:xfrm>
            <a:off x="8134350" y="2295525"/>
            <a:ext cx="161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BF6A24-AC56-4C7F-9716-9CE0AE4DECA1}"/>
              </a:ext>
            </a:extLst>
          </p:cNvPr>
          <p:cNvSpPr>
            <a:spLocks noGrp="1"/>
          </p:cNvSpPr>
          <p:nvPr/>
        </p:nvSpPr>
        <p:spPr>
          <a:xfrm>
            <a:off x="8458200" y="22479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Confirm target area or branch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489B5FA-0659-4365-9CA5-877A4AD49672}"/>
              </a:ext>
            </a:extLst>
          </p:cNvPr>
          <p:cNvSpPr>
            <a:spLocks noGrp="1"/>
          </p:cNvSpPr>
          <p:nvPr/>
        </p:nvSpPr>
        <p:spPr>
          <a:xfrm>
            <a:off x="8134350" y="2676525"/>
            <a:ext cx="161925" cy="16192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ADF28A2-9F92-42CF-A11A-72ECF3E54F8D}"/>
              </a:ext>
            </a:extLst>
          </p:cNvPr>
          <p:cNvSpPr>
            <a:spLocks noGrp="1"/>
          </p:cNvSpPr>
          <p:nvPr/>
        </p:nvSpPr>
        <p:spPr>
          <a:xfrm>
            <a:off x="8134350" y="2695575"/>
            <a:ext cx="161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4176BAC-4841-4C42-ACD1-A9615DF2201E}"/>
              </a:ext>
            </a:extLst>
          </p:cNvPr>
          <p:cNvSpPr>
            <a:spLocks noGrp="1"/>
          </p:cNvSpPr>
          <p:nvPr/>
        </p:nvSpPr>
        <p:spPr>
          <a:xfrm>
            <a:off x="8458200" y="2647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Choose listings and sources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A0288D6-5394-43A6-9FC3-5D189C304C48}"/>
              </a:ext>
            </a:extLst>
          </p:cNvPr>
          <p:cNvSpPr>
            <a:spLocks noGrp="1"/>
          </p:cNvSpPr>
          <p:nvPr/>
        </p:nvSpPr>
        <p:spPr>
          <a:xfrm>
            <a:off x="8134350" y="3076575"/>
            <a:ext cx="161925" cy="16192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BDD2863-0A47-4795-A9A7-3208264A497F}"/>
              </a:ext>
            </a:extLst>
          </p:cNvPr>
          <p:cNvSpPr>
            <a:spLocks noGrp="1"/>
          </p:cNvSpPr>
          <p:nvPr/>
        </p:nvSpPr>
        <p:spPr>
          <a:xfrm>
            <a:off x="8134350" y="3095625"/>
            <a:ext cx="161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C443DE2-8A5C-4419-8F5F-17D01B934107}"/>
              </a:ext>
            </a:extLst>
          </p:cNvPr>
          <p:cNvSpPr>
            <a:spLocks noGrp="1"/>
          </p:cNvSpPr>
          <p:nvPr/>
        </p:nvSpPr>
        <p:spPr>
          <a:xfrm>
            <a:off x="8458200" y="30480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Define readiness fields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EF6AB5E-3C8B-4EAE-8C87-DFBC06079CD3}"/>
              </a:ext>
            </a:extLst>
          </p:cNvPr>
          <p:cNvSpPr>
            <a:spLocks noGrp="1"/>
          </p:cNvSpPr>
          <p:nvPr/>
        </p:nvSpPr>
        <p:spPr>
          <a:xfrm>
            <a:off x="8134350" y="3476625"/>
            <a:ext cx="161925" cy="16192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66C33F4-54F9-40A8-8A45-9538A60F8BFC}"/>
              </a:ext>
            </a:extLst>
          </p:cNvPr>
          <p:cNvSpPr>
            <a:spLocks noGrp="1"/>
          </p:cNvSpPr>
          <p:nvPr/>
        </p:nvSpPr>
        <p:spPr>
          <a:xfrm>
            <a:off x="8134350" y="3495675"/>
            <a:ext cx="161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08DDC5C-2A2C-42E3-AD49-0CEA174AB80B}"/>
              </a:ext>
            </a:extLst>
          </p:cNvPr>
          <p:cNvSpPr>
            <a:spLocks noGrp="1"/>
          </p:cNvSpPr>
          <p:nvPr/>
        </p:nvSpPr>
        <p:spPr>
          <a:xfrm>
            <a:off x="8458200" y="34480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Agree ownership and hand-off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923AD2-3BB7-4A61-B2E9-BDF14607D46E}"/>
              </a:ext>
            </a:extLst>
          </p:cNvPr>
          <p:cNvSpPr>
            <a:spLocks noGrp="1"/>
          </p:cNvSpPr>
          <p:nvPr/>
        </p:nvSpPr>
        <p:spPr>
          <a:xfrm>
            <a:off x="8134350" y="3876675"/>
            <a:ext cx="161925" cy="16192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026FB5-4AC2-42E9-A29F-D8DAD0758DFF}"/>
              </a:ext>
            </a:extLst>
          </p:cNvPr>
          <p:cNvSpPr>
            <a:spLocks noGrp="1"/>
          </p:cNvSpPr>
          <p:nvPr/>
        </p:nvSpPr>
        <p:spPr>
          <a:xfrm>
            <a:off x="8134350" y="3895725"/>
            <a:ext cx="161925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6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1AE386B-44AC-4768-9D1C-9A1D1FE42D6B}"/>
              </a:ext>
            </a:extLst>
          </p:cNvPr>
          <p:cNvSpPr>
            <a:spLocks noGrp="1"/>
          </p:cNvSpPr>
          <p:nvPr/>
        </p:nvSpPr>
        <p:spPr>
          <a:xfrm>
            <a:off x="8458200" y="38481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Set weekly review rhythm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1ACD18B-3580-4407-97AC-67351670CBA2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2381250" cy="514350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6317DFD-CB55-4B7A-9B9F-E440223F36B4}"/>
              </a:ext>
            </a:extLst>
          </p:cNvPr>
          <p:cNvSpPr>
            <a:spLocks noGrp="1"/>
          </p:cNvSpPr>
          <p:nvPr/>
        </p:nvSpPr>
        <p:spPr>
          <a:xfrm>
            <a:off x="952500" y="5362575"/>
            <a:ext cx="19240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Start the pilot workshop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687C9A8-BA2F-447B-A278-261C220AD352}"/>
              </a:ext>
            </a:extLst>
          </p:cNvPr>
          <p:cNvSpPr>
            <a:spLocks noGrp="1"/>
          </p:cNvSpPr>
          <p:nvPr/>
        </p:nvSpPr>
        <p:spPr>
          <a:xfrm>
            <a:off x="723900" y="60579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Website / email / phone to be added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F06C197-F372-4944-887C-B01C6A91CAAF}"/>
              </a:ext>
            </a:extLst>
          </p:cNvPr>
          <p:cNvSpPr>
            <a:spLocks noGrp="1"/>
          </p:cNvSpPr>
          <p:nvPr/>
        </p:nvSpPr>
        <p:spPr>
          <a:xfrm>
            <a:off x="8705850" y="6076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0">
                <a:solidFill>
                  <a:srgbClr val="D1FAE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1FAE5"/>
                </a:solidFill>
                <a:latin typeface="Aptos"/>
                <a:ea typeface="Aptos"/>
                <a:cs typeface="Aptos"/>
              </a:rPr>
              <a:t>Smart. Simple. Sorted.</a:t>
            </a:r>
          </a:p>
        </p:txBody>
      </p:sp>
    </p:spTree>
    <p:extLst>
      <p:ext uri="{BB962C8B-B14F-4D97-AF65-F5344CB8AC3E}">
        <p14:creationId xmlns:p14="http://schemas.microsoft.com/office/powerpoint/2010/main" val="1082304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2732</Words>
  <Application>Microsoft Office PowerPoint</Application>
  <DocSecurity>0</DocSecurity>
  <PresentationFormat>Widescreen</PresentationFormat>
  <Paragraphs>404</Paragraphs>
  <Slides>18</Slides>
  <Notes>18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Gerhard Combrink</cp:lastModifiedBy>
  <cp:revision>1</cp:revision>
  <dcterms:created xsi:type="dcterms:W3CDTF">2026-05-24T12:43:52Z</dcterms:created>
  <dcterms:modified xsi:type="dcterms:W3CDTF">2026-05-24T17:45:50Z</dcterms:modified>
</cp:coreProperties>
</file>